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3.xml" ContentType="application/vnd.openxmlformats-officedocument.them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Layouts/slideLayout13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Default Extension="emf" ContentType="image/x-emf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5"/>
  </p:notesMasterIdLst>
  <p:handoutMasterIdLst>
    <p:handoutMasterId r:id="rId26"/>
  </p:handoutMasterIdLst>
  <p:sldIdLst>
    <p:sldId id="297" r:id="rId2"/>
    <p:sldId id="363" r:id="rId3"/>
    <p:sldId id="382" r:id="rId4"/>
    <p:sldId id="375" r:id="rId5"/>
    <p:sldId id="368" r:id="rId6"/>
    <p:sldId id="278" r:id="rId7"/>
    <p:sldId id="376" r:id="rId8"/>
    <p:sldId id="354" r:id="rId9"/>
    <p:sldId id="377" r:id="rId10"/>
    <p:sldId id="383" r:id="rId11"/>
    <p:sldId id="369" r:id="rId12"/>
    <p:sldId id="378" r:id="rId13"/>
    <p:sldId id="356" r:id="rId14"/>
    <p:sldId id="361" r:id="rId15"/>
    <p:sldId id="370" r:id="rId16"/>
    <p:sldId id="364" r:id="rId17"/>
    <p:sldId id="379" r:id="rId18"/>
    <p:sldId id="365" r:id="rId19"/>
    <p:sldId id="371" r:id="rId20"/>
    <p:sldId id="380" r:id="rId21"/>
    <p:sldId id="367" r:id="rId22"/>
    <p:sldId id="374" r:id="rId23"/>
    <p:sldId id="333" r:id="rId24"/>
  </p:sldIdLst>
  <p:sldSz cx="9144000" cy="6858000" type="screen4x3"/>
  <p:notesSz cx="6794500" cy="9906000"/>
  <p:defaultTextStyle>
    <a:defPPr>
      <a:defRPr lang="de-CH"/>
    </a:defPPr>
    <a:lvl1pPr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2000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2000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2000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2000"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DDDDD"/>
    <a:srgbClr val="009900"/>
    <a:srgbClr val="800000"/>
    <a:srgbClr val="808000"/>
    <a:srgbClr val="FFCC99"/>
    <a:srgbClr val="969696"/>
    <a:srgbClr val="FF3300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Helle Formatvorlage 3 - Akz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967" autoAdjust="0"/>
    <p:restoredTop sz="61988" autoAdjust="0"/>
  </p:normalViewPr>
  <p:slideViewPr>
    <p:cSldViewPr>
      <p:cViewPr varScale="1">
        <p:scale>
          <a:sx n="122" d="100"/>
          <a:sy n="122" d="100"/>
        </p:scale>
        <p:origin x="-582" y="-10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>
        <p:scale>
          <a:sx n="100" d="100"/>
          <a:sy n="100" d="100"/>
        </p:scale>
        <p:origin x="-1926" y="-48"/>
      </p:cViewPr>
      <p:guideLst>
        <p:guide orient="horz" pos="3120"/>
        <p:guide pos="2140"/>
      </p:guideLst>
    </p:cSldViewPr>
  </p:notesViewPr>
  <p:gridSpacing cx="73737788" cy="7373778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4813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8962" tIns="0" rIns="18962" bIns="0" numCol="1" anchor="t" anchorCtr="0" compatLnSpc="1">
            <a:prstTxWarp prst="textNoShape">
              <a:avLst/>
            </a:prstTxWarp>
          </a:bodyPr>
          <a:lstStyle>
            <a:lvl1pPr defTabSz="909810">
              <a:defRPr sz="1000" i="1"/>
            </a:lvl1pPr>
          </a:lstStyle>
          <a:p>
            <a:pPr>
              <a:defRPr/>
            </a:pPr>
            <a:endParaRPr lang="de-CH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49688" y="0"/>
            <a:ext cx="2944812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8962" tIns="0" rIns="18962" bIns="0" numCol="1" anchor="t" anchorCtr="0" compatLnSpc="1">
            <a:prstTxWarp prst="textNoShape">
              <a:avLst/>
            </a:prstTxWarp>
          </a:bodyPr>
          <a:lstStyle>
            <a:lvl1pPr algn="r" defTabSz="909810">
              <a:defRPr sz="1000" i="1"/>
            </a:lvl1pPr>
          </a:lstStyle>
          <a:p>
            <a:pPr>
              <a:defRPr/>
            </a:pPr>
            <a:endParaRPr lang="de-CH"/>
          </a:p>
        </p:txBody>
      </p:sp>
      <p:sp>
        <p:nvSpPr>
          <p:cNvPr id="2662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30275" y="750888"/>
            <a:ext cx="4933950" cy="370205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</p:sp>
      <p:sp>
        <p:nvSpPr>
          <p:cNvPr id="205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06463" y="4706938"/>
            <a:ext cx="4981575" cy="4456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648" tIns="45823" rIns="91648" bIns="458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CH" noProof="0" smtClean="0"/>
              <a:t>Klicken Sie, um die Formate des Vorlagentextes zu bearbeiten</a:t>
            </a:r>
          </a:p>
          <a:p>
            <a:pPr lvl="1"/>
            <a:r>
              <a:rPr lang="de-CH" noProof="0" smtClean="0"/>
              <a:t>Zweite Ebene</a:t>
            </a:r>
          </a:p>
          <a:p>
            <a:pPr lvl="2"/>
            <a:r>
              <a:rPr lang="de-CH" noProof="0" smtClean="0"/>
              <a:t>Dritte Ebene</a:t>
            </a:r>
          </a:p>
          <a:p>
            <a:pPr lvl="3"/>
            <a:r>
              <a:rPr lang="de-CH" noProof="0" smtClean="0"/>
              <a:t>Vierte Ebene</a:t>
            </a:r>
          </a:p>
          <a:p>
            <a:pPr lvl="4"/>
            <a:r>
              <a:rPr lang="de-CH" noProof="0" smtClean="0"/>
              <a:t>Fünfte Ebene</a:t>
            </a:r>
          </a:p>
        </p:txBody>
      </p:sp>
      <p:sp>
        <p:nvSpPr>
          <p:cNvPr id="205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12288"/>
            <a:ext cx="2944813" cy="493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8962" tIns="0" rIns="18962" bIns="0" numCol="1" anchor="b" anchorCtr="0" compatLnSpc="1">
            <a:prstTxWarp prst="textNoShape">
              <a:avLst/>
            </a:prstTxWarp>
          </a:bodyPr>
          <a:lstStyle>
            <a:lvl1pPr defTabSz="909810">
              <a:defRPr sz="1000" i="1"/>
            </a:lvl1pPr>
          </a:lstStyle>
          <a:p>
            <a:pPr>
              <a:defRPr/>
            </a:pPr>
            <a:endParaRPr lang="de-CH"/>
          </a:p>
        </p:txBody>
      </p:sp>
      <p:sp>
        <p:nvSpPr>
          <p:cNvPr id="205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49688" y="9412288"/>
            <a:ext cx="2944812" cy="493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8962" tIns="0" rIns="18962" bIns="0" numCol="1" anchor="b" anchorCtr="0" compatLnSpc="1">
            <a:prstTxWarp prst="textNoShape">
              <a:avLst/>
            </a:prstTxWarp>
          </a:bodyPr>
          <a:lstStyle>
            <a:lvl1pPr algn="r" defTabSz="909810">
              <a:defRPr sz="1000" i="1"/>
            </a:lvl1pPr>
          </a:lstStyle>
          <a:p>
            <a:pPr>
              <a:defRPr/>
            </a:pPr>
            <a:fld id="{98003FD5-BE5F-4D43-86C2-096D3A15A138}" type="slidenum">
              <a:rPr lang="de-CH"/>
              <a:pPr>
                <a:defRPr/>
              </a:pPr>
              <a:t>‹Nr.›</a:t>
            </a:fld>
            <a:endParaRPr lang="de-CH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Folienbildplatzhalt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7651" name="Notizenplatzhalt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de-DE" smtClean="0"/>
          </a:p>
        </p:txBody>
      </p:sp>
      <p:sp>
        <p:nvSpPr>
          <p:cNvPr id="27652" name="Foliennummernplatzhalt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defTabSz="908050"/>
            <a:fld id="{6D12FDDB-93C8-42C5-864D-94F0C2B96FDA}" type="slidenum">
              <a:rPr lang="de-CH" smtClean="0"/>
              <a:pPr defTabSz="908050"/>
              <a:t>2</a:t>
            </a:fld>
            <a:endParaRPr lang="de-CH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defTabSz="911225"/>
            <a:fld id="{D9C62D9A-E9E0-4898-9E8B-334945F327BF}" type="slidenum">
              <a:rPr lang="de-CH" smtClean="0"/>
              <a:pPr defTabSz="911225"/>
              <a:t>3</a:t>
            </a:fld>
            <a:endParaRPr lang="de-CH" smtClean="0"/>
          </a:p>
        </p:txBody>
      </p:sp>
      <p:sp>
        <p:nvSpPr>
          <p:cNvPr id="286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de-DE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Folienbildplatzhalt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9699" name="Notizenplatzhalt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de-DE" smtClean="0"/>
          </a:p>
        </p:txBody>
      </p:sp>
      <p:sp>
        <p:nvSpPr>
          <p:cNvPr id="29700" name="Foliennummernplatzhalt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defTabSz="908050"/>
            <a:fld id="{93A345A7-DE2D-485D-BE4B-AA5A43F40EFC}" type="slidenum">
              <a:rPr lang="de-CH" smtClean="0"/>
              <a:pPr defTabSz="908050"/>
              <a:t>4</a:t>
            </a:fld>
            <a:endParaRPr lang="de-CH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defTabSz="908050"/>
            <a:fld id="{DA23428E-3F0F-4A93-93A5-5D7473577828}" type="slidenum">
              <a:rPr lang="de-CH" smtClean="0"/>
              <a:pPr defTabSz="908050"/>
              <a:t>5</a:t>
            </a:fld>
            <a:endParaRPr lang="de-CH" smtClean="0"/>
          </a:p>
        </p:txBody>
      </p:sp>
      <p:sp>
        <p:nvSpPr>
          <p:cNvPr id="307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de-DE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defTabSz="908050"/>
            <a:fld id="{99359A05-06AA-4787-98DD-3E057EF0E9E1}" type="slidenum">
              <a:rPr lang="de-CH" smtClean="0"/>
              <a:pPr defTabSz="908050"/>
              <a:t>6</a:t>
            </a:fld>
            <a:endParaRPr lang="de-CH" smtClean="0"/>
          </a:p>
        </p:txBody>
      </p:sp>
      <p:sp>
        <p:nvSpPr>
          <p:cNvPr id="317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de-DE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Folienbildplatzhalt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2771" name="Notizenplatzhalt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de-DE" smtClean="0"/>
          </a:p>
        </p:txBody>
      </p:sp>
      <p:sp>
        <p:nvSpPr>
          <p:cNvPr id="32772" name="Foliennummernplatzhalt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defTabSz="908050"/>
            <a:fld id="{5AC9C672-5AB6-4B75-A05A-6139B105F738}" type="slidenum">
              <a:rPr lang="de-CH" smtClean="0"/>
              <a:pPr defTabSz="908050"/>
              <a:t>7</a:t>
            </a:fld>
            <a:endParaRPr lang="de-CH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Folienbildplatzhalt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3795" name="Notizenplatzhalt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de-DE" smtClean="0"/>
          </a:p>
        </p:txBody>
      </p:sp>
      <p:sp>
        <p:nvSpPr>
          <p:cNvPr id="33796" name="Foliennummernplatzhalt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defTabSz="908050"/>
            <a:fld id="{97649E61-0394-430E-BEC9-5671A7DC4339}" type="slidenum">
              <a:rPr lang="de-CH" smtClean="0"/>
              <a:pPr defTabSz="908050"/>
              <a:t>9</a:t>
            </a:fld>
            <a:endParaRPr lang="de-CH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Folienbildplatzhalt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4819" name="Notizenplatzhalt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de-DE" smtClean="0"/>
          </a:p>
        </p:txBody>
      </p:sp>
      <p:sp>
        <p:nvSpPr>
          <p:cNvPr id="34820" name="Foliennummernplatzhalt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defTabSz="908050"/>
            <a:fld id="{1912D0A6-7000-4628-B1BE-CC4E4981CBCF}" type="slidenum">
              <a:rPr lang="de-CH" smtClean="0"/>
              <a:pPr defTabSz="908050"/>
              <a:t>12</a:t>
            </a:fld>
            <a:endParaRPr lang="de-CH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Folienbildplatzhalt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5843" name="Notizenplatzhalt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de-DE" smtClean="0"/>
          </a:p>
        </p:txBody>
      </p:sp>
      <p:sp>
        <p:nvSpPr>
          <p:cNvPr id="35844" name="Foliennummernplatzhalt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defTabSz="908050"/>
            <a:fld id="{984D97C7-390F-4445-831B-91D1880EA36C}" type="slidenum">
              <a:rPr lang="de-CH" smtClean="0"/>
              <a:pPr defTabSz="908050"/>
              <a:t>17</a:t>
            </a:fld>
            <a:endParaRPr lang="de-CH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Folienbildplatzhalt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6867" name="Notizenplatzhalt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de-DE" smtClean="0"/>
          </a:p>
        </p:txBody>
      </p:sp>
      <p:sp>
        <p:nvSpPr>
          <p:cNvPr id="36868" name="Foliennummernplatzhalt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defTabSz="908050"/>
            <a:fld id="{8772076F-1E66-4DC3-AE2E-83E5C39C30F4}" type="slidenum">
              <a:rPr lang="de-CH" smtClean="0"/>
              <a:pPr defTabSz="908050"/>
              <a:t>20</a:t>
            </a:fld>
            <a:endParaRPr lang="de-CH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defTabSz="908050"/>
            <a:fld id="{8B7333B3-1363-413E-9E7D-8886D8A42566}" type="slidenum">
              <a:rPr lang="de-CH" smtClean="0"/>
              <a:pPr defTabSz="908050"/>
              <a:t>21</a:t>
            </a:fld>
            <a:endParaRPr lang="de-CH" smtClean="0"/>
          </a:p>
        </p:txBody>
      </p:sp>
      <p:sp>
        <p:nvSpPr>
          <p:cNvPr id="378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de-DE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defTabSz="908050"/>
            <a:fld id="{84B912FD-5945-4FD4-8BE6-90007FC335CD}" type="slidenum">
              <a:rPr lang="de-CH" smtClean="0"/>
              <a:pPr defTabSz="908050"/>
              <a:t>22</a:t>
            </a:fld>
            <a:endParaRPr lang="de-CH" smtClean="0"/>
          </a:p>
        </p:txBody>
      </p:sp>
      <p:sp>
        <p:nvSpPr>
          <p:cNvPr id="389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de-DE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1"/>
          <p:cNvSpPr>
            <a:spLocks noChangeArrowheads="1"/>
          </p:cNvSpPr>
          <p:nvPr/>
        </p:nvSpPr>
        <p:spPr bwMode="auto">
          <a:xfrm>
            <a:off x="0" y="0"/>
            <a:ext cx="9144000" cy="1079500"/>
          </a:xfrm>
          <a:prstGeom prst="rect">
            <a:avLst/>
          </a:prstGeom>
          <a:solidFill>
            <a:srgbClr val="DDDDDD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de-CH"/>
          </a:p>
        </p:txBody>
      </p:sp>
      <p:pic>
        <p:nvPicPr>
          <p:cNvPr id="5" name="Picture 14" descr="BKW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753475" y="38100"/>
            <a:ext cx="200025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Rectangle 13"/>
          <p:cNvSpPr>
            <a:spLocks noChangeArrowheads="1"/>
          </p:cNvSpPr>
          <p:nvPr/>
        </p:nvSpPr>
        <p:spPr bwMode="auto">
          <a:xfrm>
            <a:off x="0" y="0"/>
            <a:ext cx="71438" cy="1079500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de-CH"/>
          </a:p>
        </p:txBody>
      </p:sp>
      <p:sp>
        <p:nvSpPr>
          <p:cNvPr id="7" name="Rectangle 16"/>
          <p:cNvSpPr>
            <a:spLocks noChangeArrowheads="1"/>
          </p:cNvSpPr>
          <p:nvPr/>
        </p:nvSpPr>
        <p:spPr bwMode="auto">
          <a:xfrm>
            <a:off x="8964613" y="1077913"/>
            <a:ext cx="179387" cy="5780087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de-CH"/>
          </a:p>
        </p:txBody>
      </p:sp>
      <p:pic>
        <p:nvPicPr>
          <p:cNvPr id="8" name="Picture 19" descr="60mm_17cm_d_pos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043863" y="6159500"/>
            <a:ext cx="719137" cy="50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127" name="Rectangle 7"/>
          <p:cNvSpPr>
            <a:spLocks noGrp="1" noChangeArrowheads="1"/>
          </p:cNvSpPr>
          <p:nvPr>
            <p:ph type="ctrTitle"/>
          </p:nvPr>
        </p:nvSpPr>
        <p:spPr>
          <a:xfrm>
            <a:off x="682625" y="2286000"/>
            <a:ext cx="7558088" cy="487363"/>
          </a:xfrm>
        </p:spPr>
        <p:txBody>
          <a:bodyPr anchor="t"/>
          <a:lstStyle>
            <a:lvl1pPr>
              <a:defRPr/>
            </a:lvl1pPr>
          </a:lstStyle>
          <a:p>
            <a:r>
              <a:rPr lang="de-CH"/>
              <a:t>Titel durch Klicken hinzufügen</a:t>
            </a:r>
          </a:p>
        </p:txBody>
      </p:sp>
      <p:sp>
        <p:nvSpPr>
          <p:cNvPr id="5128" name="Rectangle 8"/>
          <p:cNvSpPr>
            <a:spLocks noGrp="1" noChangeArrowheads="1"/>
          </p:cNvSpPr>
          <p:nvPr>
            <p:ph type="subTitle" idx="1"/>
          </p:nvPr>
        </p:nvSpPr>
        <p:spPr>
          <a:xfrm>
            <a:off x="682625" y="3886200"/>
            <a:ext cx="6400800" cy="279400"/>
          </a:xfrm>
        </p:spPr>
        <p:txBody>
          <a:bodyPr>
            <a:spAutoFit/>
          </a:bodyPr>
          <a:lstStyle>
            <a:lvl1pPr marL="0" indent="0">
              <a:defRPr/>
            </a:lvl1pPr>
          </a:lstStyle>
          <a:p>
            <a:r>
              <a:rPr lang="de-CH"/>
              <a:t>Untertitel durch Klicken hinzufügen</a:t>
            </a:r>
          </a:p>
        </p:txBody>
      </p:sp>
      <p:sp>
        <p:nvSpPr>
          <p:cNvPr id="9" name="Rectangle 9"/>
          <p:cNvSpPr>
            <a:spLocks noGrp="1" noChangeArrowheads="1"/>
          </p:cNvSpPr>
          <p:nvPr>
            <p:ph type="ftr" sz="quarter" idx="10"/>
          </p:nvPr>
        </p:nvSpPr>
        <p:spPr>
          <a:xfrm>
            <a:off x="682625" y="6477000"/>
            <a:ext cx="1530350" cy="153988"/>
          </a:xfrm>
        </p:spPr>
        <p:txBody>
          <a:bodyPr/>
          <a:lstStyle>
            <a:lvl1pPr>
              <a:defRPr sz="1000"/>
            </a:lvl1pPr>
          </a:lstStyle>
          <a:p>
            <a:pPr>
              <a:defRPr/>
            </a:pPr>
            <a:r>
              <a:rPr lang="de-CH"/>
              <a:t>6. Oktober 2008/Seite </a:t>
            </a:r>
            <a:fld id="{44BCB266-FF2F-4036-95DB-CCABDD25CD0B}" type="slidenum">
              <a:rPr lang="de-CH"/>
              <a:pPr>
                <a:defRPr/>
              </a:pPr>
              <a:t>‹Nr.›</a:t>
            </a:fld>
            <a:endParaRPr lang="de-CH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CH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CH"/>
          </a:p>
        </p:txBody>
      </p:sp>
      <p:sp>
        <p:nvSpPr>
          <p:cNvPr id="4" name="Rectangle 10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CH"/>
              <a:t>6. Oktober 2008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de-DE" smtClean="0"/>
              <a:t>Titelmasterformat durch Klicken bearbeiten</a:t>
            </a:r>
            <a:endParaRPr lang="de-CH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de-DE" smtClean="0"/>
              <a:t>Textmasterformate durch Klicken bearbeiten</a:t>
            </a:r>
          </a:p>
        </p:txBody>
      </p:sp>
      <p:sp>
        <p:nvSpPr>
          <p:cNvPr id="4" name="Rectangle 10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CH"/>
              <a:t>6. Oktober 2008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CH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682625" y="1295400"/>
            <a:ext cx="3702050" cy="46783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CH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537075" y="1295400"/>
            <a:ext cx="3703638" cy="46783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CH"/>
          </a:p>
        </p:txBody>
      </p:sp>
      <p:sp>
        <p:nvSpPr>
          <p:cNvPr id="5" name="Rectangle 10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CH"/>
              <a:t>6. Oktober 2008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de-DE" smtClean="0"/>
              <a:t>Titelmasterformat durch Klicken bearbeiten</a:t>
            </a:r>
            <a:endParaRPr lang="de-CH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Textmasterformate durch Klicken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CH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Textmasterformate durch Klicken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CH"/>
          </a:p>
        </p:txBody>
      </p:sp>
      <p:sp>
        <p:nvSpPr>
          <p:cNvPr id="7" name="Rectangle 10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CH"/>
              <a:t>6. Oktober 2008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CH"/>
          </a:p>
        </p:txBody>
      </p:sp>
      <p:sp>
        <p:nvSpPr>
          <p:cNvPr id="3" name="Rectangle 10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CH"/>
              <a:t>6. Oktober 2008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0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CH"/>
              <a:t>6. Oktober 2008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 smtClean="0"/>
              <a:t>Titelmasterformat durch Klicken bearbeiten</a:t>
            </a:r>
            <a:endParaRPr lang="de-CH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CH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 smtClean="0"/>
              <a:t>Textmasterformate durch Klicken bearbeiten</a:t>
            </a:r>
          </a:p>
        </p:txBody>
      </p:sp>
      <p:sp>
        <p:nvSpPr>
          <p:cNvPr id="5" name="Rectangle 10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CH"/>
              <a:t>6. Oktober 2008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 smtClean="0"/>
              <a:t>Titelmasterformat durch Klicken bearbeiten</a:t>
            </a:r>
            <a:endParaRPr lang="de-CH"/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de-CH" noProof="0" smtClean="0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 smtClean="0"/>
              <a:t>Textmasterformate durch Klicken bearbeiten</a:t>
            </a:r>
          </a:p>
        </p:txBody>
      </p:sp>
      <p:sp>
        <p:nvSpPr>
          <p:cNvPr id="5" name="Rectangle 10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CH"/>
              <a:t>6. Oktober 2008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CH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CH"/>
          </a:p>
        </p:txBody>
      </p:sp>
      <p:sp>
        <p:nvSpPr>
          <p:cNvPr id="4" name="Rectangle 10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CH"/>
              <a:t>6. Oktober 2008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6351588" y="539750"/>
            <a:ext cx="1889125" cy="5434013"/>
          </a:xfrm>
        </p:spPr>
        <p:txBody>
          <a:bodyPr vert="eaVert"/>
          <a:lstStyle/>
          <a:p>
            <a:r>
              <a:rPr lang="de-DE" smtClean="0"/>
              <a:t>Titelmasterformat durch Klicken bearbeiten</a:t>
            </a:r>
            <a:endParaRPr lang="de-CH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682625" y="539750"/>
            <a:ext cx="5516563" cy="5434013"/>
          </a:xfrm>
        </p:spPr>
        <p:txBody>
          <a:bodyPr vert="eaVert"/>
          <a:lstStyle/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CH"/>
          </a:p>
        </p:txBody>
      </p:sp>
      <p:sp>
        <p:nvSpPr>
          <p:cNvPr id="4" name="Rectangle 10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CH"/>
              <a:t>6. Oktober 2008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chartAndTx" preserve="1">
  <p:cSld name="Titel, Diagramm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82625" y="539750"/>
            <a:ext cx="7558088" cy="487363"/>
          </a:xfrm>
        </p:spPr>
        <p:txBody>
          <a:bodyPr/>
          <a:lstStyle/>
          <a:p>
            <a:r>
              <a:rPr lang="de-DE" smtClean="0"/>
              <a:t>Titelmasterformat durch Klicken bearbeiten</a:t>
            </a:r>
            <a:endParaRPr lang="de-CH"/>
          </a:p>
        </p:txBody>
      </p:sp>
      <p:sp>
        <p:nvSpPr>
          <p:cNvPr id="3" name="Diagrammplatzhalter 2"/>
          <p:cNvSpPr>
            <a:spLocks noGrp="1"/>
          </p:cNvSpPr>
          <p:nvPr>
            <p:ph type="chart" sz="half" idx="1"/>
          </p:nvPr>
        </p:nvSpPr>
        <p:spPr>
          <a:xfrm>
            <a:off x="682625" y="1295400"/>
            <a:ext cx="3702050" cy="4678363"/>
          </a:xfrm>
        </p:spPr>
        <p:txBody>
          <a:bodyPr/>
          <a:lstStyle/>
          <a:p>
            <a:pPr lvl="0"/>
            <a:endParaRPr lang="de-CH" noProof="0" smtClean="0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4537075" y="1295400"/>
            <a:ext cx="3703638" cy="4678363"/>
          </a:xfrm>
        </p:spPr>
        <p:txBody>
          <a:bodyPr/>
          <a:lstStyle/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CH"/>
          </a:p>
        </p:txBody>
      </p:sp>
      <p:sp>
        <p:nvSpPr>
          <p:cNvPr id="5" name="Rectangle 10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CH"/>
              <a:t>6. Oktober 2008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el, Text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82625" y="539750"/>
            <a:ext cx="7558088" cy="487363"/>
          </a:xfrm>
        </p:spPr>
        <p:txBody>
          <a:bodyPr/>
          <a:lstStyle/>
          <a:p>
            <a:r>
              <a:rPr lang="de-DE" smtClean="0"/>
              <a:t>Titelmasterformat durch Klicken bearbeiten</a:t>
            </a:r>
            <a:endParaRPr lang="de-CH"/>
          </a:p>
        </p:txBody>
      </p:sp>
      <p:sp>
        <p:nvSpPr>
          <p:cNvPr id="3" name="Textplatzhalter 2"/>
          <p:cNvSpPr>
            <a:spLocks noGrp="1"/>
          </p:cNvSpPr>
          <p:nvPr>
            <p:ph type="body" sz="half" idx="1"/>
          </p:nvPr>
        </p:nvSpPr>
        <p:spPr>
          <a:xfrm>
            <a:off x="682625" y="1295400"/>
            <a:ext cx="3702050" cy="4678363"/>
          </a:xfrm>
        </p:spPr>
        <p:txBody>
          <a:bodyPr/>
          <a:lstStyle/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CH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537075" y="1295400"/>
            <a:ext cx="3703638" cy="4678363"/>
          </a:xfrm>
        </p:spPr>
        <p:txBody>
          <a:bodyPr/>
          <a:lstStyle/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CH"/>
          </a:p>
        </p:txBody>
      </p:sp>
      <p:sp>
        <p:nvSpPr>
          <p:cNvPr id="5" name="Rectangle 10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CH"/>
              <a:t>6. Oktober 2008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wmf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7" name="Rectangle 13"/>
          <p:cNvSpPr>
            <a:spLocks noChangeArrowheads="1"/>
          </p:cNvSpPr>
          <p:nvPr/>
        </p:nvSpPr>
        <p:spPr bwMode="auto">
          <a:xfrm>
            <a:off x="0" y="0"/>
            <a:ext cx="9144000" cy="1079500"/>
          </a:xfrm>
          <a:prstGeom prst="rect">
            <a:avLst/>
          </a:prstGeom>
          <a:solidFill>
            <a:srgbClr val="DDDDDD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de-CH"/>
          </a:p>
        </p:txBody>
      </p:sp>
      <p:sp>
        <p:nvSpPr>
          <p:cNvPr id="1027" name="Rectangle 7"/>
          <p:cNvSpPr>
            <a:spLocks noGrp="1" noChangeArrowheads="1"/>
          </p:cNvSpPr>
          <p:nvPr>
            <p:ph type="title"/>
          </p:nvPr>
        </p:nvSpPr>
        <p:spPr bwMode="auto">
          <a:xfrm>
            <a:off x="682625" y="539750"/>
            <a:ext cx="7558088" cy="487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endParaRPr lang="fr-CH" smtClean="0"/>
          </a:p>
        </p:txBody>
      </p:sp>
      <p:sp>
        <p:nvSpPr>
          <p:cNvPr id="1034" name="Rectangle 10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104775" y="6534150"/>
            <a:ext cx="742950" cy="123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defRPr sz="800"/>
            </a:lvl1pPr>
          </a:lstStyle>
          <a:p>
            <a:pPr>
              <a:defRPr/>
            </a:pPr>
            <a:r>
              <a:rPr lang="de-CH"/>
              <a:t>6. Oktober 2008</a:t>
            </a:r>
          </a:p>
        </p:txBody>
      </p:sp>
      <p:sp>
        <p:nvSpPr>
          <p:cNvPr id="1029" name="Rectangle 12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2625" y="1295400"/>
            <a:ext cx="7558088" cy="4678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CH" smtClean="0"/>
              <a:t>Klicken Sie, um die Formate des Vorlagentextes zu bearbeiten</a:t>
            </a:r>
          </a:p>
          <a:p>
            <a:pPr lvl="1"/>
            <a:r>
              <a:rPr lang="de-CH" smtClean="0"/>
              <a:t>Zweite Ebene</a:t>
            </a:r>
          </a:p>
          <a:p>
            <a:pPr lvl="2"/>
            <a:r>
              <a:rPr lang="de-CH" smtClean="0"/>
              <a:t>Dritte Ebene</a:t>
            </a:r>
          </a:p>
          <a:p>
            <a:pPr lvl="3"/>
            <a:r>
              <a:rPr lang="de-CH" smtClean="0"/>
              <a:t>Vierte Ebene</a:t>
            </a:r>
          </a:p>
          <a:p>
            <a:pPr lvl="4"/>
            <a:r>
              <a:rPr lang="de-CH" smtClean="0"/>
              <a:t>Fünfte Ebene</a:t>
            </a:r>
          </a:p>
        </p:txBody>
      </p:sp>
      <p:pic>
        <p:nvPicPr>
          <p:cNvPr id="1030" name="Picture 16" descr="BKW"/>
          <p:cNvPicPr>
            <a:picLocks noChangeAspect="1" noChangeArrowheads="1"/>
          </p:cNvPicPr>
          <p:nvPr/>
        </p:nvPicPr>
        <p:blipFill>
          <a:blip r:embed="rId15" cstate="print"/>
          <a:srcRect/>
          <a:stretch>
            <a:fillRect/>
          </a:stretch>
        </p:blipFill>
        <p:spPr bwMode="auto">
          <a:xfrm>
            <a:off x="8753475" y="38100"/>
            <a:ext cx="200025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39" name="Rectangle 15"/>
          <p:cNvSpPr>
            <a:spLocks noChangeArrowheads="1"/>
          </p:cNvSpPr>
          <p:nvPr/>
        </p:nvSpPr>
        <p:spPr bwMode="auto">
          <a:xfrm>
            <a:off x="0" y="0"/>
            <a:ext cx="71438" cy="1079500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de-CH"/>
          </a:p>
        </p:txBody>
      </p:sp>
      <p:sp>
        <p:nvSpPr>
          <p:cNvPr id="1041" name="Rectangle 17"/>
          <p:cNvSpPr>
            <a:spLocks noChangeArrowheads="1"/>
          </p:cNvSpPr>
          <p:nvPr/>
        </p:nvSpPr>
        <p:spPr bwMode="auto">
          <a:xfrm>
            <a:off x="8964613" y="1077913"/>
            <a:ext cx="179387" cy="5780087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de-CH"/>
          </a:p>
        </p:txBody>
      </p:sp>
      <p:pic>
        <p:nvPicPr>
          <p:cNvPr id="1033" name="Picture 18" descr="60mm_17cm_d_pos"/>
          <p:cNvPicPr>
            <a:picLocks noChangeAspect="1" noChangeArrowheads="1"/>
          </p:cNvPicPr>
          <p:nvPr/>
        </p:nvPicPr>
        <p:blipFill>
          <a:blip r:embed="rId16" cstate="print"/>
          <a:srcRect/>
          <a:stretch>
            <a:fillRect/>
          </a:stretch>
        </p:blipFill>
        <p:spPr bwMode="auto">
          <a:xfrm>
            <a:off x="8043863" y="6161088"/>
            <a:ext cx="719137" cy="50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43" name="Rectangle 19"/>
          <p:cNvSpPr>
            <a:spLocks noChangeArrowheads="1"/>
          </p:cNvSpPr>
          <p:nvPr/>
        </p:nvSpPr>
        <p:spPr bwMode="auto">
          <a:xfrm>
            <a:off x="7307263" y="6534150"/>
            <a:ext cx="463550" cy="122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>
            <a:spAutoFit/>
          </a:bodyPr>
          <a:lstStyle/>
          <a:p>
            <a:pPr algn="r">
              <a:defRPr/>
            </a:pPr>
            <a:r>
              <a:rPr lang="de-CH" sz="800"/>
              <a:t>Seite </a:t>
            </a:r>
            <a:fld id="{09CD3A32-ADE9-44FC-B3AF-F34BD71E6750}" type="slidenum">
              <a:rPr lang="de-CH" sz="800"/>
              <a:pPr algn="r">
                <a:defRPr/>
              </a:pPr>
              <a:t>‹Nr.›</a:t>
            </a:fld>
            <a:endParaRPr lang="de-CH" sz="8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39" r:id="rId1"/>
    <p:sldLayoutId id="2147484027" r:id="rId2"/>
    <p:sldLayoutId id="2147484028" r:id="rId3"/>
    <p:sldLayoutId id="2147484029" r:id="rId4"/>
    <p:sldLayoutId id="2147484030" r:id="rId5"/>
    <p:sldLayoutId id="2147484031" r:id="rId6"/>
    <p:sldLayoutId id="2147484032" r:id="rId7"/>
    <p:sldLayoutId id="2147484033" r:id="rId8"/>
    <p:sldLayoutId id="2147484034" r:id="rId9"/>
    <p:sldLayoutId id="2147484035" r:id="rId10"/>
    <p:sldLayoutId id="2147484036" r:id="rId11"/>
    <p:sldLayoutId id="2147484037" r:id="rId12"/>
    <p:sldLayoutId id="2147484038" r:id="rId13"/>
  </p:sldLayoutIdLst>
  <p:hf sldNum="0" hdr="0" dt="0"/>
  <p:txStyles>
    <p:titleStyle>
      <a:lvl1pPr algn="l" rtl="0" eaLnBrk="0" fontAlgn="base" hangingPunct="0">
        <a:spcBef>
          <a:spcPct val="20000"/>
        </a:spcBef>
        <a:spcAft>
          <a:spcPct val="0"/>
        </a:spcAft>
        <a:defRPr sz="32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20000"/>
        </a:spcBef>
        <a:spcAft>
          <a:spcPct val="0"/>
        </a:spcAft>
        <a:defRPr sz="3200" b="1">
          <a:solidFill>
            <a:schemeClr val="tx2"/>
          </a:solidFill>
          <a:latin typeface="Arial" charset="0"/>
        </a:defRPr>
      </a:lvl2pPr>
      <a:lvl3pPr algn="l" rtl="0" eaLnBrk="0" fontAlgn="base" hangingPunct="0">
        <a:spcBef>
          <a:spcPct val="20000"/>
        </a:spcBef>
        <a:spcAft>
          <a:spcPct val="0"/>
        </a:spcAft>
        <a:defRPr sz="3200" b="1">
          <a:solidFill>
            <a:schemeClr val="tx2"/>
          </a:solidFill>
          <a:latin typeface="Arial" charset="0"/>
        </a:defRPr>
      </a:lvl3pPr>
      <a:lvl4pPr algn="l" rtl="0" eaLnBrk="0" fontAlgn="base" hangingPunct="0">
        <a:spcBef>
          <a:spcPct val="20000"/>
        </a:spcBef>
        <a:spcAft>
          <a:spcPct val="0"/>
        </a:spcAft>
        <a:defRPr sz="3200" b="1">
          <a:solidFill>
            <a:schemeClr val="tx2"/>
          </a:solidFill>
          <a:latin typeface="Arial" charset="0"/>
        </a:defRPr>
      </a:lvl4pPr>
      <a:lvl5pPr algn="l" rtl="0" eaLnBrk="0" fontAlgn="base" hangingPunct="0">
        <a:spcBef>
          <a:spcPct val="20000"/>
        </a:spcBef>
        <a:spcAft>
          <a:spcPct val="0"/>
        </a:spcAft>
        <a:defRPr sz="3200" b="1">
          <a:solidFill>
            <a:schemeClr val="tx2"/>
          </a:solidFill>
          <a:latin typeface="Arial" charset="0"/>
        </a:defRPr>
      </a:lvl5pPr>
      <a:lvl6pPr marL="457200" algn="l" rtl="0" eaLnBrk="0" fontAlgn="base" hangingPunct="0">
        <a:spcBef>
          <a:spcPct val="20000"/>
        </a:spcBef>
        <a:spcAft>
          <a:spcPct val="0"/>
        </a:spcAft>
        <a:defRPr sz="3200" b="1">
          <a:solidFill>
            <a:schemeClr val="tx2"/>
          </a:solidFill>
          <a:latin typeface="Arial" charset="0"/>
        </a:defRPr>
      </a:lvl6pPr>
      <a:lvl7pPr marL="914400" algn="l" rtl="0" eaLnBrk="0" fontAlgn="base" hangingPunct="0">
        <a:spcBef>
          <a:spcPct val="20000"/>
        </a:spcBef>
        <a:spcAft>
          <a:spcPct val="0"/>
        </a:spcAft>
        <a:defRPr sz="3200" b="1">
          <a:solidFill>
            <a:schemeClr val="tx2"/>
          </a:solidFill>
          <a:latin typeface="Arial" charset="0"/>
        </a:defRPr>
      </a:lvl7pPr>
      <a:lvl8pPr marL="1371600" algn="l" rtl="0" eaLnBrk="0" fontAlgn="base" hangingPunct="0">
        <a:spcBef>
          <a:spcPct val="20000"/>
        </a:spcBef>
        <a:spcAft>
          <a:spcPct val="0"/>
        </a:spcAft>
        <a:defRPr sz="3200" b="1">
          <a:solidFill>
            <a:schemeClr val="tx2"/>
          </a:solidFill>
          <a:latin typeface="Arial" charset="0"/>
        </a:defRPr>
      </a:lvl8pPr>
      <a:lvl9pPr marL="1828800" algn="l" rtl="0" eaLnBrk="0" fontAlgn="base" hangingPunct="0">
        <a:spcBef>
          <a:spcPct val="20000"/>
        </a:spcBef>
        <a:spcAft>
          <a:spcPct val="0"/>
        </a:spcAft>
        <a:defRPr sz="3200" b="1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lnSpc>
          <a:spcPts val="2200"/>
        </a:lnSpc>
        <a:spcBef>
          <a:spcPct val="20000"/>
        </a:spcBef>
        <a:spcAft>
          <a:spcPct val="0"/>
        </a:spcAft>
        <a:defRPr sz="20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lnSpc>
          <a:spcPts val="2200"/>
        </a:lnSpc>
        <a:spcBef>
          <a:spcPct val="20000"/>
        </a:spcBef>
        <a:spcAft>
          <a:spcPct val="0"/>
        </a:spcAft>
        <a:defRPr sz="2000" b="1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lnSpc>
          <a:spcPts val="2200"/>
        </a:lnSpc>
        <a:spcBef>
          <a:spcPct val="20000"/>
        </a:spcBef>
        <a:spcAft>
          <a:spcPct val="0"/>
        </a:spcAft>
        <a:defRPr sz="2000" b="1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lnSpc>
          <a:spcPts val="2200"/>
        </a:lnSpc>
        <a:spcBef>
          <a:spcPct val="20000"/>
        </a:spcBef>
        <a:spcAft>
          <a:spcPct val="0"/>
        </a:spcAft>
        <a:defRPr sz="2000" b="1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lnSpc>
          <a:spcPts val="2200"/>
        </a:lnSpc>
        <a:spcBef>
          <a:spcPct val="20000"/>
        </a:spcBef>
        <a:spcAft>
          <a:spcPct val="0"/>
        </a:spcAft>
        <a:defRPr sz="2000" b="1">
          <a:solidFill>
            <a:schemeClr val="tx1"/>
          </a:solidFill>
          <a:latin typeface="+mn-lt"/>
        </a:defRPr>
      </a:lvl5pPr>
      <a:lvl6pPr marL="2514600" indent="-228600" algn="l" rtl="0" eaLnBrk="0" fontAlgn="base" hangingPunct="0">
        <a:lnSpc>
          <a:spcPts val="2200"/>
        </a:lnSpc>
        <a:spcBef>
          <a:spcPct val="20000"/>
        </a:spcBef>
        <a:spcAft>
          <a:spcPct val="0"/>
        </a:spcAft>
        <a:defRPr sz="2000" b="1">
          <a:solidFill>
            <a:schemeClr val="tx1"/>
          </a:solidFill>
          <a:latin typeface="+mn-lt"/>
        </a:defRPr>
      </a:lvl6pPr>
      <a:lvl7pPr marL="2971800" indent="-228600" algn="l" rtl="0" eaLnBrk="0" fontAlgn="base" hangingPunct="0">
        <a:lnSpc>
          <a:spcPts val="2200"/>
        </a:lnSpc>
        <a:spcBef>
          <a:spcPct val="20000"/>
        </a:spcBef>
        <a:spcAft>
          <a:spcPct val="0"/>
        </a:spcAft>
        <a:defRPr sz="2000" b="1">
          <a:solidFill>
            <a:schemeClr val="tx1"/>
          </a:solidFill>
          <a:latin typeface="+mn-lt"/>
        </a:defRPr>
      </a:lvl7pPr>
      <a:lvl8pPr marL="3429000" indent="-228600" algn="l" rtl="0" eaLnBrk="0" fontAlgn="base" hangingPunct="0">
        <a:lnSpc>
          <a:spcPts val="2200"/>
        </a:lnSpc>
        <a:spcBef>
          <a:spcPct val="20000"/>
        </a:spcBef>
        <a:spcAft>
          <a:spcPct val="0"/>
        </a:spcAft>
        <a:defRPr sz="2000" b="1">
          <a:solidFill>
            <a:schemeClr val="tx1"/>
          </a:solidFill>
          <a:latin typeface="+mn-lt"/>
        </a:defRPr>
      </a:lvl8pPr>
      <a:lvl9pPr marL="3886200" indent="-228600" algn="l" rtl="0" eaLnBrk="0" fontAlgn="base" hangingPunct="0">
        <a:lnSpc>
          <a:spcPts val="2200"/>
        </a:lnSpc>
        <a:spcBef>
          <a:spcPct val="20000"/>
        </a:spcBef>
        <a:spcAft>
          <a:spcPct val="0"/>
        </a:spcAft>
        <a:defRPr sz="2000" b="1">
          <a:solidFill>
            <a:schemeClr val="tx1"/>
          </a:solidFill>
          <a:latin typeface="+mn-lt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jpeg"/><Relationship Id="rId5" Type="http://schemas.openxmlformats.org/officeDocument/2006/relationships/image" Target="../media/image7.png"/><Relationship Id="rId4" Type="http://schemas.openxmlformats.org/officeDocument/2006/relationships/image" Target="../media/image6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jpeg"/><Relationship Id="rId5" Type="http://schemas.openxmlformats.org/officeDocument/2006/relationships/image" Target="../media/image10.jpeg"/><Relationship Id="rId4" Type="http://schemas.openxmlformats.org/officeDocument/2006/relationships/hyperlink" Target="http://my-blackberry.net/r?12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w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7" Type="http://schemas.openxmlformats.org/officeDocument/2006/relationships/image" Target="../media/image16.jpeg"/><Relationship Id="rId2" Type="http://schemas.openxmlformats.org/officeDocument/2006/relationships/hyperlink" Target="http://images.google.ch/imgres?imgurl=http://antje.files.wordpress.com/2008/05/footprint-silhouette-clipart1.jpg&amp;imgrefurl=http://antje.wordpress.com/2008/05/&amp;usg=__btefqBZzO8Tj75Z72S4hQcpMr8o=&amp;h=289&amp;w=77&amp;sz=7&amp;hl=de&amp;start=2&amp;um=1&amp;itbs=1&amp;tbnid=ENYCmJEGfRD_WM:&amp;tbnh=115&amp;tbnw=31&amp;prev=/images?q=clipart+weg&amp;um=1&amp;hl=de&amp;tbs=isch:1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my-blackberry.net/r?12" TargetMode="External"/><Relationship Id="rId5" Type="http://schemas.openxmlformats.org/officeDocument/2006/relationships/image" Target="../media/image15.jpeg"/><Relationship Id="rId4" Type="http://schemas.openxmlformats.org/officeDocument/2006/relationships/image" Target="../media/image14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e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emf"/><Relationship Id="rId7" Type="http://schemas.openxmlformats.org/officeDocument/2006/relationships/image" Target="../media/image27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wmf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emf"/><Relationship Id="rId2" Type="http://schemas.openxmlformats.org/officeDocument/2006/relationships/image" Target="../media/image30.wmf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050"/>
          <p:cNvSpPr>
            <a:spLocks noGrp="1" noChangeArrowheads="1"/>
          </p:cNvSpPr>
          <p:nvPr>
            <p:ph type="title"/>
          </p:nvPr>
        </p:nvSpPr>
        <p:spPr>
          <a:xfrm>
            <a:off x="571500" y="427038"/>
            <a:ext cx="7558088" cy="487362"/>
          </a:xfrm>
          <a:noFill/>
        </p:spPr>
        <p:txBody>
          <a:bodyPr/>
          <a:lstStyle/>
          <a:p>
            <a:r>
              <a:rPr lang="de-CH" sz="2000" smtClean="0">
                <a:solidFill>
                  <a:schemeClr val="accent1"/>
                </a:solidFill>
              </a:rPr>
              <a:t>Business Intelligence bei der BKW – der Weg ist das Ziel</a:t>
            </a:r>
            <a:endParaRPr lang="en-GB" sz="2000" smtClean="0">
              <a:solidFill>
                <a:schemeClr val="accent1"/>
              </a:solidFill>
            </a:endParaRPr>
          </a:p>
        </p:txBody>
      </p:sp>
      <p:sp>
        <p:nvSpPr>
          <p:cNvPr id="3075" name="Rectangle 2051"/>
          <p:cNvSpPr>
            <a:spLocks noGrp="1" noChangeArrowheads="1"/>
          </p:cNvSpPr>
          <p:nvPr>
            <p:ph type="body" idx="1"/>
          </p:nvPr>
        </p:nvSpPr>
        <p:spPr>
          <a:xfrm>
            <a:off x="682625" y="4572000"/>
            <a:ext cx="7558088" cy="1401763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de-CH" sz="1400" b="0" smtClean="0"/>
              <a:t>15. Berner Architekten Treffen zum Thema Business Intelligence / Data Warehouse</a:t>
            </a:r>
            <a:endParaRPr lang="en-GB" sz="1400" b="0" smtClean="0"/>
          </a:p>
          <a:p>
            <a:pPr>
              <a:lnSpc>
                <a:spcPct val="100000"/>
              </a:lnSpc>
              <a:spcBef>
                <a:spcPct val="0"/>
              </a:spcBef>
            </a:pPr>
            <a:endParaRPr lang="en-GB" sz="1400" smtClean="0"/>
          </a:p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en-GB" sz="1400" smtClean="0"/>
              <a:t>5. März 2010</a:t>
            </a:r>
          </a:p>
          <a:p>
            <a:pPr>
              <a:lnSpc>
                <a:spcPct val="100000"/>
              </a:lnSpc>
              <a:spcBef>
                <a:spcPct val="0"/>
              </a:spcBef>
            </a:pPr>
            <a:endParaRPr lang="en-GB" sz="1400" b="0" smtClean="0"/>
          </a:p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en-GB" sz="1400" b="0" smtClean="0"/>
              <a:t>Referent:</a:t>
            </a:r>
          </a:p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en-GB" sz="1400" smtClean="0"/>
              <a:t>Olivier Raemy</a:t>
            </a:r>
          </a:p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en-GB" sz="1400" b="0" smtClean="0"/>
              <a:t>Leiter Competence Center DWH</a:t>
            </a:r>
          </a:p>
        </p:txBody>
      </p:sp>
      <p:pic>
        <p:nvPicPr>
          <p:cNvPr id="3076" name="Picture 2054" descr="O:\ks_kmk\KKO\Komm.steuerung und -services\Konzepte&amp;Projekte\Unternehmenspräsentation 2007\3_Entwürfe\Folie_2_d.png"/>
          <p:cNvPicPr>
            <a:picLocks noChangeAspect="1" noChangeArrowheads="1"/>
          </p:cNvPicPr>
          <p:nvPr/>
        </p:nvPicPr>
        <p:blipFill>
          <a:blip r:embed="rId2" cstate="print"/>
          <a:srcRect t="15570" b="34384"/>
          <a:stretch>
            <a:fillRect/>
          </a:stretch>
        </p:blipFill>
        <p:spPr bwMode="auto">
          <a:xfrm>
            <a:off x="0" y="1066800"/>
            <a:ext cx="9144000" cy="3429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3"/>
          <p:cNvPicPr>
            <a:picLocks noChangeAspect="1" noChangeArrowheads="1"/>
          </p:cNvPicPr>
          <p:nvPr/>
        </p:nvPicPr>
        <p:blipFill>
          <a:blip r:embed="rId3" cstate="print"/>
          <a:srcRect t="15625" b="67708"/>
          <a:stretch>
            <a:fillRect/>
          </a:stretch>
        </p:blipFill>
        <p:spPr bwMode="auto">
          <a:xfrm>
            <a:off x="0" y="1071563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099" name="Rectangle 6"/>
          <p:cNvSpPr>
            <a:spLocks noChangeArrowheads="1"/>
          </p:cNvSpPr>
          <p:nvPr/>
        </p:nvSpPr>
        <p:spPr bwMode="auto">
          <a:xfrm>
            <a:off x="282575" y="4719770"/>
            <a:ext cx="7745413" cy="381000"/>
          </a:xfrm>
          <a:prstGeom prst="rect">
            <a:avLst/>
          </a:prstGeom>
          <a:solidFill>
            <a:srgbClr val="DDDDDD"/>
          </a:solidFill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>
              <a:lnSpc>
                <a:spcPts val="2200"/>
              </a:lnSpc>
              <a:spcBef>
                <a:spcPct val="20000"/>
              </a:spcBef>
            </a:pPr>
            <a:r>
              <a:rPr lang="de-CH" sz="1600" b="1"/>
              <a:t>5. Festlegung geeigneter Produkte-Standards zur Umsetzung</a:t>
            </a:r>
            <a:endParaRPr lang="en-GB" sz="1600" b="1"/>
          </a:p>
        </p:txBody>
      </p:sp>
      <p:sp>
        <p:nvSpPr>
          <p:cNvPr id="4100" name="Rectangle 7"/>
          <p:cNvSpPr>
            <a:spLocks noChangeArrowheads="1"/>
          </p:cNvSpPr>
          <p:nvPr/>
        </p:nvSpPr>
        <p:spPr bwMode="auto">
          <a:xfrm>
            <a:off x="279400" y="5886583"/>
            <a:ext cx="7745413" cy="381000"/>
          </a:xfrm>
          <a:prstGeom prst="rect">
            <a:avLst/>
          </a:prstGeom>
          <a:solidFill>
            <a:srgbClr val="DDDDDD"/>
          </a:solidFill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>
              <a:lnSpc>
                <a:spcPts val="2200"/>
              </a:lnSpc>
              <a:spcBef>
                <a:spcPct val="20000"/>
              </a:spcBef>
            </a:pPr>
            <a:r>
              <a:rPr lang="de-CH" sz="1600" b="1"/>
              <a:t>7. Der Blick nach vorn </a:t>
            </a:r>
            <a:endParaRPr lang="en-GB" sz="1600" b="1"/>
          </a:p>
        </p:txBody>
      </p:sp>
      <p:sp>
        <p:nvSpPr>
          <p:cNvPr id="4101" name="Rectangle 9"/>
          <p:cNvSpPr>
            <a:spLocks noChangeArrowheads="1"/>
          </p:cNvSpPr>
          <p:nvPr/>
        </p:nvSpPr>
        <p:spPr bwMode="auto">
          <a:xfrm>
            <a:off x="285750" y="3005270"/>
            <a:ext cx="7745413" cy="381000"/>
          </a:xfrm>
          <a:prstGeom prst="rect">
            <a:avLst/>
          </a:prstGeom>
          <a:solidFill>
            <a:srgbClr val="DDDDDD"/>
          </a:solidFill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>
              <a:lnSpc>
                <a:spcPts val="2200"/>
              </a:lnSpc>
              <a:spcBef>
                <a:spcPct val="20000"/>
              </a:spcBef>
            </a:pPr>
            <a:r>
              <a:rPr lang="de-CH" sz="1600" b="1"/>
              <a:t>2. Stand der Implementierung Business Intelligence in der BKW</a:t>
            </a:r>
            <a:endParaRPr lang="en-GB" sz="1600" b="1"/>
          </a:p>
        </p:txBody>
      </p:sp>
      <p:sp>
        <p:nvSpPr>
          <p:cNvPr id="4102" name="Rectangle 10"/>
          <p:cNvSpPr>
            <a:spLocks noChangeArrowheads="1"/>
          </p:cNvSpPr>
          <p:nvPr/>
        </p:nvSpPr>
        <p:spPr bwMode="auto">
          <a:xfrm>
            <a:off x="282575" y="4148270"/>
            <a:ext cx="7745413" cy="381000"/>
          </a:xfrm>
          <a:prstGeom prst="rect">
            <a:avLst/>
          </a:prstGeom>
          <a:solidFill>
            <a:srgbClr val="DDDDDD"/>
          </a:solidFill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>
              <a:lnSpc>
                <a:spcPts val="2200"/>
              </a:lnSpc>
              <a:spcBef>
                <a:spcPct val="20000"/>
              </a:spcBef>
            </a:pPr>
            <a:r>
              <a:rPr lang="de-CH" sz="1600" b="1"/>
              <a:t>4. Festlegung einer </a:t>
            </a:r>
            <a:r>
              <a:rPr lang="de-CH" sz="1600" b="1" smtClean="0"/>
              <a:t>Architektur, </a:t>
            </a:r>
            <a:r>
              <a:rPr lang="de-CH" sz="1600" b="1"/>
              <a:t>die den Anforderungen gerecht wird</a:t>
            </a:r>
            <a:endParaRPr lang="en-GB" sz="1600" b="1"/>
          </a:p>
        </p:txBody>
      </p:sp>
      <p:sp>
        <p:nvSpPr>
          <p:cNvPr id="4103" name="Rectangle 13"/>
          <p:cNvSpPr>
            <a:spLocks noChangeArrowheads="1"/>
          </p:cNvSpPr>
          <p:nvPr/>
        </p:nvSpPr>
        <p:spPr bwMode="auto">
          <a:xfrm>
            <a:off x="277813" y="5315083"/>
            <a:ext cx="7745412" cy="381000"/>
          </a:xfrm>
          <a:prstGeom prst="rect">
            <a:avLst/>
          </a:prstGeom>
          <a:solidFill>
            <a:srgbClr val="DDDDDD"/>
          </a:solidFill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>
              <a:lnSpc>
                <a:spcPts val="2200"/>
              </a:lnSpc>
              <a:spcBef>
                <a:spcPct val="20000"/>
              </a:spcBef>
            </a:pPr>
            <a:r>
              <a:rPr lang="de-CH" sz="1600" b="1"/>
              <a:t>6. Festlegung einer geeigneten DWH-Organisation</a:t>
            </a:r>
            <a:endParaRPr lang="en-GB" sz="1600" b="1"/>
          </a:p>
        </p:txBody>
      </p:sp>
      <p:sp>
        <p:nvSpPr>
          <p:cNvPr id="9" name="Rectangle 2050"/>
          <p:cNvSpPr txBox="1">
            <a:spLocks noChangeArrowheads="1"/>
          </p:cNvSpPr>
          <p:nvPr/>
        </p:nvSpPr>
        <p:spPr>
          <a:xfrm>
            <a:off x="442913" y="285750"/>
            <a:ext cx="7558087" cy="487363"/>
          </a:xfrm>
          <a:prstGeom prst="rect">
            <a:avLst/>
          </a:prstGeom>
          <a:noFill/>
        </p:spPr>
        <p:txBody>
          <a:bodyPr/>
          <a:lstStyle/>
          <a:p>
            <a:pPr>
              <a:spcBef>
                <a:spcPct val="20000"/>
              </a:spcBef>
              <a:defRPr/>
            </a:pPr>
            <a:r>
              <a:rPr lang="de-CH" b="1" kern="0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Agenda</a:t>
            </a:r>
            <a:endParaRPr lang="en-GB" b="1" kern="0" dirty="0">
              <a:solidFill>
                <a:schemeClr val="accent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105" name="Rectangle 9"/>
          <p:cNvSpPr>
            <a:spLocks noChangeArrowheads="1"/>
          </p:cNvSpPr>
          <p:nvPr/>
        </p:nvSpPr>
        <p:spPr bwMode="auto">
          <a:xfrm>
            <a:off x="285750" y="3576770"/>
            <a:ext cx="7745413" cy="381000"/>
          </a:xfrm>
          <a:prstGeom prst="rect">
            <a:avLst/>
          </a:prstGeom>
          <a:solidFill>
            <a:srgbClr val="DDDDDD"/>
          </a:solidFill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>
              <a:lnSpc>
                <a:spcPts val="2200"/>
              </a:lnSpc>
              <a:spcBef>
                <a:spcPct val="20000"/>
              </a:spcBef>
            </a:pPr>
            <a:r>
              <a:rPr lang="de-CH" sz="1600" b="1"/>
              <a:t>3. Der Blick zurück </a:t>
            </a:r>
            <a:endParaRPr lang="en-GB" sz="1600" b="1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285750" y="2405063"/>
            <a:ext cx="7745413" cy="381000"/>
          </a:xfrm>
          <a:prstGeom prst="rect">
            <a:avLst/>
          </a:prstGeom>
          <a:solidFill>
            <a:schemeClr val="bg1">
              <a:lumMod val="75000"/>
              <a:alpha val="50000"/>
            </a:schemeClr>
          </a:solidFill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>
              <a:lnSpc>
                <a:spcPts val="2200"/>
              </a:lnSpc>
              <a:spcBef>
                <a:spcPct val="20000"/>
              </a:spcBef>
              <a:defRPr/>
            </a:pPr>
            <a:r>
              <a:rPr lang="de-CH" sz="1600" b="1" dirty="0"/>
              <a:t>1. Die Informatik der BKW FMB Energie AG (BKW ICT)</a:t>
            </a:r>
            <a:endParaRPr lang="en-GB" sz="16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6428" name="Group 108"/>
          <p:cNvGraphicFramePr>
            <a:graphicFrameLocks noGrp="1"/>
          </p:cNvGraphicFramePr>
          <p:nvPr/>
        </p:nvGraphicFramePr>
        <p:xfrm>
          <a:off x="666750" y="1268413"/>
          <a:ext cx="8086725" cy="2735072"/>
        </p:xfrm>
        <a:graphic>
          <a:graphicData uri="http://schemas.openxmlformats.org/drawingml/2006/table">
            <a:tbl>
              <a:tblPr/>
              <a:tblGrid>
                <a:gridCol w="3033713"/>
                <a:gridCol w="5053012"/>
              </a:tblGrid>
              <a:tr h="32861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ts val="22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CH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Integrierte Informatik</a:t>
                      </a:r>
                      <a:endParaRPr kumimoji="0" lang="en-GB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762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ts val="22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CH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Kommerzielle Informatik, WAN, Rechenzentren, </a:t>
                      </a:r>
                      <a:br>
                        <a:rPr kumimoji="0" lang="de-CH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</a:br>
                      <a:r>
                        <a:rPr kumimoji="0" lang="de-CH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Leit- und Fernwirktechnik, Handels-Informatik, Billing &amp; Call Center, Sprachkommunikation</a:t>
                      </a:r>
                      <a:endParaRPr kumimoji="0" lang="en-GB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762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</a:tr>
              <a:tr h="33972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ts val="22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CH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Applikationen</a:t>
                      </a:r>
                      <a:endParaRPr kumimoji="0" lang="en-GB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762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ts val="22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CH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&gt; </a:t>
                      </a:r>
                      <a:r>
                        <a:rPr kumimoji="0" lang="de-CH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250</a:t>
                      </a:r>
                      <a:endParaRPr kumimoji="0" lang="en-GB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762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</a:tr>
              <a:tr h="33813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ts val="22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CH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Mitarbeiter zentrale ICT</a:t>
                      </a:r>
                    </a:p>
                  </a:txBody>
                  <a:tcPr horzOverflow="overflow">
                    <a:lnL w="762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ts val="22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CH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~ 170</a:t>
                      </a:r>
                      <a:endParaRPr kumimoji="0" lang="en-GB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762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</a:tr>
              <a:tr h="33813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ts val="22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CH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Geräte</a:t>
                      </a:r>
                      <a:endParaRPr kumimoji="0" lang="en-GB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762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ts val="22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CH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~ 2500 Arbeitsplätze, &gt; 4500 Telefone 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ts val="22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CH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~ 600 Server</a:t>
                      </a:r>
                      <a:endParaRPr kumimoji="0" lang="en-GB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762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</a:tr>
              <a:tr h="33972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ts val="22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CH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SAP-Benutzer</a:t>
                      </a:r>
                      <a:endParaRPr kumimoji="0" lang="en-GB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762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ts val="22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CH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~ 1800 davon 214 SAP BW User</a:t>
                      </a:r>
                      <a:endParaRPr kumimoji="0" lang="en-GB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762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</a:tr>
            </a:tbl>
          </a:graphicData>
        </a:graphic>
      </p:graphicFrame>
      <p:pic>
        <p:nvPicPr>
          <p:cNvPr id="5142" name="Picture 3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96913" y="4537075"/>
            <a:ext cx="1874837" cy="143986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</p:pic>
      <p:pic>
        <p:nvPicPr>
          <p:cNvPr id="5143" name="Picture 35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803525" y="4533900"/>
            <a:ext cx="2133600" cy="143351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</p:pic>
      <p:pic>
        <p:nvPicPr>
          <p:cNvPr id="5144" name="Picture 42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5157788" y="4554538"/>
            <a:ext cx="1876425" cy="143351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</p:pic>
      <p:pic>
        <p:nvPicPr>
          <p:cNvPr id="5145" name="Picture 44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7278688" y="4518025"/>
            <a:ext cx="1468437" cy="146526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</p:pic>
      <p:sp>
        <p:nvSpPr>
          <p:cNvPr id="5146" name="Rectangle 2"/>
          <p:cNvSpPr>
            <a:spLocks noGrp="1" noChangeArrowheads="1"/>
          </p:cNvSpPr>
          <p:nvPr>
            <p:ph type="title"/>
          </p:nvPr>
        </p:nvSpPr>
        <p:spPr>
          <a:xfrm>
            <a:off x="682625" y="381000"/>
            <a:ext cx="7558088" cy="487363"/>
          </a:xfrm>
        </p:spPr>
        <p:txBody>
          <a:bodyPr/>
          <a:lstStyle/>
          <a:p>
            <a:r>
              <a:rPr lang="de-CH" sz="2000" smtClean="0">
                <a:solidFill>
                  <a:schemeClr val="accent1"/>
                </a:solidFill>
              </a:rPr>
              <a:t>1. Die Informatik der BKW FMB Energie AG (BKW ICT)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3"/>
          <p:cNvPicPr>
            <a:picLocks noChangeAspect="1" noChangeArrowheads="1"/>
          </p:cNvPicPr>
          <p:nvPr/>
        </p:nvPicPr>
        <p:blipFill>
          <a:blip r:embed="rId3" cstate="print"/>
          <a:srcRect t="15625" b="67708"/>
          <a:stretch>
            <a:fillRect/>
          </a:stretch>
        </p:blipFill>
        <p:spPr bwMode="auto">
          <a:xfrm>
            <a:off x="0" y="1071563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147" name="Rectangle 6"/>
          <p:cNvSpPr>
            <a:spLocks noChangeArrowheads="1"/>
          </p:cNvSpPr>
          <p:nvPr/>
        </p:nvSpPr>
        <p:spPr bwMode="auto">
          <a:xfrm>
            <a:off x="282575" y="4711224"/>
            <a:ext cx="7745413" cy="381000"/>
          </a:xfrm>
          <a:prstGeom prst="rect">
            <a:avLst/>
          </a:prstGeom>
          <a:solidFill>
            <a:srgbClr val="DDDDDD"/>
          </a:solidFill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>
              <a:lnSpc>
                <a:spcPts val="2200"/>
              </a:lnSpc>
              <a:spcBef>
                <a:spcPct val="20000"/>
              </a:spcBef>
            </a:pPr>
            <a:r>
              <a:rPr lang="de-CH" sz="1600" b="1"/>
              <a:t>5. Festlegung geeigneter Produkte-Standards zur Umsetzung</a:t>
            </a:r>
            <a:endParaRPr lang="en-GB" sz="1600" b="1"/>
          </a:p>
        </p:txBody>
      </p:sp>
      <p:sp>
        <p:nvSpPr>
          <p:cNvPr id="6148" name="Rectangle 7"/>
          <p:cNvSpPr>
            <a:spLocks noChangeArrowheads="1"/>
          </p:cNvSpPr>
          <p:nvPr/>
        </p:nvSpPr>
        <p:spPr bwMode="auto">
          <a:xfrm>
            <a:off x="279400" y="5878037"/>
            <a:ext cx="7745413" cy="381000"/>
          </a:xfrm>
          <a:prstGeom prst="rect">
            <a:avLst/>
          </a:prstGeom>
          <a:solidFill>
            <a:srgbClr val="DDDDDD"/>
          </a:solidFill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>
              <a:lnSpc>
                <a:spcPts val="2200"/>
              </a:lnSpc>
              <a:spcBef>
                <a:spcPct val="20000"/>
              </a:spcBef>
            </a:pPr>
            <a:r>
              <a:rPr lang="de-CH" sz="1600" b="1"/>
              <a:t>7. Der Blick nach vorn </a:t>
            </a:r>
            <a:endParaRPr lang="en-GB" sz="1600" b="1"/>
          </a:p>
        </p:txBody>
      </p:sp>
      <p:sp>
        <p:nvSpPr>
          <p:cNvPr id="4101" name="Rectangle 9"/>
          <p:cNvSpPr>
            <a:spLocks noChangeArrowheads="1"/>
          </p:cNvSpPr>
          <p:nvPr/>
        </p:nvSpPr>
        <p:spPr bwMode="auto">
          <a:xfrm>
            <a:off x="285750" y="2996724"/>
            <a:ext cx="7745413" cy="381000"/>
          </a:xfrm>
          <a:prstGeom prst="rect">
            <a:avLst/>
          </a:prstGeom>
          <a:solidFill>
            <a:schemeClr val="bg1">
              <a:lumMod val="75000"/>
              <a:alpha val="50000"/>
            </a:schemeClr>
          </a:solidFill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>
              <a:lnSpc>
                <a:spcPts val="2200"/>
              </a:lnSpc>
              <a:spcBef>
                <a:spcPct val="20000"/>
              </a:spcBef>
              <a:defRPr/>
            </a:pPr>
            <a:r>
              <a:rPr lang="de-CH" sz="1600" b="1" dirty="0"/>
              <a:t>2. Stand der Implementierung Business </a:t>
            </a:r>
            <a:r>
              <a:rPr lang="de-CH" sz="1600" b="1" dirty="0" err="1"/>
              <a:t>Intelligence</a:t>
            </a:r>
            <a:r>
              <a:rPr lang="de-CH" sz="1600" b="1" dirty="0"/>
              <a:t> in der BKW</a:t>
            </a:r>
            <a:endParaRPr lang="en-GB" sz="1600" b="1" dirty="0"/>
          </a:p>
        </p:txBody>
      </p:sp>
      <p:sp>
        <p:nvSpPr>
          <p:cNvPr id="6150" name="Rectangle 10"/>
          <p:cNvSpPr>
            <a:spLocks noChangeArrowheads="1"/>
          </p:cNvSpPr>
          <p:nvPr/>
        </p:nvSpPr>
        <p:spPr bwMode="auto">
          <a:xfrm>
            <a:off x="282575" y="4139724"/>
            <a:ext cx="7745413" cy="381000"/>
          </a:xfrm>
          <a:prstGeom prst="rect">
            <a:avLst/>
          </a:prstGeom>
          <a:solidFill>
            <a:srgbClr val="DDDDDD"/>
          </a:solidFill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>
              <a:lnSpc>
                <a:spcPts val="2200"/>
              </a:lnSpc>
              <a:spcBef>
                <a:spcPct val="20000"/>
              </a:spcBef>
            </a:pPr>
            <a:r>
              <a:rPr lang="de-CH" sz="1600" b="1"/>
              <a:t>4. Festlegung einer </a:t>
            </a:r>
            <a:r>
              <a:rPr lang="de-CH" sz="1600" b="1" smtClean="0"/>
              <a:t>Architektur, </a:t>
            </a:r>
            <a:r>
              <a:rPr lang="de-CH" sz="1600" b="1"/>
              <a:t>die den Anforderungen gerecht wird</a:t>
            </a:r>
            <a:endParaRPr lang="en-GB" sz="1600" b="1"/>
          </a:p>
        </p:txBody>
      </p:sp>
      <p:sp>
        <p:nvSpPr>
          <p:cNvPr id="6151" name="Rectangle 13"/>
          <p:cNvSpPr>
            <a:spLocks noChangeArrowheads="1"/>
          </p:cNvSpPr>
          <p:nvPr/>
        </p:nvSpPr>
        <p:spPr bwMode="auto">
          <a:xfrm>
            <a:off x="277813" y="5306537"/>
            <a:ext cx="7745412" cy="381000"/>
          </a:xfrm>
          <a:prstGeom prst="rect">
            <a:avLst/>
          </a:prstGeom>
          <a:solidFill>
            <a:srgbClr val="DDDDDD"/>
          </a:solidFill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>
              <a:lnSpc>
                <a:spcPts val="2200"/>
              </a:lnSpc>
              <a:spcBef>
                <a:spcPct val="20000"/>
              </a:spcBef>
            </a:pPr>
            <a:r>
              <a:rPr lang="de-CH" sz="1600" b="1"/>
              <a:t>6. Festlegung einer geeigneten DWH-Organisation</a:t>
            </a:r>
            <a:endParaRPr lang="en-GB" sz="1600" b="1"/>
          </a:p>
        </p:txBody>
      </p:sp>
      <p:sp>
        <p:nvSpPr>
          <p:cNvPr id="9" name="Rectangle 2050"/>
          <p:cNvSpPr txBox="1">
            <a:spLocks noChangeArrowheads="1"/>
          </p:cNvSpPr>
          <p:nvPr/>
        </p:nvSpPr>
        <p:spPr>
          <a:xfrm>
            <a:off x="442913" y="285750"/>
            <a:ext cx="7558087" cy="487363"/>
          </a:xfrm>
          <a:prstGeom prst="rect">
            <a:avLst/>
          </a:prstGeom>
          <a:noFill/>
        </p:spPr>
        <p:txBody>
          <a:bodyPr/>
          <a:lstStyle/>
          <a:p>
            <a:pPr>
              <a:spcBef>
                <a:spcPct val="20000"/>
              </a:spcBef>
              <a:defRPr/>
            </a:pPr>
            <a:r>
              <a:rPr lang="de-CH" b="1" kern="0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Agenda</a:t>
            </a:r>
            <a:endParaRPr lang="en-GB" b="1" kern="0" dirty="0">
              <a:solidFill>
                <a:schemeClr val="accent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6153" name="Rectangle 9"/>
          <p:cNvSpPr>
            <a:spLocks noChangeArrowheads="1"/>
          </p:cNvSpPr>
          <p:nvPr/>
        </p:nvSpPr>
        <p:spPr bwMode="auto">
          <a:xfrm>
            <a:off x="285750" y="3568224"/>
            <a:ext cx="7745413" cy="381000"/>
          </a:xfrm>
          <a:prstGeom prst="rect">
            <a:avLst/>
          </a:prstGeom>
          <a:solidFill>
            <a:srgbClr val="DDDDDD"/>
          </a:solidFill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>
              <a:lnSpc>
                <a:spcPts val="2200"/>
              </a:lnSpc>
              <a:spcBef>
                <a:spcPct val="20000"/>
              </a:spcBef>
            </a:pPr>
            <a:r>
              <a:rPr lang="de-CH" sz="1600" b="1"/>
              <a:t>3. Der Blick zurück </a:t>
            </a:r>
            <a:endParaRPr lang="en-GB" sz="1600" b="1"/>
          </a:p>
        </p:txBody>
      </p:sp>
      <p:sp>
        <p:nvSpPr>
          <p:cNvPr id="6154" name="Rectangle 9"/>
          <p:cNvSpPr>
            <a:spLocks noChangeArrowheads="1"/>
          </p:cNvSpPr>
          <p:nvPr/>
        </p:nvSpPr>
        <p:spPr bwMode="auto">
          <a:xfrm>
            <a:off x="285750" y="2405063"/>
            <a:ext cx="7745413" cy="381000"/>
          </a:xfrm>
          <a:prstGeom prst="rect">
            <a:avLst/>
          </a:prstGeom>
          <a:solidFill>
            <a:srgbClr val="DDDDDD"/>
          </a:solidFill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>
              <a:lnSpc>
                <a:spcPts val="2200"/>
              </a:lnSpc>
              <a:spcBef>
                <a:spcPct val="20000"/>
              </a:spcBef>
            </a:pPr>
            <a:r>
              <a:rPr lang="de-CH" sz="1600" b="1"/>
              <a:t>1. Die Informatik der BKW FMB Energie AG (BKW ICT)</a:t>
            </a:r>
            <a:endParaRPr lang="en-GB" sz="1600" b="1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214313" y="357188"/>
            <a:ext cx="8715375" cy="487362"/>
          </a:xfrm>
        </p:spPr>
        <p:txBody>
          <a:bodyPr/>
          <a:lstStyle/>
          <a:p>
            <a:r>
              <a:rPr lang="de-CH" sz="2000" smtClean="0">
                <a:solidFill>
                  <a:schemeClr val="accent1"/>
                </a:solidFill>
              </a:rPr>
              <a:t/>
            </a:r>
            <a:br>
              <a:rPr lang="de-CH" sz="2000" smtClean="0">
                <a:solidFill>
                  <a:schemeClr val="accent1"/>
                </a:solidFill>
              </a:rPr>
            </a:br>
            <a:r>
              <a:rPr lang="de-CH" sz="2000" smtClean="0">
                <a:solidFill>
                  <a:schemeClr val="accent1"/>
                </a:solidFill>
              </a:rPr>
              <a:t>2. Stand der Implementierung Business Intelligence BKW</a:t>
            </a:r>
            <a:br>
              <a:rPr lang="de-CH" sz="2000" smtClean="0">
                <a:solidFill>
                  <a:schemeClr val="accent1"/>
                </a:solidFill>
              </a:rPr>
            </a:br>
            <a:r>
              <a:rPr lang="de-CH" sz="2000" smtClean="0">
                <a:solidFill>
                  <a:schemeClr val="accent1"/>
                </a:solidFill>
              </a:rPr>
              <a:t>    </a:t>
            </a:r>
            <a:r>
              <a:rPr lang="de-CH" sz="2000" smtClean="0"/>
              <a:t>Die Vision</a:t>
            </a:r>
            <a:r>
              <a:rPr lang="de-CH" sz="2000" smtClean="0">
                <a:solidFill>
                  <a:schemeClr val="accent1"/>
                </a:solidFill>
              </a:rPr>
              <a:t/>
            </a:r>
            <a:br>
              <a:rPr lang="de-CH" sz="2000" smtClean="0">
                <a:solidFill>
                  <a:schemeClr val="accent1"/>
                </a:solidFill>
              </a:rPr>
            </a:br>
            <a:endParaRPr lang="de-CH" sz="2000" smtClean="0">
              <a:solidFill>
                <a:schemeClr val="accent1"/>
              </a:solidFill>
            </a:endParaRPr>
          </a:p>
        </p:txBody>
      </p:sp>
      <p:pic>
        <p:nvPicPr>
          <p:cNvPr id="7171" name="Picture 116" descr="O:\ks_kmk\KKO\Komm.steuerung und -services\Konzepte&amp;Projekte\Unternehmenspräsentation 2007\3_Entwürfe\Folie_8_d.png"/>
          <p:cNvPicPr>
            <a:picLocks noChangeAspect="1" noChangeArrowheads="1"/>
          </p:cNvPicPr>
          <p:nvPr/>
        </p:nvPicPr>
        <p:blipFill>
          <a:blip r:embed="rId3" cstate="print"/>
          <a:srcRect t="15546" b="67799"/>
          <a:stretch>
            <a:fillRect/>
          </a:stretch>
        </p:blipFill>
        <p:spPr bwMode="auto">
          <a:xfrm>
            <a:off x="0" y="10668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7172" name="Gruppieren 8"/>
          <p:cNvGrpSpPr>
            <a:grpSpLocks/>
          </p:cNvGrpSpPr>
          <p:nvPr/>
        </p:nvGrpSpPr>
        <p:grpSpPr bwMode="auto">
          <a:xfrm>
            <a:off x="285750" y="2286000"/>
            <a:ext cx="8572500" cy="4500586"/>
            <a:chOff x="285750" y="2286000"/>
            <a:chExt cx="8572500" cy="4500586"/>
          </a:xfrm>
        </p:grpSpPr>
        <p:pic>
          <p:nvPicPr>
            <p:cNvPr id="7173" name="Picture 19" descr=" BlackBerry Wallpaper &gt; Nature &gt; Wind Shear, Matterhorn, Switzerland">
              <a:hlinkClick r:id="rId4"/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lum bright="12000" contrast="-10000"/>
            </a:blip>
            <a:srcRect/>
            <a:stretch>
              <a:fillRect/>
            </a:stretch>
          </p:blipFill>
          <p:spPr bwMode="auto">
            <a:xfrm>
              <a:off x="5286380" y="5232424"/>
              <a:ext cx="2071688" cy="15541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7174" name="Pfeil nach rechts 13"/>
            <p:cNvSpPr>
              <a:spLocks noChangeArrowheads="1"/>
            </p:cNvSpPr>
            <p:nvPr/>
          </p:nvSpPr>
          <p:spPr bwMode="auto">
            <a:xfrm>
              <a:off x="1928817" y="5572145"/>
              <a:ext cx="3214687" cy="785813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chemeClr val="accent1"/>
            </a:solidFill>
            <a:ln w="12700" algn="ctr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pPr algn="ctr"/>
              <a:r>
                <a:rPr lang="de-CH" sz="1600"/>
                <a:t>Der Weg zum Ziel</a:t>
              </a:r>
            </a:p>
          </p:txBody>
        </p:sp>
        <p:sp>
          <p:nvSpPr>
            <p:cNvPr id="18" name="Rechteck 121"/>
            <p:cNvSpPr>
              <a:spLocks noChangeArrowheads="1"/>
            </p:cNvSpPr>
            <p:nvPr/>
          </p:nvSpPr>
          <p:spPr bwMode="auto">
            <a:xfrm>
              <a:off x="1928813" y="2286000"/>
              <a:ext cx="6929437" cy="2857512"/>
            </a:xfrm>
            <a:prstGeom prst="rect">
              <a:avLst/>
            </a:prstGeom>
            <a:solidFill>
              <a:schemeClr val="bg1">
                <a:alpha val="50195"/>
              </a:schemeClr>
            </a:solidFill>
            <a:ln w="12700" algn="ctr">
              <a:noFill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pPr marL="538163" lvl="1" defTabSz="538163">
                <a:defRPr/>
              </a:pPr>
              <a:r>
                <a:rPr lang="de-CH" sz="1600" dirty="0"/>
                <a:t>Bei der BKW Energie AG soll Data Warehousing betrieben werden, um Analysen auf bereichsübergreifenden und qualitativ hochwertigen Daten zu ermöglichen. Diese Analysen können </a:t>
              </a:r>
              <a:r>
                <a:rPr lang="de-CH" sz="1600"/>
                <a:t>sowohl </a:t>
              </a:r>
              <a:endParaRPr lang="de-CH" sz="1600" smtClean="0"/>
            </a:p>
            <a:p>
              <a:pPr marL="538163" lvl="1" defTabSz="538163">
                <a:defRPr/>
              </a:pPr>
              <a:endParaRPr lang="de-CH" sz="1600" dirty="0"/>
            </a:p>
            <a:p>
              <a:pPr marL="881062" lvl="1" indent="-342900" defTabSz="538163">
                <a:buFont typeface="+mj-lt"/>
                <a:buAutoNum type="arabicPeriod"/>
                <a:defRPr/>
              </a:pPr>
              <a:r>
                <a:rPr lang="de-CH" sz="1600" u="sng" dirty="0"/>
                <a:t>der Unterstützung operativer Geschäftsprozesse </a:t>
              </a:r>
              <a:r>
                <a:rPr lang="de-CH" sz="1600" dirty="0"/>
                <a:t>(z.B. Value </a:t>
              </a:r>
              <a:r>
                <a:rPr lang="de-CH" sz="1600" dirty="0" err="1"/>
                <a:t>at</a:t>
              </a:r>
              <a:r>
                <a:rPr lang="de-CH" sz="1600" dirty="0"/>
                <a:t> </a:t>
              </a:r>
              <a:r>
                <a:rPr lang="de-CH" sz="1600" dirty="0" err="1"/>
                <a:t>Risk</a:t>
              </a:r>
              <a:r>
                <a:rPr lang="de-CH" sz="1600" dirty="0"/>
                <a:t> Analyse für den Handel am Spot- und Terminmarkt,  Analyse von Messwerten für die Netzführung und -überwachung </a:t>
              </a:r>
              <a:r>
                <a:rPr lang="de-CH" sz="1600"/>
                <a:t>etc</a:t>
              </a:r>
              <a:r>
                <a:rPr lang="de-CH" sz="1600" smtClean="0"/>
                <a:t>.)</a:t>
              </a:r>
              <a:endParaRPr lang="de-CH" sz="1600" dirty="0"/>
            </a:p>
            <a:p>
              <a:pPr marL="881062" lvl="1" indent="-342900" defTabSz="538163">
                <a:buFont typeface="+mj-lt"/>
                <a:buAutoNum type="arabicPeriod"/>
                <a:defRPr/>
              </a:pPr>
              <a:r>
                <a:rPr lang="de-CH" sz="1600" u="sng" dirty="0"/>
                <a:t>als auch Aufgaben der Planung und Steuerung </a:t>
              </a:r>
              <a:r>
                <a:rPr lang="de-CH" sz="1600" u="sng"/>
                <a:t>des </a:t>
              </a:r>
              <a:r>
                <a:rPr lang="de-CH" sz="1600" u="sng" smtClean="0"/>
                <a:t>Unternehmens</a:t>
              </a:r>
              <a:r>
                <a:rPr lang="de-CH" sz="1600" dirty="0"/>
                <a:t> </a:t>
              </a:r>
              <a:r>
                <a:rPr lang="de-CH" sz="1600" smtClean="0"/>
                <a:t>oder </a:t>
              </a:r>
              <a:r>
                <a:rPr lang="de-CH" sz="1600" dirty="0"/>
                <a:t>einzelner Bereiche dienen (Management </a:t>
              </a:r>
              <a:r>
                <a:rPr lang="de-CH" sz="1600"/>
                <a:t>Informationssysteme</a:t>
              </a:r>
              <a:r>
                <a:rPr lang="de-CH" sz="1600" smtClean="0"/>
                <a:t>)</a:t>
              </a:r>
              <a:endParaRPr lang="de-CH" sz="1600" dirty="0"/>
            </a:p>
          </p:txBody>
        </p:sp>
        <p:sp>
          <p:nvSpPr>
            <p:cNvPr id="7176" name="Rechteck 123"/>
            <p:cNvSpPr>
              <a:spLocks noChangeArrowheads="1"/>
            </p:cNvSpPr>
            <p:nvPr/>
          </p:nvSpPr>
          <p:spPr bwMode="auto">
            <a:xfrm>
              <a:off x="285750" y="2714625"/>
              <a:ext cx="2143125" cy="571500"/>
            </a:xfrm>
            <a:prstGeom prst="rect">
              <a:avLst/>
            </a:prstGeom>
            <a:solidFill>
              <a:schemeClr val="accent1"/>
            </a:solidFill>
            <a:ln w="12700" algn="ctr">
              <a:noFill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r>
                <a:rPr lang="de-CH" sz="1400" b="1"/>
                <a:t>DWH-Vision </a:t>
              </a:r>
            </a:p>
            <a:p>
              <a:r>
                <a:rPr lang="de-CH" sz="1400" b="1"/>
                <a:t>BKW FMB Energie AG</a:t>
              </a:r>
            </a:p>
          </p:txBody>
        </p:sp>
        <p:pic>
          <p:nvPicPr>
            <p:cNvPr id="7177" name="Picture 21" descr="Mann mit Fernglas"/>
            <p:cNvPicPr>
              <a:picLocks noChangeAspect="1" noChangeArrowheads="1"/>
            </p:cNvPicPr>
            <p:nvPr/>
          </p:nvPicPr>
          <p:blipFill>
            <a:blip r:embed="rId6" cstate="print"/>
            <a:srcRect/>
            <a:stretch>
              <a:fillRect/>
            </a:stretch>
          </p:blipFill>
          <p:spPr bwMode="auto">
            <a:xfrm>
              <a:off x="538163" y="5260998"/>
              <a:ext cx="922337" cy="14541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Bild 1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42875" y="2071688"/>
            <a:ext cx="4143375" cy="3544887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</p:pic>
      <p:grpSp>
        <p:nvGrpSpPr>
          <p:cNvPr id="8195" name="Gruppieren 9"/>
          <p:cNvGrpSpPr>
            <a:grpSpLocks/>
          </p:cNvGrpSpPr>
          <p:nvPr/>
        </p:nvGrpSpPr>
        <p:grpSpPr bwMode="auto">
          <a:xfrm>
            <a:off x="4135438" y="2643188"/>
            <a:ext cx="5008562" cy="3214687"/>
            <a:chOff x="4214836" y="3286124"/>
            <a:chExt cx="4786320" cy="2428892"/>
          </a:xfrm>
        </p:grpSpPr>
        <p:sp>
          <p:nvSpPr>
            <p:cNvPr id="8199" name="Rectangle 4"/>
            <p:cNvSpPr>
              <a:spLocks noChangeArrowheads="1"/>
            </p:cNvSpPr>
            <p:nvPr/>
          </p:nvSpPr>
          <p:spPr bwMode="auto">
            <a:xfrm>
              <a:off x="4714876" y="3286124"/>
              <a:ext cx="4071966" cy="2428892"/>
            </a:xfrm>
            <a:prstGeom prst="rect">
              <a:avLst/>
            </a:prstGeom>
            <a:solidFill>
              <a:schemeClr val="bg2"/>
            </a:solidFill>
            <a:ln w="12700">
              <a:solidFill>
                <a:schemeClr val="bg2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6149" name="Rectangle 7"/>
            <p:cNvSpPr>
              <a:spLocks noChangeArrowheads="1"/>
            </p:cNvSpPr>
            <p:nvPr/>
          </p:nvSpPr>
          <p:spPr bwMode="auto">
            <a:xfrm>
              <a:off x="4786776" y="4000998"/>
              <a:ext cx="4214380" cy="164205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marL="180975" indent="-180975">
                <a:spcBef>
                  <a:spcPct val="10000"/>
                </a:spcBef>
                <a:buFontTx/>
                <a:buChar char="•"/>
                <a:defRPr/>
              </a:pPr>
              <a:r>
                <a:rPr lang="de-CH" sz="1400"/>
                <a:t>7 implementierte DWH-Anwendungen</a:t>
              </a:r>
            </a:p>
            <a:p>
              <a:pPr marL="180975" indent="-180975">
                <a:spcBef>
                  <a:spcPct val="10000"/>
                </a:spcBef>
                <a:buFontTx/>
                <a:buChar char="•"/>
                <a:defRPr/>
              </a:pPr>
              <a:r>
                <a:rPr lang="de-CH" sz="1400"/>
                <a:t>110 Info-Cubes mit physischer Datenhaltung</a:t>
              </a:r>
            </a:p>
            <a:p>
              <a:pPr marL="180975" indent="-180975">
                <a:spcBef>
                  <a:spcPct val="10000"/>
                </a:spcBef>
                <a:buFontTx/>
                <a:buChar char="•"/>
                <a:defRPr/>
              </a:pPr>
              <a:r>
                <a:rPr lang="de-CH" sz="1400"/>
                <a:t>35 Multiprovider</a:t>
              </a:r>
            </a:p>
            <a:p>
              <a:pPr marL="180975" indent="-180975">
                <a:spcBef>
                  <a:spcPct val="10000"/>
                </a:spcBef>
                <a:buFontTx/>
                <a:buChar char="•"/>
                <a:defRPr/>
              </a:pPr>
              <a:r>
                <a:rPr lang="de-CH" sz="1400"/>
                <a:t>ca. 60 Reports, welche täglich genutzt werden</a:t>
              </a:r>
            </a:p>
            <a:p>
              <a:pPr marL="180975" indent="-180975">
                <a:spcBef>
                  <a:spcPct val="10000"/>
                </a:spcBef>
                <a:buFontTx/>
                <a:buChar char="•"/>
                <a:defRPr/>
              </a:pPr>
              <a:r>
                <a:rPr lang="de-CH" sz="1400"/>
                <a:t>4 SAP BW Standard ETL-Schnittstellen </a:t>
              </a:r>
            </a:p>
            <a:p>
              <a:pPr marL="180975" indent="-180975">
                <a:spcBef>
                  <a:spcPct val="10000"/>
                </a:spcBef>
                <a:buFontTx/>
                <a:buChar char="•"/>
                <a:defRPr/>
              </a:pPr>
              <a:r>
                <a:rPr lang="de-CH" sz="1400"/>
                <a:t>3 SAP Quellsysteme (IS-U, CRM, ERP)</a:t>
              </a:r>
            </a:p>
            <a:p>
              <a:pPr marL="180975" indent="-180975">
                <a:spcBef>
                  <a:spcPct val="10000"/>
                </a:spcBef>
                <a:buFontTx/>
                <a:buChar char="•"/>
                <a:defRPr/>
              </a:pPr>
              <a:r>
                <a:rPr lang="de-CH" sz="1400"/>
                <a:t>3 weitere Anwendungen (EDIS, EMTS, Filesystem Swissgrid)</a:t>
              </a:r>
            </a:p>
            <a:p>
              <a:pPr marL="180975" indent="-180975">
                <a:spcBef>
                  <a:spcPct val="10000"/>
                </a:spcBef>
                <a:buFontTx/>
                <a:buChar char="•"/>
                <a:defRPr/>
              </a:pPr>
              <a:r>
                <a:rPr lang="de-CH" sz="1400"/>
                <a:t>1.4 Tbyte Daten </a:t>
              </a:r>
            </a:p>
            <a:p>
              <a:pPr marL="342900" indent="-342900">
                <a:spcBef>
                  <a:spcPct val="10000"/>
                </a:spcBef>
                <a:buFontTx/>
                <a:buChar char="•"/>
                <a:defRPr/>
              </a:pPr>
              <a:endParaRPr lang="de-CH" sz="1500"/>
            </a:p>
            <a:p>
              <a:pPr marL="182563" indent="-182563">
                <a:spcBef>
                  <a:spcPct val="10000"/>
                </a:spcBef>
                <a:buFontTx/>
                <a:buChar char="•"/>
                <a:defRPr/>
              </a:pPr>
              <a:endParaRPr lang="de-CH" sz="1500" b="1"/>
            </a:p>
            <a:p>
              <a:pPr marL="342900" indent="-342900">
                <a:spcBef>
                  <a:spcPct val="10000"/>
                </a:spcBef>
                <a:defRPr/>
              </a:pPr>
              <a:endParaRPr lang="de-CH" sz="1500" dirty="0"/>
            </a:p>
            <a:p>
              <a:pPr marL="342900" indent="-342900">
                <a:spcBef>
                  <a:spcPct val="10000"/>
                </a:spcBef>
                <a:defRPr/>
              </a:pPr>
              <a:endParaRPr lang="de-CH" sz="1500" dirty="0"/>
            </a:p>
            <a:p>
              <a:pPr marL="342900" indent="-342900">
                <a:spcBef>
                  <a:spcPct val="10000"/>
                </a:spcBef>
                <a:buFontTx/>
                <a:buChar char="•"/>
                <a:defRPr/>
              </a:pPr>
              <a:endParaRPr lang="de-CH" sz="1500" dirty="0"/>
            </a:p>
          </p:txBody>
        </p:sp>
        <p:sp>
          <p:nvSpPr>
            <p:cNvPr id="8201" name="Rectangle 5"/>
            <p:cNvSpPr>
              <a:spLocks noChangeArrowheads="1"/>
            </p:cNvSpPr>
            <p:nvPr/>
          </p:nvSpPr>
          <p:spPr bwMode="auto">
            <a:xfrm>
              <a:off x="4214836" y="3324228"/>
              <a:ext cx="2000238" cy="533400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chemeClr val="bg2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r>
                <a:rPr lang="de-CH" sz="1800" b="1"/>
                <a:t>Facts &amp; Figures</a:t>
              </a:r>
              <a:endParaRPr lang="en-GB" sz="1800" b="1"/>
            </a:p>
          </p:txBody>
        </p:sp>
      </p:grpSp>
      <p:sp>
        <p:nvSpPr>
          <p:cNvPr id="11" name="Titel 1"/>
          <p:cNvSpPr txBox="1">
            <a:spLocks/>
          </p:cNvSpPr>
          <p:nvPr/>
        </p:nvSpPr>
        <p:spPr bwMode="auto">
          <a:xfrm>
            <a:off x="357188" y="1285875"/>
            <a:ext cx="8286750" cy="487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>
            <a:normAutofit fontScale="90000" lnSpcReduction="20000"/>
          </a:bodyPr>
          <a:lstStyle/>
          <a:p>
            <a:pPr>
              <a:spcBef>
                <a:spcPct val="20000"/>
              </a:spcBef>
              <a:defRPr/>
            </a:pPr>
            <a:r>
              <a:rPr lang="de-CH" b="1" kern="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Seit 2008 umfasst das DWH neben den finanziellen auch die </a:t>
            </a:r>
            <a:r>
              <a:rPr lang="de-CH" b="1" kern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wichtigsten </a:t>
            </a:r>
            <a:r>
              <a:rPr lang="de-CH" b="1" kern="0" smtClean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energiewirtschaftlichen </a:t>
            </a:r>
            <a:r>
              <a:rPr lang="de-CH" b="1" kern="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Kennzahlen*</a:t>
            </a:r>
          </a:p>
        </p:txBody>
      </p:sp>
      <p:sp>
        <p:nvSpPr>
          <p:cNvPr id="12" name="Titel 1"/>
          <p:cNvSpPr txBox="1">
            <a:spLocks/>
          </p:cNvSpPr>
          <p:nvPr/>
        </p:nvSpPr>
        <p:spPr bwMode="auto">
          <a:xfrm>
            <a:off x="7072313" y="5715000"/>
            <a:ext cx="1857375" cy="487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>
            <a:normAutofit fontScale="97500"/>
          </a:bodyPr>
          <a:lstStyle/>
          <a:p>
            <a:pPr>
              <a:spcBef>
                <a:spcPct val="20000"/>
              </a:spcBef>
              <a:defRPr/>
            </a:pPr>
            <a:r>
              <a:rPr lang="de-CH" sz="1200" b="1" kern="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* exkl. Bereich Handel </a:t>
            </a:r>
          </a:p>
        </p:txBody>
      </p:sp>
      <p:sp>
        <p:nvSpPr>
          <p:cNvPr id="8198" name="Rectangle 2"/>
          <p:cNvSpPr>
            <a:spLocks noGrp="1" noChangeArrowheads="1"/>
          </p:cNvSpPr>
          <p:nvPr>
            <p:ph type="title"/>
          </p:nvPr>
        </p:nvSpPr>
        <p:spPr>
          <a:xfrm>
            <a:off x="214313" y="357188"/>
            <a:ext cx="8715375" cy="487362"/>
          </a:xfrm>
        </p:spPr>
        <p:txBody>
          <a:bodyPr/>
          <a:lstStyle/>
          <a:p>
            <a:r>
              <a:rPr lang="de-CH" sz="2000" smtClean="0">
                <a:solidFill>
                  <a:schemeClr val="accent1"/>
                </a:solidFill>
              </a:rPr>
              <a:t/>
            </a:r>
            <a:br>
              <a:rPr lang="de-CH" sz="2000" smtClean="0">
                <a:solidFill>
                  <a:schemeClr val="accent1"/>
                </a:solidFill>
              </a:rPr>
            </a:br>
            <a:r>
              <a:rPr lang="de-CH" sz="2000" smtClean="0">
                <a:solidFill>
                  <a:schemeClr val="accent1"/>
                </a:solidFill>
              </a:rPr>
              <a:t>2. Stand der Implementierung Business Intelligence BKW</a:t>
            </a:r>
            <a:br>
              <a:rPr lang="de-CH" sz="2000" smtClean="0">
                <a:solidFill>
                  <a:schemeClr val="accent1"/>
                </a:solidFill>
              </a:rPr>
            </a:br>
            <a:r>
              <a:rPr lang="de-CH" sz="2000" smtClean="0">
                <a:solidFill>
                  <a:schemeClr val="accent1"/>
                </a:solidFill>
              </a:rPr>
              <a:t>    </a:t>
            </a:r>
            <a:r>
              <a:rPr lang="de-CH" sz="2000" smtClean="0"/>
              <a:t>Die</a:t>
            </a:r>
            <a:r>
              <a:rPr lang="de-CH" sz="2000" smtClean="0">
                <a:solidFill>
                  <a:schemeClr val="accent1"/>
                </a:solidFill>
              </a:rPr>
              <a:t> </a:t>
            </a:r>
            <a:r>
              <a:rPr lang="de-CH" sz="2000" smtClean="0"/>
              <a:t>aktuelle Situation</a:t>
            </a:r>
            <a:r>
              <a:rPr lang="de-CH" sz="2000" smtClean="0">
                <a:solidFill>
                  <a:schemeClr val="accent1"/>
                </a:solidFill>
              </a:rPr>
              <a:t/>
            </a:r>
            <a:br>
              <a:rPr lang="de-CH" sz="2000" smtClean="0">
                <a:solidFill>
                  <a:schemeClr val="accent1"/>
                </a:solidFill>
              </a:rPr>
            </a:br>
            <a:endParaRPr lang="de-CH" sz="2000" smtClean="0">
              <a:solidFill>
                <a:schemeClr val="accent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3"/>
          <p:cNvPicPr>
            <a:picLocks noChangeAspect="1" noChangeArrowheads="1"/>
          </p:cNvPicPr>
          <p:nvPr/>
        </p:nvPicPr>
        <p:blipFill>
          <a:blip r:embed="rId3" cstate="print"/>
          <a:srcRect t="15625" b="67708"/>
          <a:stretch>
            <a:fillRect/>
          </a:stretch>
        </p:blipFill>
        <p:spPr bwMode="auto">
          <a:xfrm>
            <a:off x="0" y="1071563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219" name="Rectangle 6"/>
          <p:cNvSpPr>
            <a:spLocks noChangeArrowheads="1"/>
          </p:cNvSpPr>
          <p:nvPr/>
        </p:nvSpPr>
        <p:spPr bwMode="auto">
          <a:xfrm>
            <a:off x="282575" y="4711224"/>
            <a:ext cx="7745413" cy="381000"/>
          </a:xfrm>
          <a:prstGeom prst="rect">
            <a:avLst/>
          </a:prstGeom>
          <a:solidFill>
            <a:srgbClr val="DDDDDD"/>
          </a:solidFill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>
              <a:lnSpc>
                <a:spcPts val="2200"/>
              </a:lnSpc>
              <a:spcBef>
                <a:spcPct val="20000"/>
              </a:spcBef>
            </a:pPr>
            <a:r>
              <a:rPr lang="de-CH" sz="1600" b="1"/>
              <a:t>5. Festlegung geeigneter Produkte-Standards zur Umsetzung</a:t>
            </a:r>
            <a:endParaRPr lang="en-GB" sz="1600" b="1"/>
          </a:p>
        </p:txBody>
      </p:sp>
      <p:sp>
        <p:nvSpPr>
          <p:cNvPr id="9220" name="Rectangle 7"/>
          <p:cNvSpPr>
            <a:spLocks noChangeArrowheads="1"/>
          </p:cNvSpPr>
          <p:nvPr/>
        </p:nvSpPr>
        <p:spPr bwMode="auto">
          <a:xfrm>
            <a:off x="279400" y="5878037"/>
            <a:ext cx="7745413" cy="381000"/>
          </a:xfrm>
          <a:prstGeom prst="rect">
            <a:avLst/>
          </a:prstGeom>
          <a:solidFill>
            <a:srgbClr val="DDDDDD"/>
          </a:solidFill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>
              <a:lnSpc>
                <a:spcPts val="2200"/>
              </a:lnSpc>
              <a:spcBef>
                <a:spcPct val="20000"/>
              </a:spcBef>
            </a:pPr>
            <a:r>
              <a:rPr lang="de-CH" sz="1600" b="1"/>
              <a:t>7. Der Blick nach vorn </a:t>
            </a:r>
            <a:endParaRPr lang="en-GB" sz="1600" b="1"/>
          </a:p>
        </p:txBody>
      </p:sp>
      <p:sp>
        <p:nvSpPr>
          <p:cNvPr id="9221" name="Rectangle 9"/>
          <p:cNvSpPr>
            <a:spLocks noChangeArrowheads="1"/>
          </p:cNvSpPr>
          <p:nvPr/>
        </p:nvSpPr>
        <p:spPr bwMode="auto">
          <a:xfrm>
            <a:off x="285750" y="2996724"/>
            <a:ext cx="7745413" cy="381000"/>
          </a:xfrm>
          <a:prstGeom prst="rect">
            <a:avLst/>
          </a:prstGeom>
          <a:solidFill>
            <a:srgbClr val="DDDDDD"/>
          </a:solidFill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>
              <a:lnSpc>
                <a:spcPts val="2200"/>
              </a:lnSpc>
              <a:spcBef>
                <a:spcPct val="20000"/>
              </a:spcBef>
            </a:pPr>
            <a:r>
              <a:rPr lang="de-CH" sz="1600" b="1"/>
              <a:t>2. Stand der Implementierung Business Intelligence in der BKW</a:t>
            </a:r>
            <a:endParaRPr lang="en-GB" sz="1600" b="1"/>
          </a:p>
        </p:txBody>
      </p:sp>
      <p:sp>
        <p:nvSpPr>
          <p:cNvPr id="9222" name="Rectangle 10"/>
          <p:cNvSpPr>
            <a:spLocks noChangeArrowheads="1"/>
          </p:cNvSpPr>
          <p:nvPr/>
        </p:nvSpPr>
        <p:spPr bwMode="auto">
          <a:xfrm>
            <a:off x="282575" y="4139724"/>
            <a:ext cx="7745413" cy="381000"/>
          </a:xfrm>
          <a:prstGeom prst="rect">
            <a:avLst/>
          </a:prstGeom>
          <a:solidFill>
            <a:srgbClr val="DDDDDD"/>
          </a:solidFill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>
              <a:lnSpc>
                <a:spcPts val="2200"/>
              </a:lnSpc>
              <a:spcBef>
                <a:spcPct val="20000"/>
              </a:spcBef>
            </a:pPr>
            <a:r>
              <a:rPr lang="de-CH" sz="1600" b="1"/>
              <a:t>4. Festlegung einer </a:t>
            </a:r>
            <a:r>
              <a:rPr lang="de-CH" sz="1600" b="1" smtClean="0"/>
              <a:t>Architektur, </a:t>
            </a:r>
            <a:r>
              <a:rPr lang="de-CH" sz="1600" b="1"/>
              <a:t>die den Anforderungen gerecht wird</a:t>
            </a:r>
            <a:endParaRPr lang="en-GB" sz="1600" b="1"/>
          </a:p>
        </p:txBody>
      </p:sp>
      <p:sp>
        <p:nvSpPr>
          <p:cNvPr id="9223" name="Rectangle 13"/>
          <p:cNvSpPr>
            <a:spLocks noChangeArrowheads="1"/>
          </p:cNvSpPr>
          <p:nvPr/>
        </p:nvSpPr>
        <p:spPr bwMode="auto">
          <a:xfrm>
            <a:off x="277813" y="5306537"/>
            <a:ext cx="7745412" cy="381000"/>
          </a:xfrm>
          <a:prstGeom prst="rect">
            <a:avLst/>
          </a:prstGeom>
          <a:solidFill>
            <a:srgbClr val="DDDDDD"/>
          </a:solidFill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>
              <a:lnSpc>
                <a:spcPts val="2200"/>
              </a:lnSpc>
              <a:spcBef>
                <a:spcPct val="20000"/>
              </a:spcBef>
            </a:pPr>
            <a:r>
              <a:rPr lang="de-CH" sz="1600" b="1"/>
              <a:t>6. Festlegung einer geeigneten DWH-Organisation</a:t>
            </a:r>
            <a:endParaRPr lang="en-GB" sz="1600" b="1"/>
          </a:p>
        </p:txBody>
      </p:sp>
      <p:sp>
        <p:nvSpPr>
          <p:cNvPr id="9" name="Rectangle 2050"/>
          <p:cNvSpPr txBox="1">
            <a:spLocks noChangeArrowheads="1"/>
          </p:cNvSpPr>
          <p:nvPr/>
        </p:nvSpPr>
        <p:spPr>
          <a:xfrm>
            <a:off x="442913" y="285750"/>
            <a:ext cx="7558087" cy="487363"/>
          </a:xfrm>
          <a:prstGeom prst="rect">
            <a:avLst/>
          </a:prstGeom>
          <a:noFill/>
        </p:spPr>
        <p:txBody>
          <a:bodyPr/>
          <a:lstStyle/>
          <a:p>
            <a:pPr>
              <a:spcBef>
                <a:spcPct val="20000"/>
              </a:spcBef>
              <a:defRPr/>
            </a:pPr>
            <a:r>
              <a:rPr lang="de-CH" b="1" kern="0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Agenda</a:t>
            </a:r>
            <a:endParaRPr lang="en-GB" b="1" kern="0" dirty="0">
              <a:solidFill>
                <a:schemeClr val="accent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105" name="Rectangle 9"/>
          <p:cNvSpPr>
            <a:spLocks noChangeArrowheads="1"/>
          </p:cNvSpPr>
          <p:nvPr/>
        </p:nvSpPr>
        <p:spPr bwMode="auto">
          <a:xfrm>
            <a:off x="285750" y="3568224"/>
            <a:ext cx="7745413" cy="381000"/>
          </a:xfrm>
          <a:prstGeom prst="rect">
            <a:avLst/>
          </a:prstGeom>
          <a:solidFill>
            <a:schemeClr val="bg1">
              <a:lumMod val="75000"/>
              <a:alpha val="50000"/>
            </a:schemeClr>
          </a:solidFill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>
              <a:lnSpc>
                <a:spcPts val="2200"/>
              </a:lnSpc>
              <a:spcBef>
                <a:spcPct val="20000"/>
              </a:spcBef>
              <a:defRPr/>
            </a:pPr>
            <a:r>
              <a:rPr lang="de-CH" sz="1600" b="1" dirty="0"/>
              <a:t>3. Der Blick zurück </a:t>
            </a:r>
            <a:endParaRPr lang="en-GB" sz="1600" b="1" dirty="0"/>
          </a:p>
        </p:txBody>
      </p:sp>
      <p:sp>
        <p:nvSpPr>
          <p:cNvPr id="9226" name="Rectangle 9"/>
          <p:cNvSpPr>
            <a:spLocks noChangeArrowheads="1"/>
          </p:cNvSpPr>
          <p:nvPr/>
        </p:nvSpPr>
        <p:spPr bwMode="auto">
          <a:xfrm>
            <a:off x="285750" y="2405063"/>
            <a:ext cx="7745413" cy="381000"/>
          </a:xfrm>
          <a:prstGeom prst="rect">
            <a:avLst/>
          </a:prstGeom>
          <a:solidFill>
            <a:srgbClr val="DDDDDD"/>
          </a:solidFill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>
              <a:lnSpc>
                <a:spcPts val="2200"/>
              </a:lnSpc>
              <a:spcBef>
                <a:spcPct val="20000"/>
              </a:spcBef>
            </a:pPr>
            <a:r>
              <a:rPr lang="de-CH" sz="1600" b="1"/>
              <a:t>1. Die Informatik der BKW FMB Energie AG (BKW ICT)</a:t>
            </a:r>
            <a:endParaRPr lang="en-GB" sz="1600" b="1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ichtungspfeil 68"/>
          <p:cNvSpPr>
            <a:spLocks noChangeArrowheads="1"/>
          </p:cNvSpPr>
          <p:nvPr/>
        </p:nvSpPr>
        <p:spPr bwMode="auto">
          <a:xfrm>
            <a:off x="285750" y="1857375"/>
            <a:ext cx="7072313" cy="2428875"/>
          </a:xfrm>
          <a:prstGeom prst="homePlate">
            <a:avLst>
              <a:gd name="adj" fmla="val 9854"/>
            </a:avLst>
          </a:prstGeom>
          <a:solidFill>
            <a:srgbClr val="FFFFFF"/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de-DE"/>
          </a:p>
        </p:txBody>
      </p:sp>
      <p:sp>
        <p:nvSpPr>
          <p:cNvPr id="10243" name="Pfeil nach rechts 56"/>
          <p:cNvSpPr>
            <a:spLocks noChangeArrowheads="1"/>
          </p:cNvSpPr>
          <p:nvPr/>
        </p:nvSpPr>
        <p:spPr bwMode="auto">
          <a:xfrm rot="1105043">
            <a:off x="4321175" y="2925763"/>
            <a:ext cx="903288" cy="214312"/>
          </a:xfrm>
          <a:prstGeom prst="rightArrow">
            <a:avLst>
              <a:gd name="adj1" fmla="val 50000"/>
              <a:gd name="adj2" fmla="val 50012"/>
            </a:avLst>
          </a:prstGeom>
          <a:solidFill>
            <a:schemeClr val="accent1"/>
          </a:solidFill>
          <a:ln w="12700" algn="ctr">
            <a:noFill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de-DE"/>
          </a:p>
        </p:txBody>
      </p:sp>
      <p:sp>
        <p:nvSpPr>
          <p:cNvPr id="8201" name="Richtungspfeil 19"/>
          <p:cNvSpPr>
            <a:spLocks noChangeArrowheads="1"/>
          </p:cNvSpPr>
          <p:nvPr/>
        </p:nvSpPr>
        <p:spPr bwMode="auto">
          <a:xfrm>
            <a:off x="285750" y="1357313"/>
            <a:ext cx="1500188" cy="357187"/>
          </a:xfrm>
          <a:prstGeom prst="homePlate">
            <a:avLst>
              <a:gd name="adj" fmla="val 49986"/>
            </a:avLst>
          </a:prstGeom>
          <a:solidFill>
            <a:schemeClr val="bg1">
              <a:lumMod val="60000"/>
              <a:lumOff val="40000"/>
            </a:scheme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anchor="ctr"/>
          <a:lstStyle/>
          <a:p>
            <a:pPr algn="ctr">
              <a:defRPr/>
            </a:pPr>
            <a:r>
              <a:rPr lang="de-CH" sz="1400" dirty="0"/>
              <a:t>- 2005</a:t>
            </a:r>
          </a:p>
        </p:txBody>
      </p:sp>
      <p:sp>
        <p:nvSpPr>
          <p:cNvPr id="8202" name="Eingekerbter Richtungspfeil 20"/>
          <p:cNvSpPr>
            <a:spLocks noChangeArrowheads="1"/>
          </p:cNvSpPr>
          <p:nvPr/>
        </p:nvSpPr>
        <p:spPr bwMode="auto">
          <a:xfrm>
            <a:off x="1714500" y="1357313"/>
            <a:ext cx="2071688" cy="357187"/>
          </a:xfrm>
          <a:prstGeom prst="chevron">
            <a:avLst>
              <a:gd name="adj" fmla="val 50000"/>
            </a:avLst>
          </a:prstGeom>
          <a:solidFill>
            <a:schemeClr val="bg1">
              <a:lumMod val="60000"/>
              <a:lumOff val="40000"/>
            </a:scheme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anchor="ctr"/>
          <a:lstStyle/>
          <a:p>
            <a:pPr algn="ctr">
              <a:defRPr/>
            </a:pPr>
            <a:r>
              <a:rPr lang="de-CH" sz="1400" dirty="0"/>
              <a:t>- 2007</a:t>
            </a:r>
          </a:p>
        </p:txBody>
      </p:sp>
      <p:sp>
        <p:nvSpPr>
          <p:cNvPr id="21" name="Rectangle 2"/>
          <p:cNvSpPr txBox="1">
            <a:spLocks noChangeArrowheads="1"/>
          </p:cNvSpPr>
          <p:nvPr/>
        </p:nvSpPr>
        <p:spPr bwMode="auto">
          <a:xfrm>
            <a:off x="428625" y="357188"/>
            <a:ext cx="8715375" cy="487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/>
          <a:lstStyle/>
          <a:p>
            <a:pPr>
              <a:spcBef>
                <a:spcPct val="20000"/>
              </a:spcBef>
              <a:defRPr/>
            </a:pPr>
            <a:r>
              <a:rPr lang="de-CH" b="1" kern="0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/>
            </a:r>
            <a:br>
              <a:rPr lang="de-CH" b="1" kern="0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</a:br>
            <a:r>
              <a:rPr lang="de-CH" b="1" kern="0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3. Der Blick zurück</a:t>
            </a:r>
            <a:br>
              <a:rPr lang="de-CH" b="1" kern="0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</a:br>
            <a:endParaRPr lang="de-CH" b="1" kern="0" dirty="0">
              <a:solidFill>
                <a:schemeClr val="accent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0247" name="Pfeil nach oben 36"/>
          <p:cNvSpPr>
            <a:spLocks noChangeArrowheads="1"/>
          </p:cNvSpPr>
          <p:nvPr/>
        </p:nvSpPr>
        <p:spPr bwMode="auto">
          <a:xfrm rot="8843615">
            <a:off x="2933700" y="2879725"/>
            <a:ext cx="198438" cy="682625"/>
          </a:xfrm>
          <a:prstGeom prst="upArrow">
            <a:avLst>
              <a:gd name="adj1" fmla="val 50000"/>
              <a:gd name="adj2" fmla="val 49896"/>
            </a:avLst>
          </a:prstGeom>
          <a:solidFill>
            <a:schemeClr val="accent1"/>
          </a:solidFill>
          <a:ln w="12700" algn="ctr">
            <a:noFill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de-DE"/>
          </a:p>
        </p:txBody>
      </p:sp>
      <p:sp>
        <p:nvSpPr>
          <p:cNvPr id="10248" name="Pfeil nach oben 31"/>
          <p:cNvSpPr>
            <a:spLocks noChangeArrowheads="1"/>
          </p:cNvSpPr>
          <p:nvPr/>
        </p:nvSpPr>
        <p:spPr bwMode="auto">
          <a:xfrm rot="9838397">
            <a:off x="742950" y="2878138"/>
            <a:ext cx="198438" cy="1116012"/>
          </a:xfrm>
          <a:prstGeom prst="upArrow">
            <a:avLst>
              <a:gd name="adj1" fmla="val 50000"/>
              <a:gd name="adj2" fmla="val 49783"/>
            </a:avLst>
          </a:prstGeom>
          <a:solidFill>
            <a:schemeClr val="accent1"/>
          </a:solidFill>
          <a:ln w="12700" algn="ctr">
            <a:noFill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de-DE"/>
          </a:p>
        </p:txBody>
      </p:sp>
      <p:sp>
        <p:nvSpPr>
          <p:cNvPr id="10249" name="Pfeil nach oben 30"/>
          <p:cNvSpPr>
            <a:spLocks noChangeArrowheads="1"/>
          </p:cNvSpPr>
          <p:nvPr/>
        </p:nvSpPr>
        <p:spPr bwMode="auto">
          <a:xfrm rot="4261818">
            <a:off x="808037" y="2176463"/>
            <a:ext cx="214313" cy="1112838"/>
          </a:xfrm>
          <a:prstGeom prst="upArrow">
            <a:avLst>
              <a:gd name="adj1" fmla="val 50000"/>
              <a:gd name="adj2" fmla="val 49979"/>
            </a:avLst>
          </a:prstGeom>
          <a:solidFill>
            <a:schemeClr val="accent1"/>
          </a:solidFill>
          <a:ln w="12700" algn="ctr">
            <a:noFill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de-DE"/>
          </a:p>
        </p:txBody>
      </p:sp>
      <p:pic>
        <p:nvPicPr>
          <p:cNvPr id="10250" name="Picture 4" descr="http://t2.gstatic.com/images?q=tbn:ENYCmJEGfRD_WM:http://antje.files.wordpress.com/2008/05/footprint-silhouette-clipart1.jpg">
            <a:hlinkClick r:id="rId2"/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 rot="-557860">
            <a:off x="2392363" y="2652713"/>
            <a:ext cx="593725" cy="160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251" name="Pfeil nach rechts 28"/>
          <p:cNvSpPr>
            <a:spLocks noChangeArrowheads="1"/>
          </p:cNvSpPr>
          <p:nvPr/>
        </p:nvSpPr>
        <p:spPr bwMode="auto">
          <a:xfrm>
            <a:off x="357188" y="2816225"/>
            <a:ext cx="1038225" cy="214313"/>
          </a:xfrm>
          <a:prstGeom prst="rightArrow">
            <a:avLst>
              <a:gd name="adj1" fmla="val 50000"/>
              <a:gd name="adj2" fmla="val 49969"/>
            </a:avLst>
          </a:prstGeom>
          <a:solidFill>
            <a:schemeClr val="accent1"/>
          </a:solidFill>
          <a:ln w="12700" algn="ctr">
            <a:noFill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de-DE"/>
          </a:p>
        </p:txBody>
      </p:sp>
      <p:pic>
        <p:nvPicPr>
          <p:cNvPr id="10252" name="Picture 4" descr="http://t2.gstatic.com/images?q=tbn:ENYCmJEGfRD_WM:http://antje.files.wordpress.com/2008/05/footprint-silhouette-clipart1.jpg">
            <a:hlinkClick r:id="rId2"/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 rot="4093182">
            <a:off x="378619" y="3369469"/>
            <a:ext cx="595313" cy="149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53" name="Picture 4" descr="http://t2.gstatic.com/images?q=tbn:ENYCmJEGfRD_WM:http://antje.files.wordpress.com/2008/05/footprint-silhouette-clipart1.jpg">
            <a:hlinkClick r:id="rId2"/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944563" y="3030538"/>
            <a:ext cx="549275" cy="160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54" name="Picture 4" descr="http://t2.gstatic.com/images?q=tbn:ENYCmJEGfRD_WM:http://antje.files.wordpress.com/2008/05/footprint-silhouette-clipart1.jpg">
            <a:hlinkClick r:id="rId2"/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 rot="-1073039">
            <a:off x="565150" y="2528888"/>
            <a:ext cx="549275" cy="160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55" name="Picture 4" descr="http://t2.gstatic.com/images?q=tbn:ENYCmJEGfRD_WM:http://antje.files.wordpress.com/2008/05/footprint-silhouette-clipart1.jpg">
            <a:hlinkClick r:id="rId2"/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 rot="3486357">
            <a:off x="2593976" y="3260725"/>
            <a:ext cx="595312" cy="147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256" name="Pfeil nach oben 35"/>
          <p:cNvSpPr>
            <a:spLocks noChangeArrowheads="1"/>
          </p:cNvSpPr>
          <p:nvPr/>
        </p:nvSpPr>
        <p:spPr bwMode="auto">
          <a:xfrm rot="4862790">
            <a:off x="2842418" y="2364582"/>
            <a:ext cx="214313" cy="958850"/>
          </a:xfrm>
          <a:prstGeom prst="upArrow">
            <a:avLst>
              <a:gd name="adj1" fmla="val 50000"/>
              <a:gd name="adj2" fmla="val 49981"/>
            </a:avLst>
          </a:prstGeom>
          <a:solidFill>
            <a:schemeClr val="accent1"/>
          </a:solidFill>
          <a:ln w="12700" algn="ctr">
            <a:noFill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de-DE"/>
          </a:p>
        </p:txBody>
      </p:sp>
      <p:sp>
        <p:nvSpPr>
          <p:cNvPr id="10257" name="Pfeil nach rechts 34"/>
          <p:cNvSpPr>
            <a:spLocks noChangeArrowheads="1"/>
          </p:cNvSpPr>
          <p:nvPr/>
        </p:nvSpPr>
        <p:spPr bwMode="auto">
          <a:xfrm>
            <a:off x="2335213" y="2816225"/>
            <a:ext cx="1038225" cy="214313"/>
          </a:xfrm>
          <a:prstGeom prst="rightArrow">
            <a:avLst>
              <a:gd name="adj1" fmla="val 50000"/>
              <a:gd name="adj2" fmla="val 49969"/>
            </a:avLst>
          </a:prstGeom>
          <a:solidFill>
            <a:schemeClr val="accent1"/>
          </a:solidFill>
          <a:ln w="12700" algn="ctr">
            <a:noFill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de-DE"/>
          </a:p>
        </p:txBody>
      </p:sp>
      <p:grpSp>
        <p:nvGrpSpPr>
          <p:cNvPr id="10258" name="Gruppieren 44"/>
          <p:cNvGrpSpPr>
            <a:grpSpLocks/>
          </p:cNvGrpSpPr>
          <p:nvPr/>
        </p:nvGrpSpPr>
        <p:grpSpPr bwMode="auto">
          <a:xfrm>
            <a:off x="1544638" y="2493963"/>
            <a:ext cx="833437" cy="965200"/>
            <a:chOff x="2214546" y="2357430"/>
            <a:chExt cx="1205516" cy="1285884"/>
          </a:xfrm>
        </p:grpSpPr>
        <p:pic>
          <p:nvPicPr>
            <p:cNvPr id="10283" name="Picture 23" descr="Clipart - spur, kopf. fotosearch &#10;- suche clipart &#10;illustration zeichnungen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2214546" y="2357430"/>
              <a:ext cx="1205516" cy="128588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0284" name="Rechteck 43"/>
            <p:cNvSpPr>
              <a:spLocks noChangeArrowheads="1"/>
            </p:cNvSpPr>
            <p:nvPr/>
          </p:nvSpPr>
          <p:spPr bwMode="auto">
            <a:xfrm>
              <a:off x="2357422" y="3571876"/>
              <a:ext cx="857256" cy="71438"/>
            </a:xfrm>
            <a:prstGeom prst="rect">
              <a:avLst/>
            </a:prstGeom>
            <a:solidFill>
              <a:srgbClr val="FFFFFF"/>
            </a:solidFill>
            <a:ln w="12700" algn="ctr">
              <a:noFill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de-DE"/>
            </a:p>
          </p:txBody>
        </p:sp>
      </p:grpSp>
      <p:pic>
        <p:nvPicPr>
          <p:cNvPr id="10259" name="Picture 23" descr="Clipart - spur, kopf. fotosearch &#10;- suche clipart &#10;illustration zeichnungen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571875" y="2493963"/>
            <a:ext cx="835025" cy="965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1" name="Eingekerbter Richtungspfeil 20"/>
          <p:cNvSpPr>
            <a:spLocks noChangeArrowheads="1"/>
          </p:cNvSpPr>
          <p:nvPr/>
        </p:nvSpPr>
        <p:spPr bwMode="auto">
          <a:xfrm>
            <a:off x="3786188" y="1357313"/>
            <a:ext cx="1857375" cy="357187"/>
          </a:xfrm>
          <a:prstGeom prst="chevron">
            <a:avLst>
              <a:gd name="adj" fmla="val 50000"/>
            </a:avLst>
          </a:prstGeom>
          <a:solidFill>
            <a:schemeClr val="bg1">
              <a:lumMod val="60000"/>
              <a:lumOff val="40000"/>
            </a:scheme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anchor="ctr"/>
          <a:lstStyle/>
          <a:p>
            <a:pPr algn="ctr">
              <a:defRPr/>
            </a:pPr>
            <a:r>
              <a:rPr lang="de-CH" sz="1400" dirty="0"/>
              <a:t>- 2009/2010</a:t>
            </a:r>
          </a:p>
        </p:txBody>
      </p:sp>
      <p:sp>
        <p:nvSpPr>
          <p:cNvPr id="52" name="Eingekerbter Richtungspfeil 20"/>
          <p:cNvSpPr>
            <a:spLocks noChangeArrowheads="1"/>
          </p:cNvSpPr>
          <p:nvPr/>
        </p:nvSpPr>
        <p:spPr bwMode="auto">
          <a:xfrm>
            <a:off x="5643563" y="1357313"/>
            <a:ext cx="1714500" cy="357187"/>
          </a:xfrm>
          <a:prstGeom prst="chevron">
            <a:avLst>
              <a:gd name="adj" fmla="val 50000"/>
            </a:avLst>
          </a:prstGeom>
          <a:solidFill>
            <a:schemeClr val="bg1">
              <a:lumMod val="60000"/>
              <a:lumOff val="40000"/>
            </a:scheme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anchor="ctr"/>
          <a:lstStyle/>
          <a:p>
            <a:pPr>
              <a:defRPr/>
            </a:pPr>
            <a:r>
              <a:rPr lang="de-CH" sz="1400" dirty="0"/>
              <a:t>Zukunft</a:t>
            </a:r>
          </a:p>
        </p:txBody>
      </p:sp>
      <p:pic>
        <p:nvPicPr>
          <p:cNvPr id="10262" name="Picture 23" descr="Clipart - spur, kopf. fotosearch &#10;- suche clipart &#10;illustration zeichnungen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380038" y="2493963"/>
            <a:ext cx="835025" cy="965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263" name="Pfeil nach rechts 53"/>
          <p:cNvSpPr>
            <a:spLocks noChangeArrowheads="1"/>
          </p:cNvSpPr>
          <p:nvPr/>
        </p:nvSpPr>
        <p:spPr bwMode="auto">
          <a:xfrm>
            <a:off x="4286250" y="2779713"/>
            <a:ext cx="928688" cy="214312"/>
          </a:xfrm>
          <a:prstGeom prst="rightArrow">
            <a:avLst>
              <a:gd name="adj1" fmla="val 50000"/>
              <a:gd name="adj2" fmla="val 49974"/>
            </a:avLst>
          </a:prstGeom>
          <a:solidFill>
            <a:schemeClr val="accent1"/>
          </a:solidFill>
          <a:ln w="12700" algn="ctr">
            <a:noFill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de-DE"/>
          </a:p>
        </p:txBody>
      </p:sp>
      <p:pic>
        <p:nvPicPr>
          <p:cNvPr id="10264" name="Picture 4" descr="http://t2.gstatic.com/images?q=tbn:ENYCmJEGfRD_WM:http://antje.files.wordpress.com/2008/05/footprint-silhouette-clipart1.jpg">
            <a:hlinkClick r:id="rId2"/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286250" y="2636838"/>
            <a:ext cx="593725" cy="161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65" name="Picture 4" descr="http://t2.gstatic.com/images?q=tbn:ENYCmJEGfRD_WM:http://antje.files.wordpress.com/2008/05/footprint-silhouette-clipart1.jpg">
            <a:hlinkClick r:id="rId2"/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 rot="1362394">
            <a:off x="4437063" y="3103563"/>
            <a:ext cx="593725" cy="160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266" name="Pfeil nach rechts 58"/>
          <p:cNvSpPr>
            <a:spLocks noChangeArrowheads="1"/>
          </p:cNvSpPr>
          <p:nvPr/>
        </p:nvSpPr>
        <p:spPr bwMode="auto">
          <a:xfrm>
            <a:off x="6143625" y="2708275"/>
            <a:ext cx="928688" cy="214313"/>
          </a:xfrm>
          <a:prstGeom prst="rightArrow">
            <a:avLst>
              <a:gd name="adj1" fmla="val 50000"/>
              <a:gd name="adj2" fmla="val 49974"/>
            </a:avLst>
          </a:prstGeom>
          <a:solidFill>
            <a:schemeClr val="accent1">
              <a:alpha val="29019"/>
            </a:schemeClr>
          </a:solidFill>
          <a:ln w="12700" algn="ctr">
            <a:noFill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de-DE"/>
          </a:p>
        </p:txBody>
      </p:sp>
      <p:pic>
        <p:nvPicPr>
          <p:cNvPr id="10267" name="Picture 4" descr="http://t2.gstatic.com/images?q=tbn:ENYCmJEGfRD_WM:http://antje.files.wordpress.com/2008/05/footprint-silhouette-clipart1.jpg">
            <a:hlinkClick r:id="rId2"/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 rot="304056">
            <a:off x="6221413" y="2949575"/>
            <a:ext cx="593725" cy="160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268" name="Rechteck 61"/>
          <p:cNvSpPr>
            <a:spLocks noChangeArrowheads="1"/>
          </p:cNvSpPr>
          <p:nvPr/>
        </p:nvSpPr>
        <p:spPr bwMode="auto">
          <a:xfrm>
            <a:off x="6000750" y="2922588"/>
            <a:ext cx="1071563" cy="357187"/>
          </a:xfrm>
          <a:prstGeom prst="rect">
            <a:avLst/>
          </a:prstGeom>
          <a:solidFill>
            <a:srgbClr val="FFFFFF">
              <a:alpha val="41176"/>
            </a:srgbClr>
          </a:solidFill>
          <a:ln w="12700" algn="ctr">
            <a:noFill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de-DE"/>
          </a:p>
        </p:txBody>
      </p:sp>
      <p:sp>
        <p:nvSpPr>
          <p:cNvPr id="10269" name="Richtungspfeil 64"/>
          <p:cNvSpPr>
            <a:spLocks noChangeArrowheads="1"/>
          </p:cNvSpPr>
          <p:nvPr/>
        </p:nvSpPr>
        <p:spPr bwMode="auto">
          <a:xfrm>
            <a:off x="285750" y="4357688"/>
            <a:ext cx="7429500" cy="1785937"/>
          </a:xfrm>
          <a:prstGeom prst="homePlate">
            <a:avLst>
              <a:gd name="adj" fmla="val 26636"/>
            </a:avLst>
          </a:prstGeom>
          <a:solidFill>
            <a:srgbClr val="FFFFFF"/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de-DE"/>
          </a:p>
        </p:txBody>
      </p:sp>
      <p:sp>
        <p:nvSpPr>
          <p:cNvPr id="10270" name="Pfeil nach rechts 59"/>
          <p:cNvSpPr>
            <a:spLocks noChangeArrowheads="1"/>
          </p:cNvSpPr>
          <p:nvPr/>
        </p:nvSpPr>
        <p:spPr bwMode="auto">
          <a:xfrm rot="-1106625">
            <a:off x="6143625" y="2566988"/>
            <a:ext cx="928688" cy="214312"/>
          </a:xfrm>
          <a:prstGeom prst="rightArrow">
            <a:avLst>
              <a:gd name="adj1" fmla="val 50000"/>
              <a:gd name="adj2" fmla="val 49974"/>
            </a:avLst>
          </a:prstGeom>
          <a:solidFill>
            <a:schemeClr val="accent1">
              <a:alpha val="29019"/>
            </a:schemeClr>
          </a:solidFill>
          <a:ln w="12700" algn="ctr">
            <a:noFill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de-DE"/>
          </a:p>
        </p:txBody>
      </p:sp>
      <p:sp>
        <p:nvSpPr>
          <p:cNvPr id="10271" name="Textfeld 65"/>
          <p:cNvSpPr txBox="1">
            <a:spLocks noChangeArrowheads="1"/>
          </p:cNvSpPr>
          <p:nvPr/>
        </p:nvSpPr>
        <p:spPr bwMode="auto">
          <a:xfrm>
            <a:off x="285750" y="5715000"/>
            <a:ext cx="5897563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de-CH"/>
              <a:t>Richtungsweisung durch die Informatik-Architektur</a:t>
            </a:r>
          </a:p>
        </p:txBody>
      </p:sp>
      <p:sp>
        <p:nvSpPr>
          <p:cNvPr id="10272" name="Abgerundetes Rechteck 66"/>
          <p:cNvSpPr>
            <a:spLocks noChangeArrowheads="1"/>
          </p:cNvSpPr>
          <p:nvPr/>
        </p:nvSpPr>
        <p:spPr bwMode="auto">
          <a:xfrm>
            <a:off x="928688" y="4500563"/>
            <a:ext cx="1857375" cy="1143000"/>
          </a:xfrm>
          <a:prstGeom prst="roundRect">
            <a:avLst>
              <a:gd name="adj" fmla="val 16667"/>
            </a:avLst>
          </a:prstGeom>
          <a:solidFill>
            <a:schemeClr val="accent1">
              <a:alpha val="49019"/>
            </a:scheme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pPr algn="ctr"/>
            <a:r>
              <a:rPr lang="de-CH" sz="1400"/>
              <a:t>Festlegung einer </a:t>
            </a:r>
            <a:r>
              <a:rPr lang="de-CH" sz="1400" smtClean="0"/>
              <a:t>Architektur, die </a:t>
            </a:r>
            <a:r>
              <a:rPr lang="de-CH" sz="1400"/>
              <a:t>den Anforderungen gerecht wird</a:t>
            </a:r>
          </a:p>
        </p:txBody>
      </p:sp>
      <p:sp>
        <p:nvSpPr>
          <p:cNvPr id="10273" name="Pfeil nach oben 67"/>
          <p:cNvSpPr>
            <a:spLocks noChangeArrowheads="1"/>
          </p:cNvSpPr>
          <p:nvPr/>
        </p:nvSpPr>
        <p:spPr bwMode="auto">
          <a:xfrm>
            <a:off x="1643063" y="3500438"/>
            <a:ext cx="357187" cy="928687"/>
          </a:xfrm>
          <a:prstGeom prst="upArrow">
            <a:avLst>
              <a:gd name="adj1" fmla="val 50000"/>
              <a:gd name="adj2" fmla="val 50002"/>
            </a:avLst>
          </a:prstGeom>
          <a:solidFill>
            <a:schemeClr val="accent1"/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de-DE"/>
          </a:p>
        </p:txBody>
      </p:sp>
      <p:sp>
        <p:nvSpPr>
          <p:cNvPr id="10274" name="Abgerundetes Rechteck 69"/>
          <p:cNvSpPr>
            <a:spLocks noChangeArrowheads="1"/>
          </p:cNvSpPr>
          <p:nvPr/>
        </p:nvSpPr>
        <p:spPr bwMode="auto">
          <a:xfrm>
            <a:off x="2928938" y="4500563"/>
            <a:ext cx="1857375" cy="1143000"/>
          </a:xfrm>
          <a:prstGeom prst="roundRect">
            <a:avLst>
              <a:gd name="adj" fmla="val 16667"/>
            </a:avLst>
          </a:prstGeom>
          <a:solidFill>
            <a:schemeClr val="accent1">
              <a:alpha val="49019"/>
            </a:scheme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pPr algn="ctr"/>
            <a:r>
              <a:rPr lang="de-CH" sz="1400"/>
              <a:t>Festlegung geeig-neter Produkte-Standards für die Umsetzung</a:t>
            </a:r>
          </a:p>
        </p:txBody>
      </p:sp>
      <p:sp>
        <p:nvSpPr>
          <p:cNvPr id="10275" name="Pfeil nach oben 70"/>
          <p:cNvSpPr>
            <a:spLocks noChangeArrowheads="1"/>
          </p:cNvSpPr>
          <p:nvPr/>
        </p:nvSpPr>
        <p:spPr bwMode="auto">
          <a:xfrm>
            <a:off x="3714750" y="3500438"/>
            <a:ext cx="357188" cy="928687"/>
          </a:xfrm>
          <a:prstGeom prst="upArrow">
            <a:avLst>
              <a:gd name="adj1" fmla="val 50000"/>
              <a:gd name="adj2" fmla="val 50002"/>
            </a:avLst>
          </a:prstGeom>
          <a:solidFill>
            <a:schemeClr val="accent1"/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de-DE"/>
          </a:p>
        </p:txBody>
      </p:sp>
      <p:sp>
        <p:nvSpPr>
          <p:cNvPr id="10276" name="Abgerundetes Rechteck 71"/>
          <p:cNvSpPr>
            <a:spLocks noChangeArrowheads="1"/>
          </p:cNvSpPr>
          <p:nvPr/>
        </p:nvSpPr>
        <p:spPr bwMode="auto">
          <a:xfrm>
            <a:off x="4929188" y="4500563"/>
            <a:ext cx="1857375" cy="1143000"/>
          </a:xfrm>
          <a:prstGeom prst="roundRect">
            <a:avLst>
              <a:gd name="adj" fmla="val 16667"/>
            </a:avLst>
          </a:prstGeom>
          <a:solidFill>
            <a:schemeClr val="accent1">
              <a:alpha val="49019"/>
            </a:scheme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pPr algn="ctr"/>
            <a:r>
              <a:rPr lang="de-CH" sz="1400"/>
              <a:t>Festlegung einer geeigneten DWH-Organisation</a:t>
            </a:r>
          </a:p>
        </p:txBody>
      </p:sp>
      <p:sp>
        <p:nvSpPr>
          <p:cNvPr id="10277" name="Pfeil nach oben 72"/>
          <p:cNvSpPr>
            <a:spLocks noChangeArrowheads="1"/>
          </p:cNvSpPr>
          <p:nvPr/>
        </p:nvSpPr>
        <p:spPr bwMode="auto">
          <a:xfrm>
            <a:off x="5572125" y="3500438"/>
            <a:ext cx="357188" cy="928687"/>
          </a:xfrm>
          <a:prstGeom prst="upArrow">
            <a:avLst>
              <a:gd name="adj1" fmla="val 50000"/>
              <a:gd name="adj2" fmla="val 50002"/>
            </a:avLst>
          </a:prstGeom>
          <a:solidFill>
            <a:schemeClr val="accent1"/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de-DE"/>
          </a:p>
        </p:txBody>
      </p:sp>
      <p:sp>
        <p:nvSpPr>
          <p:cNvPr id="10278" name="Rechteck 75"/>
          <p:cNvSpPr>
            <a:spLocks noChangeArrowheads="1"/>
          </p:cNvSpPr>
          <p:nvPr/>
        </p:nvSpPr>
        <p:spPr bwMode="auto">
          <a:xfrm>
            <a:off x="3571875" y="3357563"/>
            <a:ext cx="714375" cy="71437"/>
          </a:xfrm>
          <a:prstGeom prst="rect">
            <a:avLst/>
          </a:prstGeom>
          <a:solidFill>
            <a:srgbClr val="FFFFFF"/>
          </a:solidFill>
          <a:ln w="12700" algn="ctr">
            <a:noFill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de-DE"/>
          </a:p>
        </p:txBody>
      </p:sp>
      <p:sp>
        <p:nvSpPr>
          <p:cNvPr id="10279" name="Rechteck 76"/>
          <p:cNvSpPr>
            <a:spLocks noChangeArrowheads="1"/>
          </p:cNvSpPr>
          <p:nvPr/>
        </p:nvSpPr>
        <p:spPr bwMode="auto">
          <a:xfrm>
            <a:off x="5357813" y="3357563"/>
            <a:ext cx="714375" cy="71437"/>
          </a:xfrm>
          <a:prstGeom prst="rect">
            <a:avLst/>
          </a:prstGeom>
          <a:solidFill>
            <a:srgbClr val="FFFFFF"/>
          </a:solidFill>
          <a:ln w="12700" algn="ctr">
            <a:noFill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de-DE"/>
          </a:p>
        </p:txBody>
      </p:sp>
      <p:sp>
        <p:nvSpPr>
          <p:cNvPr id="10280" name="Textfeld 77"/>
          <p:cNvSpPr txBox="1">
            <a:spLocks noChangeArrowheads="1"/>
          </p:cNvSpPr>
          <p:nvPr/>
        </p:nvSpPr>
        <p:spPr bwMode="auto">
          <a:xfrm>
            <a:off x="285750" y="1857375"/>
            <a:ext cx="2986088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de-CH"/>
              <a:t>Der DWH-Weg der BKW</a:t>
            </a:r>
          </a:p>
        </p:txBody>
      </p:sp>
      <p:pic>
        <p:nvPicPr>
          <p:cNvPr id="10281" name="Picture 21" descr="Mann mit Fernglas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322263" y="3886200"/>
            <a:ext cx="555625" cy="876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82" name="Picture 19" descr=" BlackBerry Wallpaper &gt; Nature &gt; Wind Shear, Matterhorn, Switzerland">
            <a:hlinkClick r:id="rId6"/>
          </p:cNvPr>
          <p:cNvPicPr>
            <a:picLocks noChangeAspect="1" noChangeArrowheads="1"/>
          </p:cNvPicPr>
          <p:nvPr/>
        </p:nvPicPr>
        <p:blipFill>
          <a:blip r:embed="rId7" cstate="print">
            <a:lum bright="12000" contrast="-10000"/>
          </a:blip>
          <a:srcRect/>
          <a:stretch>
            <a:fillRect/>
          </a:stretch>
        </p:blipFill>
        <p:spPr bwMode="auto">
          <a:xfrm>
            <a:off x="7518400" y="3703638"/>
            <a:ext cx="1404938" cy="1054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3"/>
          <p:cNvPicPr>
            <a:picLocks noChangeAspect="1" noChangeArrowheads="1"/>
          </p:cNvPicPr>
          <p:nvPr/>
        </p:nvPicPr>
        <p:blipFill>
          <a:blip r:embed="rId3" cstate="print"/>
          <a:srcRect t="15625" b="67708"/>
          <a:stretch>
            <a:fillRect/>
          </a:stretch>
        </p:blipFill>
        <p:spPr bwMode="auto">
          <a:xfrm>
            <a:off x="0" y="1071563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267" name="Rectangle 6"/>
          <p:cNvSpPr>
            <a:spLocks noChangeArrowheads="1"/>
          </p:cNvSpPr>
          <p:nvPr/>
        </p:nvSpPr>
        <p:spPr bwMode="auto">
          <a:xfrm>
            <a:off x="282575" y="4711224"/>
            <a:ext cx="7745413" cy="381000"/>
          </a:xfrm>
          <a:prstGeom prst="rect">
            <a:avLst/>
          </a:prstGeom>
          <a:solidFill>
            <a:srgbClr val="DDDDDD"/>
          </a:solidFill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>
              <a:lnSpc>
                <a:spcPts val="2200"/>
              </a:lnSpc>
              <a:spcBef>
                <a:spcPct val="20000"/>
              </a:spcBef>
            </a:pPr>
            <a:r>
              <a:rPr lang="de-CH" sz="1600" b="1"/>
              <a:t>5. Festlegung geeigneter Produkte-Standards zur Umsetzung</a:t>
            </a:r>
            <a:endParaRPr lang="en-GB" sz="1600" b="1"/>
          </a:p>
        </p:txBody>
      </p:sp>
      <p:sp>
        <p:nvSpPr>
          <p:cNvPr id="11268" name="Rectangle 7"/>
          <p:cNvSpPr>
            <a:spLocks noChangeArrowheads="1"/>
          </p:cNvSpPr>
          <p:nvPr/>
        </p:nvSpPr>
        <p:spPr bwMode="auto">
          <a:xfrm>
            <a:off x="279400" y="5878037"/>
            <a:ext cx="7745413" cy="381000"/>
          </a:xfrm>
          <a:prstGeom prst="rect">
            <a:avLst/>
          </a:prstGeom>
          <a:solidFill>
            <a:srgbClr val="DDDDDD"/>
          </a:solidFill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>
              <a:lnSpc>
                <a:spcPts val="2200"/>
              </a:lnSpc>
              <a:spcBef>
                <a:spcPct val="20000"/>
              </a:spcBef>
            </a:pPr>
            <a:r>
              <a:rPr lang="de-CH" sz="1600" b="1"/>
              <a:t>7. Der Blick nach vorn </a:t>
            </a:r>
            <a:endParaRPr lang="en-GB" sz="1600" b="1"/>
          </a:p>
        </p:txBody>
      </p:sp>
      <p:sp>
        <p:nvSpPr>
          <p:cNvPr id="11269" name="Rectangle 9"/>
          <p:cNvSpPr>
            <a:spLocks noChangeArrowheads="1"/>
          </p:cNvSpPr>
          <p:nvPr/>
        </p:nvSpPr>
        <p:spPr bwMode="auto">
          <a:xfrm>
            <a:off x="285750" y="2996724"/>
            <a:ext cx="7745413" cy="381000"/>
          </a:xfrm>
          <a:prstGeom prst="rect">
            <a:avLst/>
          </a:prstGeom>
          <a:solidFill>
            <a:srgbClr val="DDDDDD"/>
          </a:solidFill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>
              <a:lnSpc>
                <a:spcPts val="2200"/>
              </a:lnSpc>
              <a:spcBef>
                <a:spcPct val="20000"/>
              </a:spcBef>
            </a:pPr>
            <a:r>
              <a:rPr lang="de-CH" sz="1600" b="1"/>
              <a:t>2. Stand der Implementierung Business Intelligence in der BKW</a:t>
            </a:r>
            <a:endParaRPr lang="en-GB" sz="1600" b="1"/>
          </a:p>
        </p:txBody>
      </p:sp>
      <p:sp>
        <p:nvSpPr>
          <p:cNvPr id="4102" name="Rectangle 10"/>
          <p:cNvSpPr>
            <a:spLocks noChangeArrowheads="1"/>
          </p:cNvSpPr>
          <p:nvPr/>
        </p:nvSpPr>
        <p:spPr bwMode="auto">
          <a:xfrm>
            <a:off x="282575" y="4139724"/>
            <a:ext cx="7745413" cy="381000"/>
          </a:xfrm>
          <a:prstGeom prst="rect">
            <a:avLst/>
          </a:prstGeom>
          <a:solidFill>
            <a:schemeClr val="bg1">
              <a:lumMod val="75000"/>
              <a:alpha val="50000"/>
            </a:schemeClr>
          </a:solidFill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>
              <a:lnSpc>
                <a:spcPts val="2200"/>
              </a:lnSpc>
              <a:spcBef>
                <a:spcPct val="20000"/>
              </a:spcBef>
              <a:defRPr/>
            </a:pPr>
            <a:r>
              <a:rPr lang="de-CH" sz="1600" b="1" dirty="0"/>
              <a:t>4. Festlegung </a:t>
            </a:r>
            <a:r>
              <a:rPr lang="de-CH" sz="1600" b="1"/>
              <a:t>einer </a:t>
            </a:r>
            <a:r>
              <a:rPr lang="de-CH" sz="1600" b="1" smtClean="0"/>
              <a:t>Architektur, </a:t>
            </a:r>
            <a:r>
              <a:rPr lang="de-CH" sz="1600" b="1" dirty="0"/>
              <a:t>die den Anforderungen gerecht wird</a:t>
            </a:r>
            <a:endParaRPr lang="en-GB" sz="1600" b="1" dirty="0"/>
          </a:p>
        </p:txBody>
      </p:sp>
      <p:sp>
        <p:nvSpPr>
          <p:cNvPr id="11271" name="Rectangle 13"/>
          <p:cNvSpPr>
            <a:spLocks noChangeArrowheads="1"/>
          </p:cNvSpPr>
          <p:nvPr/>
        </p:nvSpPr>
        <p:spPr bwMode="auto">
          <a:xfrm>
            <a:off x="277813" y="5306537"/>
            <a:ext cx="7745412" cy="381000"/>
          </a:xfrm>
          <a:prstGeom prst="rect">
            <a:avLst/>
          </a:prstGeom>
          <a:solidFill>
            <a:srgbClr val="DDDDDD"/>
          </a:solidFill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>
              <a:lnSpc>
                <a:spcPts val="2200"/>
              </a:lnSpc>
              <a:spcBef>
                <a:spcPct val="20000"/>
              </a:spcBef>
            </a:pPr>
            <a:r>
              <a:rPr lang="de-CH" sz="1600" b="1"/>
              <a:t>6. Festlegung einer geeigneten DWH-Organisation</a:t>
            </a:r>
            <a:endParaRPr lang="en-GB" sz="1600" b="1"/>
          </a:p>
        </p:txBody>
      </p:sp>
      <p:sp>
        <p:nvSpPr>
          <p:cNvPr id="9" name="Rectangle 2050"/>
          <p:cNvSpPr txBox="1">
            <a:spLocks noChangeArrowheads="1"/>
          </p:cNvSpPr>
          <p:nvPr/>
        </p:nvSpPr>
        <p:spPr>
          <a:xfrm>
            <a:off x="442913" y="285750"/>
            <a:ext cx="7558087" cy="487363"/>
          </a:xfrm>
          <a:prstGeom prst="rect">
            <a:avLst/>
          </a:prstGeom>
          <a:noFill/>
        </p:spPr>
        <p:txBody>
          <a:bodyPr/>
          <a:lstStyle/>
          <a:p>
            <a:pPr>
              <a:spcBef>
                <a:spcPct val="20000"/>
              </a:spcBef>
              <a:defRPr/>
            </a:pPr>
            <a:r>
              <a:rPr lang="de-CH" b="1" kern="0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Agenda</a:t>
            </a:r>
            <a:endParaRPr lang="en-GB" b="1" kern="0" dirty="0">
              <a:solidFill>
                <a:schemeClr val="accent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1273" name="Rectangle 9"/>
          <p:cNvSpPr>
            <a:spLocks noChangeArrowheads="1"/>
          </p:cNvSpPr>
          <p:nvPr/>
        </p:nvSpPr>
        <p:spPr bwMode="auto">
          <a:xfrm>
            <a:off x="285750" y="3568224"/>
            <a:ext cx="7745413" cy="381000"/>
          </a:xfrm>
          <a:prstGeom prst="rect">
            <a:avLst/>
          </a:prstGeom>
          <a:solidFill>
            <a:srgbClr val="DDDDDD"/>
          </a:solidFill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>
              <a:lnSpc>
                <a:spcPts val="2200"/>
              </a:lnSpc>
              <a:spcBef>
                <a:spcPct val="20000"/>
              </a:spcBef>
            </a:pPr>
            <a:r>
              <a:rPr lang="de-CH" sz="1600" b="1"/>
              <a:t>3. Der Blick zurück </a:t>
            </a:r>
            <a:endParaRPr lang="en-GB" sz="1600" b="1"/>
          </a:p>
        </p:txBody>
      </p:sp>
      <p:sp>
        <p:nvSpPr>
          <p:cNvPr id="11274" name="Rectangle 9"/>
          <p:cNvSpPr>
            <a:spLocks noChangeArrowheads="1"/>
          </p:cNvSpPr>
          <p:nvPr/>
        </p:nvSpPr>
        <p:spPr bwMode="auto">
          <a:xfrm>
            <a:off x="285750" y="2405063"/>
            <a:ext cx="7745413" cy="381000"/>
          </a:xfrm>
          <a:prstGeom prst="rect">
            <a:avLst/>
          </a:prstGeom>
          <a:solidFill>
            <a:srgbClr val="DDDDDD"/>
          </a:solidFill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>
              <a:lnSpc>
                <a:spcPts val="2200"/>
              </a:lnSpc>
              <a:spcBef>
                <a:spcPct val="20000"/>
              </a:spcBef>
            </a:pPr>
            <a:r>
              <a:rPr lang="de-CH" sz="1600" b="1"/>
              <a:t>1. Die Informatik der BKW FMB Energie AG (BKW ICT)</a:t>
            </a:r>
            <a:endParaRPr lang="en-GB" sz="1600" b="1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>
          <a:xfrm>
            <a:off x="442913" y="357188"/>
            <a:ext cx="8058150" cy="487362"/>
          </a:xfrm>
        </p:spPr>
        <p:txBody>
          <a:bodyPr/>
          <a:lstStyle/>
          <a:p>
            <a:r>
              <a:rPr lang="de-CH" sz="2000" smtClean="0">
                <a:solidFill>
                  <a:schemeClr val="accent1"/>
                </a:solidFill>
              </a:rPr>
              <a:t>4. Festlegung einer Architektur, die Anforderungen gerecht wird</a:t>
            </a:r>
            <a:br>
              <a:rPr lang="de-CH" sz="2000" smtClean="0">
                <a:solidFill>
                  <a:schemeClr val="accent1"/>
                </a:solidFill>
              </a:rPr>
            </a:br>
            <a:r>
              <a:rPr lang="de-CH" sz="2000" smtClean="0">
                <a:solidFill>
                  <a:schemeClr val="accent1"/>
                </a:solidFill>
              </a:rPr>
              <a:t>    </a:t>
            </a:r>
            <a:r>
              <a:rPr lang="de-CH" sz="2000" smtClean="0"/>
              <a:t>Ausgangslage und Vorgehen</a:t>
            </a:r>
          </a:p>
        </p:txBody>
      </p:sp>
      <p:sp>
        <p:nvSpPr>
          <p:cNvPr id="12291" name="Rechteck 121"/>
          <p:cNvSpPr>
            <a:spLocks noChangeArrowheads="1"/>
          </p:cNvSpPr>
          <p:nvPr/>
        </p:nvSpPr>
        <p:spPr bwMode="auto">
          <a:xfrm>
            <a:off x="1428750" y="3643312"/>
            <a:ext cx="5929313" cy="1357324"/>
          </a:xfrm>
          <a:prstGeom prst="rect">
            <a:avLst/>
          </a:prstGeom>
          <a:solidFill>
            <a:schemeClr val="bg1">
              <a:alpha val="50195"/>
            </a:schemeClr>
          </a:solidFill>
          <a:ln w="12700" algn="ctr">
            <a:noFill/>
            <a:round/>
            <a:headEnd type="none" w="sm" len="sm"/>
            <a:tailEnd type="none" w="sm" len="sm"/>
          </a:ln>
        </p:spPr>
        <p:txBody>
          <a:bodyPr/>
          <a:lstStyle/>
          <a:p>
            <a:pPr marL="628650" indent="-180975">
              <a:buFont typeface="Arial" charset="0"/>
              <a:buChar char="•"/>
            </a:pPr>
            <a:r>
              <a:rPr lang="de-CH" sz="1600"/>
              <a:t>Diverse projektgetriebene analytische Applikationen </a:t>
            </a:r>
            <a:r>
              <a:rPr lang="de-CH" sz="1600" smtClean="0"/>
              <a:t>entstanden, jedoch:</a:t>
            </a:r>
          </a:p>
          <a:p>
            <a:pPr marL="628650" indent="-180975"/>
            <a:r>
              <a:rPr lang="de-CH" sz="1600"/>
              <a:t>	</a:t>
            </a:r>
            <a:r>
              <a:rPr lang="de-CH" sz="1600" smtClean="0"/>
              <a:t>- ohne Integrationsfähigkeit</a:t>
            </a:r>
          </a:p>
          <a:p>
            <a:pPr marL="628650" indent="-180975"/>
            <a:r>
              <a:rPr lang="de-CH" sz="1600"/>
              <a:t>	</a:t>
            </a:r>
            <a:r>
              <a:rPr lang="de-CH" sz="1600" smtClean="0"/>
              <a:t>- vielen Redundanzen</a:t>
            </a:r>
          </a:p>
          <a:p>
            <a:pPr marL="628650" indent="-180975"/>
            <a:r>
              <a:rPr lang="de-CH" sz="1600"/>
              <a:t>	</a:t>
            </a:r>
            <a:r>
              <a:rPr lang="de-CH" sz="1600" smtClean="0"/>
              <a:t>- ohne </a:t>
            </a:r>
            <a:r>
              <a:rPr lang="de-CH" sz="1600"/>
              <a:t>Gesamtarchitektur</a:t>
            </a:r>
          </a:p>
        </p:txBody>
      </p:sp>
      <p:sp>
        <p:nvSpPr>
          <p:cNvPr id="12292" name="Rechteck 123"/>
          <p:cNvSpPr>
            <a:spLocks noChangeArrowheads="1"/>
          </p:cNvSpPr>
          <p:nvPr/>
        </p:nvSpPr>
        <p:spPr bwMode="auto">
          <a:xfrm>
            <a:off x="285750" y="3714750"/>
            <a:ext cx="1571625" cy="347663"/>
          </a:xfrm>
          <a:prstGeom prst="rect">
            <a:avLst/>
          </a:prstGeom>
          <a:solidFill>
            <a:schemeClr val="accent1"/>
          </a:solidFill>
          <a:ln w="12700" algn="ctr">
            <a:noFill/>
            <a:round/>
            <a:headEnd type="none" w="sm" len="sm"/>
            <a:tailEnd type="none" w="sm" len="sm"/>
          </a:ln>
        </p:spPr>
        <p:txBody>
          <a:bodyPr/>
          <a:lstStyle/>
          <a:p>
            <a:r>
              <a:rPr lang="de-CH" sz="1400" b="1"/>
              <a:t>Ausgangslage</a:t>
            </a:r>
          </a:p>
        </p:txBody>
      </p:sp>
      <p:sp>
        <p:nvSpPr>
          <p:cNvPr id="12293" name="Rechteck 125"/>
          <p:cNvSpPr>
            <a:spLocks noChangeArrowheads="1"/>
          </p:cNvSpPr>
          <p:nvPr/>
        </p:nvSpPr>
        <p:spPr bwMode="auto">
          <a:xfrm>
            <a:off x="1428750" y="5143520"/>
            <a:ext cx="5929313" cy="1143000"/>
          </a:xfrm>
          <a:prstGeom prst="rect">
            <a:avLst/>
          </a:prstGeom>
          <a:solidFill>
            <a:schemeClr val="bg1">
              <a:alpha val="50195"/>
            </a:schemeClr>
          </a:solidFill>
          <a:ln w="12700" algn="ctr">
            <a:noFill/>
            <a:round/>
            <a:headEnd type="none" w="sm" len="sm"/>
            <a:tailEnd type="none" w="sm" len="sm"/>
          </a:ln>
        </p:spPr>
        <p:txBody>
          <a:bodyPr/>
          <a:lstStyle/>
          <a:p>
            <a:pPr marL="628650" indent="-180975">
              <a:buFont typeface="Arial" charset="0"/>
              <a:buChar char="•"/>
            </a:pPr>
            <a:r>
              <a:rPr lang="de-CH" sz="1600"/>
              <a:t>Analyse der Informationsbedürfnisse (über 100 erfasste Anforderungen  zu Informationsobjekten gruppiert)</a:t>
            </a:r>
          </a:p>
          <a:p>
            <a:pPr marL="628650" indent="-180975">
              <a:buFont typeface="Arial" charset="0"/>
              <a:buChar char="•"/>
            </a:pPr>
            <a:r>
              <a:rPr lang="de-CH" sz="1600"/>
              <a:t>Erhebung der Ursachen der Mängel in der Informations-versorgung</a:t>
            </a:r>
          </a:p>
        </p:txBody>
      </p:sp>
      <p:sp>
        <p:nvSpPr>
          <p:cNvPr id="12294" name="Rechteck 124"/>
          <p:cNvSpPr>
            <a:spLocks noChangeArrowheads="1"/>
          </p:cNvSpPr>
          <p:nvPr/>
        </p:nvSpPr>
        <p:spPr bwMode="auto">
          <a:xfrm>
            <a:off x="285750" y="5214958"/>
            <a:ext cx="1571625" cy="500062"/>
          </a:xfrm>
          <a:prstGeom prst="rect">
            <a:avLst/>
          </a:prstGeom>
          <a:solidFill>
            <a:schemeClr val="accent1"/>
          </a:solidFill>
          <a:ln w="12700" algn="ctr">
            <a:noFill/>
            <a:round/>
            <a:headEnd type="none" w="sm" len="sm"/>
            <a:tailEnd type="none" w="sm" len="sm"/>
          </a:ln>
        </p:spPr>
        <p:txBody>
          <a:bodyPr/>
          <a:lstStyle/>
          <a:p>
            <a:r>
              <a:rPr lang="de-CH" sz="1400" b="1"/>
              <a:t>Vorgehen</a:t>
            </a:r>
          </a:p>
        </p:txBody>
      </p:sp>
      <p:grpSp>
        <p:nvGrpSpPr>
          <p:cNvPr id="12295" name="Gruppieren 21"/>
          <p:cNvGrpSpPr>
            <a:grpSpLocks/>
          </p:cNvGrpSpPr>
          <p:nvPr/>
        </p:nvGrpSpPr>
        <p:grpSpPr bwMode="auto">
          <a:xfrm>
            <a:off x="285750" y="1071563"/>
            <a:ext cx="3214688" cy="2428875"/>
            <a:chOff x="-33379" y="1905000"/>
            <a:chExt cx="6912017" cy="4549396"/>
          </a:xfrm>
        </p:grpSpPr>
        <p:pic>
          <p:nvPicPr>
            <p:cNvPr id="12297" name="Picture 7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685800" y="1905000"/>
              <a:ext cx="6192838" cy="4267200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</p:pic>
        <p:sp>
          <p:nvSpPr>
            <p:cNvPr id="12298" name="Rectangle 239"/>
            <p:cNvSpPr>
              <a:spLocks noChangeArrowheads="1"/>
            </p:cNvSpPr>
            <p:nvPr/>
          </p:nvSpPr>
          <p:spPr bwMode="auto">
            <a:xfrm>
              <a:off x="3124200" y="6219825"/>
              <a:ext cx="609600" cy="180975"/>
            </a:xfrm>
            <a:prstGeom prst="rect">
              <a:avLst/>
            </a:prstGeom>
            <a:solidFill>
              <a:srgbClr val="006600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algn="ctr"/>
              <a:r>
                <a:rPr lang="de-CH" sz="500" b="1">
                  <a:solidFill>
                    <a:srgbClr val="FFFFFF"/>
                  </a:solidFill>
                </a:rPr>
                <a:t>Gut</a:t>
              </a:r>
              <a:endParaRPr lang="en-GB" sz="500" b="1">
                <a:solidFill>
                  <a:srgbClr val="FFFFFF"/>
                </a:solidFill>
              </a:endParaRPr>
            </a:p>
          </p:txBody>
        </p:sp>
        <p:sp>
          <p:nvSpPr>
            <p:cNvPr id="12299" name="Rectangle 240"/>
            <p:cNvSpPr>
              <a:spLocks noChangeArrowheads="1"/>
            </p:cNvSpPr>
            <p:nvPr/>
          </p:nvSpPr>
          <p:spPr bwMode="auto">
            <a:xfrm>
              <a:off x="-33379" y="6110748"/>
              <a:ext cx="3340768" cy="343648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r>
                <a:rPr lang="de-CH" sz="500"/>
                <a:t>Abdeckungsgrad der Informationsbedürfnisse:</a:t>
              </a:r>
              <a:endParaRPr lang="en-GB" sz="500"/>
            </a:p>
          </p:txBody>
        </p:sp>
        <p:sp>
          <p:nvSpPr>
            <p:cNvPr id="12300" name="Rectangle 241"/>
            <p:cNvSpPr>
              <a:spLocks noChangeArrowheads="1"/>
            </p:cNvSpPr>
            <p:nvPr/>
          </p:nvSpPr>
          <p:spPr bwMode="auto">
            <a:xfrm>
              <a:off x="3810000" y="6219825"/>
              <a:ext cx="762000" cy="180975"/>
            </a:xfrm>
            <a:prstGeom prst="rect">
              <a:avLst/>
            </a:prstGeom>
            <a:solidFill>
              <a:srgbClr val="FFFF00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algn="ctr"/>
              <a:r>
                <a:rPr lang="de-CH" sz="500"/>
                <a:t>Unzureichend</a:t>
              </a:r>
              <a:endParaRPr lang="en-GB" sz="500"/>
            </a:p>
          </p:txBody>
        </p:sp>
        <p:sp>
          <p:nvSpPr>
            <p:cNvPr id="12301" name="Rectangle 242"/>
            <p:cNvSpPr>
              <a:spLocks noChangeArrowheads="1"/>
            </p:cNvSpPr>
            <p:nvPr/>
          </p:nvSpPr>
          <p:spPr bwMode="auto">
            <a:xfrm>
              <a:off x="4648200" y="6219825"/>
              <a:ext cx="609600" cy="180975"/>
            </a:xfrm>
            <a:prstGeom prst="rect">
              <a:avLst/>
            </a:prstGeom>
            <a:solidFill>
              <a:srgbClr val="FF0000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algn="ctr"/>
              <a:r>
                <a:rPr lang="de-CH" sz="500"/>
                <a:t>Schlecht</a:t>
              </a:r>
              <a:endParaRPr lang="en-GB" sz="500"/>
            </a:p>
          </p:txBody>
        </p:sp>
      </p:grpSp>
      <p:sp>
        <p:nvSpPr>
          <p:cNvPr id="12296" name="Rectangle 3"/>
          <p:cNvSpPr txBox="1">
            <a:spLocks noChangeArrowheads="1"/>
          </p:cNvSpPr>
          <p:nvPr/>
        </p:nvSpPr>
        <p:spPr bwMode="auto">
          <a:xfrm>
            <a:off x="3929063" y="1285875"/>
            <a:ext cx="4429125" cy="2143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 marL="268288" indent="-182563"/>
            <a:r>
              <a:rPr lang="de-CH" sz="1400"/>
              <a:t>Ursachen :</a:t>
            </a:r>
          </a:p>
          <a:p>
            <a:pPr marL="268288" indent="-182563">
              <a:buFont typeface="Arial" charset="0"/>
              <a:buChar char="•"/>
            </a:pPr>
            <a:r>
              <a:rPr lang="de-CH" sz="1400" b="1"/>
              <a:t>Dateninkonsistenzen</a:t>
            </a:r>
            <a:r>
              <a:rPr lang="de-CH" sz="1400"/>
              <a:t> zwischen analytischen Systemen</a:t>
            </a:r>
          </a:p>
          <a:p>
            <a:pPr marL="268288" indent="-182563">
              <a:buFont typeface="Arial" charset="0"/>
              <a:buChar char="•"/>
            </a:pPr>
            <a:r>
              <a:rPr lang="de-CH" sz="1400" b="1"/>
              <a:t>Fehlende integrierte und konsolidierte Sicht </a:t>
            </a:r>
            <a:r>
              <a:rPr lang="de-CH" sz="1400"/>
              <a:t>auf die Daten</a:t>
            </a:r>
          </a:p>
          <a:p>
            <a:pPr marL="268288" indent="-182563">
              <a:buFont typeface="Arial" charset="0"/>
              <a:buChar char="•"/>
            </a:pPr>
            <a:r>
              <a:rPr lang="de-CH" sz="1400"/>
              <a:t>Daten sind in einem </a:t>
            </a:r>
            <a:r>
              <a:rPr lang="de-CH" sz="1400" b="1"/>
              <a:t>zu hohen Aggregationsgrad </a:t>
            </a:r>
            <a:r>
              <a:rPr lang="de-CH" sz="1400"/>
              <a:t>vorhanden</a:t>
            </a:r>
          </a:p>
          <a:p>
            <a:pPr marL="268288" indent="-182563">
              <a:buFont typeface="Arial" charset="0"/>
              <a:buChar char="•"/>
            </a:pPr>
            <a:r>
              <a:rPr lang="de-CH" sz="1400" b="1"/>
              <a:t>Mangelnde Datenqualität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hteck 125"/>
          <p:cNvSpPr>
            <a:spLocks noChangeArrowheads="1"/>
          </p:cNvSpPr>
          <p:nvPr/>
        </p:nvSpPr>
        <p:spPr bwMode="auto">
          <a:xfrm>
            <a:off x="2000250" y="4500563"/>
            <a:ext cx="5929313" cy="928687"/>
          </a:xfrm>
          <a:prstGeom prst="rect">
            <a:avLst/>
          </a:prstGeom>
          <a:solidFill>
            <a:schemeClr val="bg1">
              <a:alpha val="50195"/>
            </a:schemeClr>
          </a:solidFill>
          <a:ln w="12700" algn="ctr">
            <a:noFill/>
            <a:round/>
            <a:headEnd type="none" w="sm" len="sm"/>
            <a:tailEnd type="none" w="sm" len="sm"/>
          </a:ln>
        </p:spPr>
        <p:txBody>
          <a:bodyPr/>
          <a:lstStyle/>
          <a:p>
            <a:pPr marL="628650" indent="-180975">
              <a:buFont typeface="Arial" charset="0"/>
              <a:buChar char="•"/>
            </a:pPr>
            <a:r>
              <a:rPr lang="de-CH" sz="1600"/>
              <a:t>Trennung Quelle und analytisches System</a:t>
            </a:r>
          </a:p>
          <a:p>
            <a:pPr marL="628650" indent="-180975">
              <a:buFont typeface="Arial" charset="0"/>
              <a:buChar char="•"/>
            </a:pPr>
            <a:r>
              <a:rPr lang="de-CH" sz="1600"/>
              <a:t>Reduktion Redundanzen, Sicherstellung der Integrationsfähigkeit über organisatorische Massnahmen</a:t>
            </a:r>
          </a:p>
        </p:txBody>
      </p:sp>
      <p:sp>
        <p:nvSpPr>
          <p:cNvPr id="13315" name="Rectangle 2"/>
          <p:cNvSpPr>
            <a:spLocks noGrp="1" noChangeArrowheads="1"/>
          </p:cNvSpPr>
          <p:nvPr>
            <p:ph type="title"/>
          </p:nvPr>
        </p:nvSpPr>
        <p:spPr>
          <a:xfrm>
            <a:off x="357188" y="381000"/>
            <a:ext cx="8072437" cy="487363"/>
          </a:xfrm>
        </p:spPr>
        <p:txBody>
          <a:bodyPr/>
          <a:lstStyle/>
          <a:p>
            <a:r>
              <a:rPr lang="de-CH" sz="2000" smtClean="0">
                <a:solidFill>
                  <a:schemeClr val="accent1"/>
                </a:solidFill>
              </a:rPr>
              <a:t>4. Festlegung einer Architektur, die Anforderungen gerecht wird</a:t>
            </a:r>
            <a:br>
              <a:rPr lang="de-CH" sz="2000" smtClean="0">
                <a:solidFill>
                  <a:schemeClr val="accent1"/>
                </a:solidFill>
              </a:rPr>
            </a:br>
            <a:r>
              <a:rPr lang="de-CH" sz="2000" smtClean="0">
                <a:solidFill>
                  <a:schemeClr val="accent1"/>
                </a:solidFill>
              </a:rPr>
              <a:t>    </a:t>
            </a:r>
            <a:r>
              <a:rPr lang="de-CH" sz="2000" smtClean="0"/>
              <a:t>Zielsetzung und Richtungsweisung</a:t>
            </a:r>
          </a:p>
        </p:txBody>
      </p:sp>
      <p:sp>
        <p:nvSpPr>
          <p:cNvPr id="13316" name="Rechteck 124"/>
          <p:cNvSpPr>
            <a:spLocks noChangeArrowheads="1"/>
          </p:cNvSpPr>
          <p:nvPr/>
        </p:nvSpPr>
        <p:spPr bwMode="auto">
          <a:xfrm>
            <a:off x="571500" y="4572000"/>
            <a:ext cx="1857375" cy="500063"/>
          </a:xfrm>
          <a:prstGeom prst="rect">
            <a:avLst/>
          </a:prstGeom>
          <a:solidFill>
            <a:schemeClr val="accent1"/>
          </a:solidFill>
          <a:ln w="12700" algn="ctr">
            <a:noFill/>
            <a:round/>
            <a:headEnd type="none" w="sm" len="sm"/>
            <a:tailEnd type="none" w="sm" len="sm"/>
          </a:ln>
        </p:spPr>
        <p:txBody>
          <a:bodyPr/>
          <a:lstStyle/>
          <a:p>
            <a:r>
              <a:rPr lang="de-CH" sz="1400" b="1"/>
              <a:t>Zielsetzung </a:t>
            </a:r>
          </a:p>
          <a:p>
            <a:r>
              <a:rPr lang="de-CH" sz="1400" b="1"/>
              <a:t>Architektur</a:t>
            </a:r>
          </a:p>
        </p:txBody>
      </p:sp>
      <p:sp>
        <p:nvSpPr>
          <p:cNvPr id="13317" name="Rechteck 125"/>
          <p:cNvSpPr>
            <a:spLocks noChangeArrowheads="1"/>
          </p:cNvSpPr>
          <p:nvPr/>
        </p:nvSpPr>
        <p:spPr bwMode="auto">
          <a:xfrm>
            <a:off x="2000250" y="5500688"/>
            <a:ext cx="5929313" cy="928687"/>
          </a:xfrm>
          <a:prstGeom prst="rect">
            <a:avLst/>
          </a:prstGeom>
          <a:solidFill>
            <a:schemeClr val="bg1">
              <a:alpha val="50195"/>
            </a:schemeClr>
          </a:solidFill>
          <a:ln w="12700" algn="ctr">
            <a:noFill/>
            <a:round/>
            <a:headEnd type="none" w="sm" len="sm"/>
            <a:tailEnd type="none" w="sm" len="sm"/>
          </a:ln>
        </p:spPr>
        <p:txBody>
          <a:bodyPr/>
          <a:lstStyle/>
          <a:p>
            <a:pPr marL="628650" indent="-180975">
              <a:buFont typeface="Arial" charset="0"/>
              <a:buChar char="•"/>
            </a:pPr>
            <a:r>
              <a:rPr lang="de-CH" sz="1600"/>
              <a:t>Vorgaben zur Architektur des Data Warehousing Systems</a:t>
            </a:r>
          </a:p>
          <a:p>
            <a:pPr marL="628650" indent="-180975">
              <a:buFont typeface="Arial" charset="0"/>
              <a:buChar char="•"/>
            </a:pPr>
            <a:r>
              <a:rPr lang="de-CH" sz="1600"/>
              <a:t>Organisatorische Gestaltung des Data Warehousings</a:t>
            </a:r>
          </a:p>
        </p:txBody>
      </p:sp>
      <p:sp>
        <p:nvSpPr>
          <p:cNvPr id="13318" name="Rechteck 124"/>
          <p:cNvSpPr>
            <a:spLocks noChangeArrowheads="1"/>
          </p:cNvSpPr>
          <p:nvPr/>
        </p:nvSpPr>
        <p:spPr bwMode="auto">
          <a:xfrm>
            <a:off x="571500" y="5572125"/>
            <a:ext cx="1857375" cy="500063"/>
          </a:xfrm>
          <a:prstGeom prst="rect">
            <a:avLst/>
          </a:prstGeom>
          <a:solidFill>
            <a:schemeClr val="accent1"/>
          </a:solidFill>
          <a:ln w="12700" algn="ctr">
            <a:noFill/>
            <a:round/>
            <a:headEnd type="none" w="sm" len="sm"/>
            <a:tailEnd type="none" w="sm" len="sm"/>
          </a:ln>
        </p:spPr>
        <p:txBody>
          <a:bodyPr/>
          <a:lstStyle/>
          <a:p>
            <a:r>
              <a:rPr lang="de-CH" sz="1400" b="1"/>
              <a:t>Richtungsweisung</a:t>
            </a:r>
          </a:p>
          <a:p>
            <a:r>
              <a:rPr lang="de-CH" sz="1400" b="1"/>
              <a:t>Architektur</a:t>
            </a:r>
          </a:p>
        </p:txBody>
      </p:sp>
      <p:pic>
        <p:nvPicPr>
          <p:cNvPr id="13319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1857375"/>
            <a:ext cx="4000500" cy="239553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</p:pic>
      <p:pic>
        <p:nvPicPr>
          <p:cNvPr id="13320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357563" y="1143000"/>
            <a:ext cx="3286125" cy="229235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</p:pic>
      <p:pic>
        <p:nvPicPr>
          <p:cNvPr id="13321" name="Picture 4"/>
          <p:cNvPicPr>
            <a:picLocks noChangeAspect="1" noChangeArrowheads="1"/>
          </p:cNvPicPr>
          <p:nvPr/>
        </p:nvPicPr>
        <p:blipFill>
          <a:blip r:embed="rId4" cstate="print"/>
          <a:srcRect t="7655"/>
          <a:stretch>
            <a:fillRect/>
          </a:stretch>
        </p:blipFill>
        <p:spPr bwMode="auto">
          <a:xfrm>
            <a:off x="5857875" y="2357438"/>
            <a:ext cx="2962275" cy="2038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Rechteck 9"/>
          <p:cNvSpPr/>
          <p:nvPr/>
        </p:nvSpPr>
        <p:spPr bwMode="auto">
          <a:xfrm>
            <a:off x="0" y="1756898"/>
            <a:ext cx="928662" cy="142876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20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3"/>
          <p:cNvPicPr>
            <a:picLocks noChangeAspect="1" noChangeArrowheads="1"/>
          </p:cNvPicPr>
          <p:nvPr/>
        </p:nvPicPr>
        <p:blipFill>
          <a:blip r:embed="rId3" cstate="print"/>
          <a:srcRect t="15625" b="67708"/>
          <a:stretch>
            <a:fillRect/>
          </a:stretch>
        </p:blipFill>
        <p:spPr bwMode="auto">
          <a:xfrm>
            <a:off x="0" y="1071563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099" name="Rectangle 6"/>
          <p:cNvSpPr>
            <a:spLocks noChangeArrowheads="1"/>
          </p:cNvSpPr>
          <p:nvPr/>
        </p:nvSpPr>
        <p:spPr bwMode="auto">
          <a:xfrm>
            <a:off x="282575" y="4711224"/>
            <a:ext cx="7745413" cy="381000"/>
          </a:xfrm>
          <a:prstGeom prst="rect">
            <a:avLst/>
          </a:prstGeom>
          <a:solidFill>
            <a:schemeClr val="bg1">
              <a:lumMod val="75000"/>
              <a:alpha val="50000"/>
            </a:schemeClr>
          </a:solidFill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>
              <a:lnSpc>
                <a:spcPts val="2200"/>
              </a:lnSpc>
              <a:spcBef>
                <a:spcPct val="20000"/>
              </a:spcBef>
              <a:defRPr/>
            </a:pPr>
            <a:r>
              <a:rPr lang="de-CH" sz="1600" b="1" dirty="0"/>
              <a:t>5. Festlegung geeigneter Produkte-Standards zur Umsetzung</a:t>
            </a:r>
            <a:endParaRPr lang="en-GB" sz="1600" b="1" dirty="0"/>
          </a:p>
        </p:txBody>
      </p:sp>
      <p:sp>
        <p:nvSpPr>
          <p:cNvPr id="14340" name="Rectangle 7"/>
          <p:cNvSpPr>
            <a:spLocks noChangeArrowheads="1"/>
          </p:cNvSpPr>
          <p:nvPr/>
        </p:nvSpPr>
        <p:spPr bwMode="auto">
          <a:xfrm>
            <a:off x="279400" y="5878037"/>
            <a:ext cx="7745413" cy="381000"/>
          </a:xfrm>
          <a:prstGeom prst="rect">
            <a:avLst/>
          </a:prstGeom>
          <a:solidFill>
            <a:srgbClr val="DDDDDD"/>
          </a:solidFill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>
              <a:lnSpc>
                <a:spcPts val="2200"/>
              </a:lnSpc>
              <a:spcBef>
                <a:spcPct val="20000"/>
              </a:spcBef>
            </a:pPr>
            <a:r>
              <a:rPr lang="de-CH" sz="1600" b="1"/>
              <a:t>7. Der Blick nach vorn </a:t>
            </a:r>
            <a:endParaRPr lang="en-GB" sz="1600" b="1"/>
          </a:p>
        </p:txBody>
      </p:sp>
      <p:sp>
        <p:nvSpPr>
          <p:cNvPr id="14341" name="Rectangle 9"/>
          <p:cNvSpPr>
            <a:spLocks noChangeArrowheads="1"/>
          </p:cNvSpPr>
          <p:nvPr/>
        </p:nvSpPr>
        <p:spPr bwMode="auto">
          <a:xfrm>
            <a:off x="285750" y="2996724"/>
            <a:ext cx="7745413" cy="381000"/>
          </a:xfrm>
          <a:prstGeom prst="rect">
            <a:avLst/>
          </a:prstGeom>
          <a:solidFill>
            <a:srgbClr val="DDDDDD"/>
          </a:solidFill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>
              <a:lnSpc>
                <a:spcPts val="2200"/>
              </a:lnSpc>
              <a:spcBef>
                <a:spcPct val="20000"/>
              </a:spcBef>
            </a:pPr>
            <a:r>
              <a:rPr lang="de-CH" sz="1600" b="1"/>
              <a:t>2. Stand der Implementierung Business Intelligence in der BKW</a:t>
            </a:r>
            <a:endParaRPr lang="en-GB" sz="1600" b="1"/>
          </a:p>
        </p:txBody>
      </p:sp>
      <p:sp>
        <p:nvSpPr>
          <p:cNvPr id="14342" name="Rectangle 10"/>
          <p:cNvSpPr>
            <a:spLocks noChangeArrowheads="1"/>
          </p:cNvSpPr>
          <p:nvPr/>
        </p:nvSpPr>
        <p:spPr bwMode="auto">
          <a:xfrm>
            <a:off x="282575" y="4139724"/>
            <a:ext cx="7745413" cy="381000"/>
          </a:xfrm>
          <a:prstGeom prst="rect">
            <a:avLst/>
          </a:prstGeom>
          <a:solidFill>
            <a:srgbClr val="DDDDDD"/>
          </a:solidFill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>
              <a:lnSpc>
                <a:spcPts val="2200"/>
              </a:lnSpc>
              <a:spcBef>
                <a:spcPct val="20000"/>
              </a:spcBef>
            </a:pPr>
            <a:r>
              <a:rPr lang="de-CH" sz="1600" b="1"/>
              <a:t>4. Festlegung einer </a:t>
            </a:r>
            <a:r>
              <a:rPr lang="de-CH" sz="1600" b="1" smtClean="0"/>
              <a:t>Architektur, </a:t>
            </a:r>
            <a:r>
              <a:rPr lang="de-CH" sz="1600" b="1"/>
              <a:t>die den Anforderungen gerecht wird</a:t>
            </a:r>
            <a:endParaRPr lang="en-GB" sz="1600" b="1"/>
          </a:p>
        </p:txBody>
      </p:sp>
      <p:sp>
        <p:nvSpPr>
          <p:cNvPr id="14343" name="Rectangle 13"/>
          <p:cNvSpPr>
            <a:spLocks noChangeArrowheads="1"/>
          </p:cNvSpPr>
          <p:nvPr/>
        </p:nvSpPr>
        <p:spPr bwMode="auto">
          <a:xfrm>
            <a:off x="277813" y="5306537"/>
            <a:ext cx="7745412" cy="381000"/>
          </a:xfrm>
          <a:prstGeom prst="rect">
            <a:avLst/>
          </a:prstGeom>
          <a:solidFill>
            <a:srgbClr val="DDDDDD"/>
          </a:solidFill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>
              <a:lnSpc>
                <a:spcPts val="2200"/>
              </a:lnSpc>
              <a:spcBef>
                <a:spcPct val="20000"/>
              </a:spcBef>
            </a:pPr>
            <a:r>
              <a:rPr lang="de-CH" sz="1600" b="1"/>
              <a:t>6. Festlegung einer geeigneten DWH-Organisation</a:t>
            </a:r>
            <a:endParaRPr lang="en-GB" sz="1600" b="1"/>
          </a:p>
        </p:txBody>
      </p:sp>
      <p:sp>
        <p:nvSpPr>
          <p:cNvPr id="9" name="Rectangle 2050"/>
          <p:cNvSpPr txBox="1">
            <a:spLocks noChangeArrowheads="1"/>
          </p:cNvSpPr>
          <p:nvPr/>
        </p:nvSpPr>
        <p:spPr>
          <a:xfrm>
            <a:off x="442913" y="285750"/>
            <a:ext cx="7558087" cy="487363"/>
          </a:xfrm>
          <a:prstGeom prst="rect">
            <a:avLst/>
          </a:prstGeom>
          <a:noFill/>
        </p:spPr>
        <p:txBody>
          <a:bodyPr/>
          <a:lstStyle/>
          <a:p>
            <a:pPr>
              <a:spcBef>
                <a:spcPct val="20000"/>
              </a:spcBef>
              <a:defRPr/>
            </a:pPr>
            <a:r>
              <a:rPr lang="de-CH" b="1" kern="0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Agenda</a:t>
            </a:r>
            <a:endParaRPr lang="en-GB" b="1" kern="0" dirty="0">
              <a:solidFill>
                <a:schemeClr val="accent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4345" name="Rectangle 9"/>
          <p:cNvSpPr>
            <a:spLocks noChangeArrowheads="1"/>
          </p:cNvSpPr>
          <p:nvPr/>
        </p:nvSpPr>
        <p:spPr bwMode="auto">
          <a:xfrm>
            <a:off x="285750" y="3568224"/>
            <a:ext cx="7745413" cy="381000"/>
          </a:xfrm>
          <a:prstGeom prst="rect">
            <a:avLst/>
          </a:prstGeom>
          <a:solidFill>
            <a:srgbClr val="DDDDDD"/>
          </a:solidFill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>
              <a:lnSpc>
                <a:spcPts val="2200"/>
              </a:lnSpc>
              <a:spcBef>
                <a:spcPct val="20000"/>
              </a:spcBef>
            </a:pPr>
            <a:r>
              <a:rPr lang="de-CH" sz="1600" b="1"/>
              <a:t>3. Der Blick zurück </a:t>
            </a:r>
            <a:endParaRPr lang="en-GB" sz="1600" b="1"/>
          </a:p>
        </p:txBody>
      </p:sp>
      <p:sp>
        <p:nvSpPr>
          <p:cNvPr id="14346" name="Rectangle 9"/>
          <p:cNvSpPr>
            <a:spLocks noChangeArrowheads="1"/>
          </p:cNvSpPr>
          <p:nvPr/>
        </p:nvSpPr>
        <p:spPr bwMode="auto">
          <a:xfrm>
            <a:off x="285750" y="2405063"/>
            <a:ext cx="7745413" cy="381000"/>
          </a:xfrm>
          <a:prstGeom prst="rect">
            <a:avLst/>
          </a:prstGeom>
          <a:solidFill>
            <a:srgbClr val="DDDDDD"/>
          </a:solidFill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>
              <a:lnSpc>
                <a:spcPts val="2200"/>
              </a:lnSpc>
              <a:spcBef>
                <a:spcPct val="20000"/>
              </a:spcBef>
            </a:pPr>
            <a:r>
              <a:rPr lang="de-CH" sz="1600" b="1"/>
              <a:t>1. Die Informatik der BKW FMB Energie AG (BKW ICT)</a:t>
            </a:r>
            <a:endParaRPr lang="en-GB" sz="1600" b="1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hteck 125"/>
          <p:cNvSpPr>
            <a:spLocks noChangeArrowheads="1"/>
          </p:cNvSpPr>
          <p:nvPr/>
        </p:nvSpPr>
        <p:spPr bwMode="auto">
          <a:xfrm>
            <a:off x="2000250" y="5143500"/>
            <a:ext cx="5929313" cy="1143000"/>
          </a:xfrm>
          <a:prstGeom prst="rect">
            <a:avLst/>
          </a:prstGeom>
          <a:solidFill>
            <a:schemeClr val="bg1">
              <a:alpha val="50195"/>
            </a:schemeClr>
          </a:solidFill>
          <a:ln w="12700" algn="ctr">
            <a:noFill/>
            <a:round/>
            <a:headEnd type="none" w="sm" len="sm"/>
            <a:tailEnd type="none" w="sm" len="sm"/>
          </a:ln>
        </p:spPr>
        <p:txBody>
          <a:bodyPr/>
          <a:lstStyle/>
          <a:p>
            <a:pPr marL="628650" indent="-180975">
              <a:buFont typeface="Arial" charset="0"/>
              <a:buChar char="•"/>
            </a:pPr>
            <a:r>
              <a:rPr lang="de-CH" sz="1600"/>
              <a:t>Durchführen PoC mit unterschiedlichen Produkten um Widerstände abzubauen</a:t>
            </a:r>
          </a:p>
          <a:p>
            <a:pPr marL="628650" indent="-180975">
              <a:buFont typeface="Arial" charset="0"/>
              <a:buChar char="•"/>
            </a:pPr>
            <a:r>
              <a:rPr lang="de-CH" sz="1600"/>
              <a:t>Erarbeiten der Anforderungen an die DWH-Architektur</a:t>
            </a:r>
          </a:p>
          <a:p>
            <a:pPr marL="628650" indent="-180975">
              <a:buFont typeface="Arial" charset="0"/>
              <a:buChar char="•"/>
            </a:pPr>
            <a:r>
              <a:rPr lang="de-CH" sz="1600"/>
              <a:t>Aktualisieren der Architekturgrundlagen</a:t>
            </a:r>
          </a:p>
          <a:p>
            <a:pPr marL="628650" indent="-180975">
              <a:buFont typeface="Arial" charset="0"/>
              <a:buChar char="•"/>
            </a:pPr>
            <a:endParaRPr lang="de-CH" sz="1600"/>
          </a:p>
          <a:p>
            <a:pPr marL="628650" indent="-180975">
              <a:buFont typeface="Arial" charset="0"/>
              <a:buChar char="•"/>
            </a:pPr>
            <a:endParaRPr lang="de-CH" sz="1600"/>
          </a:p>
        </p:txBody>
      </p:sp>
      <p:sp>
        <p:nvSpPr>
          <p:cNvPr id="15363" name="Rectangle 2"/>
          <p:cNvSpPr>
            <a:spLocks noGrp="1" noChangeArrowheads="1"/>
          </p:cNvSpPr>
          <p:nvPr>
            <p:ph type="title"/>
          </p:nvPr>
        </p:nvSpPr>
        <p:spPr>
          <a:xfrm>
            <a:off x="500063" y="381000"/>
            <a:ext cx="7558087" cy="487363"/>
          </a:xfrm>
        </p:spPr>
        <p:txBody>
          <a:bodyPr/>
          <a:lstStyle/>
          <a:p>
            <a:r>
              <a:rPr lang="de-CH" sz="2000" smtClean="0">
                <a:solidFill>
                  <a:schemeClr val="accent1"/>
                </a:solidFill>
              </a:rPr>
              <a:t>5. Festlegung geeigneter Produkte-Standards zur Umsetzung</a:t>
            </a:r>
            <a:br>
              <a:rPr lang="de-CH" sz="2000" smtClean="0">
                <a:solidFill>
                  <a:schemeClr val="accent1"/>
                </a:solidFill>
              </a:rPr>
            </a:br>
            <a:r>
              <a:rPr lang="de-CH" sz="2000" smtClean="0">
                <a:solidFill>
                  <a:schemeClr val="accent1"/>
                </a:solidFill>
              </a:rPr>
              <a:t>    </a:t>
            </a:r>
            <a:r>
              <a:rPr lang="de-CH" sz="2000" smtClean="0"/>
              <a:t>Ausgangslage und Vorgehen</a:t>
            </a:r>
            <a:endParaRPr lang="de-CH" sz="2000" smtClean="0">
              <a:solidFill>
                <a:schemeClr val="accent1"/>
              </a:solidFill>
            </a:endParaRPr>
          </a:p>
        </p:txBody>
      </p:sp>
      <p:sp>
        <p:nvSpPr>
          <p:cNvPr id="15364" name="Rechteck 121"/>
          <p:cNvSpPr>
            <a:spLocks noChangeArrowheads="1"/>
          </p:cNvSpPr>
          <p:nvPr/>
        </p:nvSpPr>
        <p:spPr bwMode="auto">
          <a:xfrm>
            <a:off x="2000250" y="3857625"/>
            <a:ext cx="5929313" cy="1071563"/>
          </a:xfrm>
          <a:prstGeom prst="rect">
            <a:avLst/>
          </a:prstGeom>
          <a:solidFill>
            <a:schemeClr val="bg1">
              <a:alpha val="50195"/>
            </a:schemeClr>
          </a:solidFill>
          <a:ln w="12700" algn="ctr">
            <a:noFill/>
            <a:round/>
            <a:headEnd type="none" w="sm" len="sm"/>
            <a:tailEnd type="none" w="sm" len="sm"/>
          </a:ln>
        </p:spPr>
        <p:txBody>
          <a:bodyPr/>
          <a:lstStyle/>
          <a:p>
            <a:pPr marL="628650" indent="-180975">
              <a:buFont typeface="Arial" charset="0"/>
              <a:buChar char="•"/>
            </a:pPr>
            <a:r>
              <a:rPr lang="de-CH" sz="1600"/>
              <a:t>Trennung Quelle und analytisches System erfolgt</a:t>
            </a:r>
          </a:p>
          <a:p>
            <a:pPr marL="628650" indent="-180975">
              <a:buFont typeface="Arial" charset="0"/>
              <a:buChar char="•"/>
            </a:pPr>
            <a:r>
              <a:rPr lang="de-CH" sz="1600"/>
              <a:t>Bedingte Integrationsfähigkeit auf technischer Ebene</a:t>
            </a:r>
          </a:p>
          <a:p>
            <a:pPr marL="628650" indent="-180975">
              <a:buFont typeface="Arial" charset="0"/>
              <a:buChar char="•"/>
            </a:pPr>
            <a:r>
              <a:rPr lang="de-CH" sz="1600"/>
              <a:t>Druck auf Standard-Software für analytische Systeme</a:t>
            </a:r>
          </a:p>
          <a:p>
            <a:pPr marL="628650" indent="-180975">
              <a:buFont typeface="Arial" charset="0"/>
              <a:buChar char="•"/>
            </a:pPr>
            <a:r>
              <a:rPr lang="de-CH" sz="1600"/>
              <a:t>Dateninkonsistenz immer noch gross </a:t>
            </a:r>
          </a:p>
        </p:txBody>
      </p:sp>
      <p:sp>
        <p:nvSpPr>
          <p:cNvPr id="15365" name="Rechteck 123"/>
          <p:cNvSpPr>
            <a:spLocks noChangeArrowheads="1"/>
          </p:cNvSpPr>
          <p:nvPr/>
        </p:nvSpPr>
        <p:spPr bwMode="auto">
          <a:xfrm>
            <a:off x="857250" y="3929063"/>
            <a:ext cx="1571625" cy="347662"/>
          </a:xfrm>
          <a:prstGeom prst="rect">
            <a:avLst/>
          </a:prstGeom>
          <a:solidFill>
            <a:schemeClr val="accent1"/>
          </a:solidFill>
          <a:ln w="12700" algn="ctr">
            <a:noFill/>
            <a:round/>
            <a:headEnd type="none" w="sm" len="sm"/>
            <a:tailEnd type="none" w="sm" len="sm"/>
          </a:ln>
        </p:spPr>
        <p:txBody>
          <a:bodyPr/>
          <a:lstStyle/>
          <a:p>
            <a:r>
              <a:rPr lang="de-CH" sz="1400" b="1"/>
              <a:t>Ausgangslage</a:t>
            </a:r>
          </a:p>
        </p:txBody>
      </p:sp>
      <p:sp>
        <p:nvSpPr>
          <p:cNvPr id="15366" name="Rechteck 124"/>
          <p:cNvSpPr>
            <a:spLocks noChangeArrowheads="1"/>
          </p:cNvSpPr>
          <p:nvPr/>
        </p:nvSpPr>
        <p:spPr bwMode="auto">
          <a:xfrm>
            <a:off x="857250" y="5214938"/>
            <a:ext cx="1571625" cy="500062"/>
          </a:xfrm>
          <a:prstGeom prst="rect">
            <a:avLst/>
          </a:prstGeom>
          <a:solidFill>
            <a:schemeClr val="accent1"/>
          </a:solidFill>
          <a:ln w="12700" algn="ctr">
            <a:noFill/>
            <a:round/>
            <a:headEnd type="none" w="sm" len="sm"/>
            <a:tailEnd type="none" w="sm" len="sm"/>
          </a:ln>
        </p:spPr>
        <p:txBody>
          <a:bodyPr/>
          <a:lstStyle/>
          <a:p>
            <a:r>
              <a:rPr lang="de-CH" sz="1400" b="1"/>
              <a:t>Vorgehen</a:t>
            </a:r>
          </a:p>
        </p:txBody>
      </p:sp>
      <p:pic>
        <p:nvPicPr>
          <p:cNvPr id="15367" name="Picture 1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00063" y="1209675"/>
            <a:ext cx="3314700" cy="23622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</p:pic>
      <p:grpSp>
        <p:nvGrpSpPr>
          <p:cNvPr id="15368" name="Gruppieren 16"/>
          <p:cNvGrpSpPr>
            <a:grpSpLocks/>
          </p:cNvGrpSpPr>
          <p:nvPr/>
        </p:nvGrpSpPr>
        <p:grpSpPr bwMode="auto">
          <a:xfrm>
            <a:off x="4286250" y="1169988"/>
            <a:ext cx="4143375" cy="2330450"/>
            <a:chOff x="4286272" y="1142984"/>
            <a:chExt cx="4143356" cy="2330461"/>
          </a:xfrm>
        </p:grpSpPr>
        <p:sp>
          <p:nvSpPr>
            <p:cNvPr id="15369" name="Ellipse 15"/>
            <p:cNvSpPr>
              <a:spLocks noChangeArrowheads="1"/>
            </p:cNvSpPr>
            <p:nvPr/>
          </p:nvSpPr>
          <p:spPr bwMode="auto">
            <a:xfrm>
              <a:off x="4286272" y="2000240"/>
              <a:ext cx="3000366" cy="642941"/>
            </a:xfrm>
            <a:prstGeom prst="ellipse">
              <a:avLst/>
            </a:prstGeom>
            <a:solidFill>
              <a:schemeClr val="bg1"/>
            </a:solidFill>
            <a:ln w="12700" algn="ctr">
              <a:noFill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pPr algn="ctr"/>
              <a:r>
                <a:rPr lang="de-DE" sz="1200" b="1"/>
                <a:t>Anforderungen an </a:t>
              </a:r>
            </a:p>
            <a:p>
              <a:pPr algn="ctr"/>
              <a:r>
                <a:rPr lang="de-DE" sz="1200" b="1"/>
                <a:t>die DWH-Architektur</a:t>
              </a:r>
            </a:p>
          </p:txBody>
        </p:sp>
        <p:sp>
          <p:nvSpPr>
            <p:cNvPr id="15370" name="Pfeil nach unten 8"/>
            <p:cNvSpPr>
              <a:spLocks noChangeArrowheads="1"/>
            </p:cNvSpPr>
            <p:nvPr/>
          </p:nvSpPr>
          <p:spPr bwMode="auto">
            <a:xfrm>
              <a:off x="6429388" y="1714488"/>
              <a:ext cx="714375" cy="571504"/>
            </a:xfrm>
            <a:prstGeom prst="downArrow">
              <a:avLst>
                <a:gd name="adj1" fmla="val 50000"/>
                <a:gd name="adj2" fmla="val 50000"/>
              </a:avLst>
            </a:prstGeom>
            <a:solidFill>
              <a:schemeClr val="accent1"/>
            </a:solidFill>
            <a:ln w="12700" algn="ctr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de-DE" sz="1400"/>
            </a:p>
          </p:txBody>
        </p:sp>
        <p:sp>
          <p:nvSpPr>
            <p:cNvPr id="13" name="Textfeld 12"/>
            <p:cNvSpPr txBox="1"/>
            <p:nvPr/>
          </p:nvSpPr>
          <p:spPr>
            <a:xfrm>
              <a:off x="4357710" y="1142984"/>
              <a:ext cx="2786049" cy="758829"/>
            </a:xfrm>
            <a:prstGeom prst="rect">
              <a:avLst/>
            </a:prstGeom>
            <a:noFill/>
          </p:spPr>
          <p:txBody>
            <a:bodyPr/>
            <a:lstStyle/>
            <a:p>
              <a:pPr>
                <a:defRPr/>
              </a:pPr>
              <a:r>
                <a:rPr lang="de-CH" sz="1200" dirty="0"/>
                <a:t>Betrachtung Top-Down: </a:t>
              </a:r>
            </a:p>
            <a:p>
              <a:pPr marL="174625" indent="-174625">
                <a:defRPr/>
              </a:pPr>
              <a:r>
                <a:rPr lang="de-CH" sz="1200" dirty="0"/>
                <a:t> - Geschäfts- und Prozessmodelle und deren Informationsbedürfnisse</a:t>
              </a:r>
            </a:p>
          </p:txBody>
        </p:sp>
        <p:sp>
          <p:nvSpPr>
            <p:cNvPr id="15372" name="Pfeil nach unten 9"/>
            <p:cNvSpPr>
              <a:spLocks noChangeArrowheads="1"/>
            </p:cNvSpPr>
            <p:nvPr/>
          </p:nvSpPr>
          <p:spPr bwMode="auto">
            <a:xfrm rot="10800000">
              <a:off x="4357686" y="2357430"/>
              <a:ext cx="714375" cy="571500"/>
            </a:xfrm>
            <a:prstGeom prst="downArrow">
              <a:avLst>
                <a:gd name="adj1" fmla="val 50000"/>
                <a:gd name="adj2" fmla="val 50000"/>
              </a:avLst>
            </a:prstGeom>
            <a:solidFill>
              <a:schemeClr val="accent1"/>
            </a:solidFill>
            <a:ln w="12700" algn="ctr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15" name="Textfeld 14"/>
            <p:cNvSpPr txBox="1"/>
            <p:nvPr/>
          </p:nvSpPr>
          <p:spPr>
            <a:xfrm>
              <a:off x="4929207" y="2643178"/>
              <a:ext cx="3500421" cy="830267"/>
            </a:xfrm>
            <a:prstGeom prst="rect">
              <a:avLst/>
            </a:prstGeom>
            <a:noFill/>
          </p:spPr>
          <p:txBody>
            <a:bodyPr/>
            <a:lstStyle/>
            <a:p>
              <a:pPr>
                <a:defRPr/>
              </a:pPr>
              <a:r>
                <a:rPr lang="de-CH" sz="1200" dirty="0"/>
                <a:t>Betrachtung </a:t>
              </a:r>
              <a:r>
                <a:rPr lang="de-CH" sz="1200" dirty="0" err="1"/>
                <a:t>Bottom-Up</a:t>
              </a:r>
              <a:r>
                <a:rPr lang="de-CH" sz="1200" dirty="0"/>
                <a:t>: </a:t>
              </a:r>
            </a:p>
            <a:p>
              <a:pPr marL="174625" indent="-174625">
                <a:defRPr/>
              </a:pPr>
              <a:r>
                <a:rPr lang="de-CH" sz="1200" dirty="0"/>
                <a:t> - Informationen über die IT-Landschaft (Applikationen, Schnittstellen und Technologie = Applikationsportfolio)</a:t>
              </a:r>
            </a:p>
            <a:p>
              <a:pPr>
                <a:defRPr/>
              </a:pPr>
              <a:endParaRPr lang="de-CH" sz="1400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hteck 125"/>
          <p:cNvSpPr>
            <a:spLocks noChangeArrowheads="1"/>
          </p:cNvSpPr>
          <p:nvPr/>
        </p:nvSpPr>
        <p:spPr bwMode="auto">
          <a:xfrm>
            <a:off x="1785938" y="5000625"/>
            <a:ext cx="5929312" cy="1428750"/>
          </a:xfrm>
          <a:prstGeom prst="rect">
            <a:avLst/>
          </a:prstGeom>
          <a:solidFill>
            <a:schemeClr val="bg1">
              <a:alpha val="50195"/>
            </a:schemeClr>
          </a:solidFill>
          <a:ln w="12700" algn="ctr">
            <a:noFill/>
            <a:round/>
            <a:headEnd type="none" w="sm" len="sm"/>
            <a:tailEnd type="none" w="sm" len="sm"/>
          </a:ln>
        </p:spPr>
        <p:txBody>
          <a:bodyPr/>
          <a:lstStyle/>
          <a:p>
            <a:pPr marL="628650" indent="-180975">
              <a:buFont typeface="Arial" charset="0"/>
              <a:buChar char="•"/>
            </a:pPr>
            <a:r>
              <a:rPr lang="de-CH" sz="1600"/>
              <a:t>Produktestandard SAP BW 7.0 wurde verankert</a:t>
            </a:r>
          </a:p>
          <a:p>
            <a:pPr marL="628650" indent="-180975">
              <a:buFont typeface="Arial" charset="0"/>
              <a:buChar char="•"/>
            </a:pPr>
            <a:r>
              <a:rPr lang="de-CH" sz="1600"/>
              <a:t>Konzeptionelle Datenarchitektur fixiert</a:t>
            </a:r>
          </a:p>
          <a:p>
            <a:pPr marL="628650" indent="-180975">
              <a:buFont typeface="Arial" charset="0"/>
              <a:buChar char="•"/>
            </a:pPr>
            <a:r>
              <a:rPr lang="de-CH" sz="1600"/>
              <a:t>Organisatorische Massnahmen zur Pflege und Weiterentwicklung der vorhandenen architektonischen Rahmenbedingungen vereinbart</a:t>
            </a:r>
          </a:p>
        </p:txBody>
      </p:sp>
      <p:sp>
        <p:nvSpPr>
          <p:cNvPr id="16387" name="Rechteck 124"/>
          <p:cNvSpPr>
            <a:spLocks noChangeArrowheads="1"/>
          </p:cNvSpPr>
          <p:nvPr/>
        </p:nvSpPr>
        <p:spPr bwMode="auto">
          <a:xfrm>
            <a:off x="357188" y="5072063"/>
            <a:ext cx="1857375" cy="500062"/>
          </a:xfrm>
          <a:prstGeom prst="rect">
            <a:avLst/>
          </a:prstGeom>
          <a:solidFill>
            <a:schemeClr val="accent1"/>
          </a:solidFill>
          <a:ln w="12700" algn="ctr">
            <a:noFill/>
            <a:round/>
            <a:headEnd type="none" w="sm" len="sm"/>
            <a:tailEnd type="none" w="sm" len="sm"/>
          </a:ln>
        </p:spPr>
        <p:txBody>
          <a:bodyPr/>
          <a:lstStyle/>
          <a:p>
            <a:r>
              <a:rPr lang="de-CH" sz="1400" b="1"/>
              <a:t>Richtungsweisung</a:t>
            </a:r>
          </a:p>
          <a:p>
            <a:r>
              <a:rPr lang="de-CH" sz="1400" b="1"/>
              <a:t>Architektur</a:t>
            </a:r>
          </a:p>
        </p:txBody>
      </p:sp>
      <p:pic>
        <p:nvPicPr>
          <p:cNvPr id="16388" name="Picture 6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929188" y="1285875"/>
            <a:ext cx="3611562" cy="207168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</p:pic>
      <p:grpSp>
        <p:nvGrpSpPr>
          <p:cNvPr id="16389" name="Gruppieren 11"/>
          <p:cNvGrpSpPr>
            <a:grpSpLocks/>
          </p:cNvGrpSpPr>
          <p:nvPr/>
        </p:nvGrpSpPr>
        <p:grpSpPr bwMode="auto">
          <a:xfrm>
            <a:off x="214313" y="1285875"/>
            <a:ext cx="4143375" cy="2071688"/>
            <a:chOff x="76200" y="1600200"/>
            <a:chExt cx="8534400" cy="4495800"/>
          </a:xfrm>
        </p:grpSpPr>
        <p:sp>
          <p:nvSpPr>
            <p:cNvPr id="16393" name="Rectangle 3"/>
            <p:cNvSpPr>
              <a:spLocks noChangeArrowheads="1"/>
            </p:cNvSpPr>
            <p:nvPr/>
          </p:nvSpPr>
          <p:spPr bwMode="auto">
            <a:xfrm>
              <a:off x="1219200" y="1600200"/>
              <a:ext cx="7391400" cy="3722688"/>
            </a:xfrm>
            <a:prstGeom prst="rect">
              <a:avLst/>
            </a:prstGeom>
            <a:gradFill rotWithShape="0">
              <a:gsLst>
                <a:gs pos="0">
                  <a:srgbClr val="C1C1FF"/>
                </a:gs>
                <a:gs pos="100000">
                  <a:srgbClr val="8989FF"/>
                </a:gs>
              </a:gsLst>
              <a:lin ang="5400000" scaled="1"/>
            </a:gradFill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none"/>
            <a:lstStyle/>
            <a:p>
              <a:r>
                <a:rPr lang="de-CH" sz="500"/>
                <a:t>SAP BI-7.0</a:t>
              </a:r>
            </a:p>
          </p:txBody>
        </p:sp>
        <p:sp>
          <p:nvSpPr>
            <p:cNvPr id="16394" name="Rectangle 4"/>
            <p:cNvSpPr>
              <a:spLocks noChangeArrowheads="1"/>
            </p:cNvSpPr>
            <p:nvPr/>
          </p:nvSpPr>
          <p:spPr bwMode="auto">
            <a:xfrm>
              <a:off x="1219200" y="1600200"/>
              <a:ext cx="7391400" cy="449580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de-DE" sz="500"/>
            </a:p>
          </p:txBody>
        </p:sp>
        <p:sp>
          <p:nvSpPr>
            <p:cNvPr id="16395" name="Rectangle 5"/>
            <p:cNvSpPr>
              <a:spLocks noChangeArrowheads="1"/>
            </p:cNvSpPr>
            <p:nvPr/>
          </p:nvSpPr>
          <p:spPr bwMode="auto">
            <a:xfrm>
              <a:off x="1898650" y="5394325"/>
              <a:ext cx="6561138" cy="631825"/>
            </a:xfrm>
            <a:prstGeom prst="rect">
              <a:avLst/>
            </a:prstGeom>
            <a:solidFill>
              <a:srgbClr val="FFFF99"/>
            </a:solidFill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none" anchor="b"/>
            <a:lstStyle/>
            <a:p>
              <a:endParaRPr lang="en-GB" sz="500"/>
            </a:p>
          </p:txBody>
        </p:sp>
        <p:sp>
          <p:nvSpPr>
            <p:cNvPr id="16396" name="Text Box 6"/>
            <p:cNvSpPr txBox="1">
              <a:spLocks noChangeArrowheads="1"/>
            </p:cNvSpPr>
            <p:nvPr/>
          </p:nvSpPr>
          <p:spPr bwMode="auto">
            <a:xfrm>
              <a:off x="7327900" y="5464175"/>
              <a:ext cx="981075" cy="492125"/>
            </a:xfrm>
            <a:prstGeom prst="rect">
              <a:avLst/>
            </a:prstGeom>
            <a:solidFill>
              <a:srgbClr val="FFFF00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tIns="10800" bIns="10800" anchor="ctr" anchorCtr="1"/>
            <a:lstStyle/>
            <a:p>
              <a:pPr algn="ctr"/>
              <a:r>
                <a:rPr lang="de-CH" sz="500"/>
                <a:t>EMTS</a:t>
              </a:r>
            </a:p>
            <a:p>
              <a:pPr algn="ctr"/>
              <a:r>
                <a:rPr lang="de-CH" sz="500"/>
                <a:t>Oracle DB</a:t>
              </a:r>
            </a:p>
          </p:txBody>
        </p:sp>
        <p:sp>
          <p:nvSpPr>
            <p:cNvPr id="16397" name="Text Box 7"/>
            <p:cNvSpPr txBox="1">
              <a:spLocks noChangeArrowheads="1"/>
            </p:cNvSpPr>
            <p:nvPr/>
          </p:nvSpPr>
          <p:spPr bwMode="auto">
            <a:xfrm>
              <a:off x="3330575" y="5464175"/>
              <a:ext cx="981075" cy="492125"/>
            </a:xfrm>
            <a:prstGeom prst="rect">
              <a:avLst/>
            </a:prstGeom>
            <a:solidFill>
              <a:srgbClr val="FFFF00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tIns="10800" bIns="10800" anchor="ctr" anchorCtr="1"/>
            <a:lstStyle/>
            <a:p>
              <a:pPr algn="ctr"/>
              <a:r>
                <a:rPr lang="de-CH" sz="500"/>
                <a:t>Modul SEE</a:t>
              </a:r>
            </a:p>
            <a:p>
              <a:pPr algn="ctr"/>
              <a:r>
                <a:rPr lang="de-CH" sz="500"/>
                <a:t>(InfoServer)</a:t>
              </a:r>
            </a:p>
            <a:p>
              <a:pPr algn="ctr"/>
              <a:r>
                <a:rPr lang="de-CH" sz="500"/>
                <a:t>Oracle DB</a:t>
              </a:r>
            </a:p>
          </p:txBody>
        </p:sp>
        <p:sp>
          <p:nvSpPr>
            <p:cNvPr id="16398" name="Text Box 8"/>
            <p:cNvSpPr txBox="1">
              <a:spLocks noChangeArrowheads="1"/>
            </p:cNvSpPr>
            <p:nvPr/>
          </p:nvSpPr>
          <p:spPr bwMode="auto">
            <a:xfrm>
              <a:off x="4687888" y="5464175"/>
              <a:ext cx="981075" cy="492125"/>
            </a:xfrm>
            <a:prstGeom prst="rect">
              <a:avLst/>
            </a:prstGeom>
            <a:solidFill>
              <a:srgbClr val="FFFF00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tIns="10800" bIns="10800" anchor="ctr" anchorCtr="1"/>
            <a:lstStyle/>
            <a:p>
              <a:pPr algn="ctr"/>
              <a:r>
                <a:rPr lang="de-CH" sz="500"/>
                <a:t>EDIS</a:t>
              </a:r>
            </a:p>
            <a:p>
              <a:pPr algn="ctr"/>
              <a:r>
                <a:rPr lang="de-CH" sz="500"/>
                <a:t>(InfoServer)</a:t>
              </a:r>
            </a:p>
            <a:p>
              <a:pPr algn="ctr"/>
              <a:r>
                <a:rPr lang="de-CH" sz="500"/>
                <a:t>Oracle DB</a:t>
              </a:r>
            </a:p>
          </p:txBody>
        </p:sp>
        <p:sp>
          <p:nvSpPr>
            <p:cNvPr id="16399" name="Text Box 9"/>
            <p:cNvSpPr txBox="1">
              <a:spLocks noChangeArrowheads="1"/>
            </p:cNvSpPr>
            <p:nvPr/>
          </p:nvSpPr>
          <p:spPr bwMode="auto">
            <a:xfrm>
              <a:off x="6046788" y="5464175"/>
              <a:ext cx="979487" cy="492125"/>
            </a:xfrm>
            <a:prstGeom prst="rect">
              <a:avLst/>
            </a:prstGeom>
            <a:solidFill>
              <a:srgbClr val="FFFF00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tIns="10800" bIns="10800" anchor="ctr" anchorCtr="1"/>
            <a:lstStyle/>
            <a:p>
              <a:pPr algn="ctr"/>
              <a:r>
                <a:rPr lang="de-CH" sz="500"/>
                <a:t>Excel</a:t>
              </a:r>
            </a:p>
            <a:p>
              <a:pPr algn="ctr"/>
              <a:r>
                <a:rPr lang="de-CH" sz="500"/>
                <a:t>CSV-Dateien</a:t>
              </a:r>
            </a:p>
          </p:txBody>
        </p:sp>
        <p:sp>
          <p:nvSpPr>
            <p:cNvPr id="16400" name="Text Box 10"/>
            <p:cNvSpPr txBox="1">
              <a:spLocks noChangeArrowheads="1"/>
            </p:cNvSpPr>
            <p:nvPr/>
          </p:nvSpPr>
          <p:spPr bwMode="auto">
            <a:xfrm>
              <a:off x="2049463" y="5464175"/>
              <a:ext cx="979487" cy="492125"/>
            </a:xfrm>
            <a:prstGeom prst="rect">
              <a:avLst/>
            </a:prstGeom>
            <a:solidFill>
              <a:srgbClr val="FFFF00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tIns="10800" bIns="10800" anchor="ctr" anchorCtr="1"/>
            <a:lstStyle/>
            <a:p>
              <a:pPr algn="ctr"/>
              <a:r>
                <a:rPr lang="de-CH" sz="500"/>
                <a:t>SAP R/3</a:t>
              </a:r>
            </a:p>
          </p:txBody>
        </p:sp>
        <p:grpSp>
          <p:nvGrpSpPr>
            <p:cNvPr id="16401" name="Group 12"/>
            <p:cNvGrpSpPr>
              <a:grpSpLocks/>
            </p:cNvGrpSpPr>
            <p:nvPr/>
          </p:nvGrpSpPr>
          <p:grpSpPr bwMode="auto">
            <a:xfrm>
              <a:off x="2274888" y="4479926"/>
              <a:ext cx="1658937" cy="518489"/>
              <a:chOff x="1344" y="2736"/>
              <a:chExt cx="1056" cy="354"/>
            </a:xfrm>
          </p:grpSpPr>
          <p:sp>
            <p:nvSpPr>
              <p:cNvPr id="16483" name="Text Box 13"/>
              <p:cNvSpPr txBox="1">
                <a:spLocks noChangeArrowheads="1"/>
              </p:cNvSpPr>
              <p:nvPr/>
            </p:nvSpPr>
            <p:spPr bwMode="auto">
              <a:xfrm>
                <a:off x="1344" y="2736"/>
                <a:ext cx="1056" cy="336"/>
              </a:xfrm>
              <a:prstGeom prst="rect">
                <a:avLst/>
              </a:prstGeom>
              <a:gradFill rotWithShape="0">
                <a:gsLst>
                  <a:gs pos="0">
                    <a:srgbClr val="D7D7FF"/>
                  </a:gs>
                  <a:gs pos="100000">
                    <a:srgbClr val="BDBDFF"/>
                  </a:gs>
                </a:gsLst>
                <a:lin ang="5400000" scaled="1"/>
              </a:gradFill>
              <a:ln w="12700">
                <a:solidFill>
                  <a:schemeClr val="tx1"/>
                </a:solidFill>
                <a:prstDash val="dash"/>
                <a:miter lim="800000"/>
                <a:headEnd type="none" w="sm" len="sm"/>
                <a:tailEnd type="none" w="sm" len="sm"/>
              </a:ln>
            </p:spPr>
            <p:txBody>
              <a:bodyPr wrap="none" tIns="10800" bIns="10800" anchorCtr="1"/>
              <a:lstStyle/>
              <a:p>
                <a:pPr algn="ctr"/>
                <a:r>
                  <a:rPr lang="de-CH" sz="500"/>
                  <a:t>Themenbereich X</a:t>
                </a:r>
              </a:p>
            </p:txBody>
          </p:sp>
          <p:sp>
            <p:nvSpPr>
              <p:cNvPr id="16484" name="AutoShape 14"/>
              <p:cNvSpPr>
                <a:spLocks noChangeArrowheads="1"/>
              </p:cNvSpPr>
              <p:nvPr/>
            </p:nvSpPr>
            <p:spPr bwMode="auto">
              <a:xfrm>
                <a:off x="1440" y="2880"/>
                <a:ext cx="144" cy="144"/>
              </a:xfrm>
              <a:prstGeom prst="can">
                <a:avLst>
                  <a:gd name="adj" fmla="val 25000"/>
                </a:avLst>
              </a:prstGeom>
              <a:solidFill>
                <a:srgbClr val="FFFFFF"/>
              </a:solidFill>
              <a:ln w="12700">
                <a:solidFill>
                  <a:srgbClr val="808080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de-DE" sz="500"/>
              </a:p>
            </p:txBody>
          </p:sp>
          <p:sp>
            <p:nvSpPr>
              <p:cNvPr id="16485" name="AutoShape 15"/>
              <p:cNvSpPr>
                <a:spLocks noChangeArrowheads="1"/>
              </p:cNvSpPr>
              <p:nvPr/>
            </p:nvSpPr>
            <p:spPr bwMode="auto">
              <a:xfrm>
                <a:off x="1632" y="2880"/>
                <a:ext cx="144" cy="144"/>
              </a:xfrm>
              <a:prstGeom prst="can">
                <a:avLst>
                  <a:gd name="adj" fmla="val 25000"/>
                </a:avLst>
              </a:prstGeom>
              <a:solidFill>
                <a:srgbClr val="FFFFFF"/>
              </a:solidFill>
              <a:ln w="12700">
                <a:solidFill>
                  <a:srgbClr val="808080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de-DE" sz="500"/>
              </a:p>
            </p:txBody>
          </p:sp>
          <p:sp>
            <p:nvSpPr>
              <p:cNvPr id="16486" name="AutoShape 16"/>
              <p:cNvSpPr>
                <a:spLocks noChangeArrowheads="1"/>
              </p:cNvSpPr>
              <p:nvPr/>
            </p:nvSpPr>
            <p:spPr bwMode="auto">
              <a:xfrm>
                <a:off x="2160" y="2880"/>
                <a:ext cx="144" cy="144"/>
              </a:xfrm>
              <a:prstGeom prst="can">
                <a:avLst>
                  <a:gd name="adj" fmla="val 25000"/>
                </a:avLst>
              </a:prstGeom>
              <a:solidFill>
                <a:srgbClr val="FFFFFF"/>
              </a:solidFill>
              <a:ln w="12700">
                <a:solidFill>
                  <a:srgbClr val="808080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de-DE" sz="500"/>
              </a:p>
            </p:txBody>
          </p:sp>
          <p:sp>
            <p:nvSpPr>
              <p:cNvPr id="16487" name="Text Box 17"/>
              <p:cNvSpPr txBox="1">
                <a:spLocks noChangeArrowheads="1"/>
              </p:cNvSpPr>
              <p:nvPr/>
            </p:nvSpPr>
            <p:spPr bwMode="auto">
              <a:xfrm>
                <a:off x="1776" y="2880"/>
                <a:ext cx="292" cy="210"/>
              </a:xfrm>
              <a:prstGeom prst="rect">
                <a:avLst/>
              </a:prstGeom>
              <a:noFill/>
              <a:ln w="12700">
                <a:noFill/>
                <a:miter lim="800000"/>
                <a:headEnd type="none" w="sm" len="sm"/>
                <a:tailEnd type="none" w="sm" len="sm"/>
              </a:ln>
            </p:spPr>
            <p:txBody>
              <a:bodyPr wrap="none">
                <a:spAutoFit/>
              </a:bodyPr>
              <a:lstStyle/>
              <a:p>
                <a:r>
                  <a:rPr lang="de-CH" sz="500" b="1"/>
                  <a:t>...</a:t>
                </a:r>
              </a:p>
            </p:txBody>
          </p:sp>
          <p:sp>
            <p:nvSpPr>
              <p:cNvPr id="16488" name="AutoShape 18"/>
              <p:cNvSpPr>
                <a:spLocks noChangeArrowheads="1"/>
              </p:cNvSpPr>
              <p:nvPr/>
            </p:nvSpPr>
            <p:spPr bwMode="auto">
              <a:xfrm>
                <a:off x="1968" y="2880"/>
                <a:ext cx="144" cy="144"/>
              </a:xfrm>
              <a:prstGeom prst="can">
                <a:avLst>
                  <a:gd name="adj" fmla="val 25000"/>
                </a:avLst>
              </a:prstGeom>
              <a:solidFill>
                <a:srgbClr val="FFFFFF"/>
              </a:solidFill>
              <a:ln w="12700">
                <a:solidFill>
                  <a:srgbClr val="808080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de-DE" sz="500"/>
              </a:p>
            </p:txBody>
          </p:sp>
        </p:grpSp>
        <p:grpSp>
          <p:nvGrpSpPr>
            <p:cNvPr id="16402" name="Group 19"/>
            <p:cNvGrpSpPr>
              <a:grpSpLocks/>
            </p:cNvGrpSpPr>
            <p:nvPr/>
          </p:nvGrpSpPr>
          <p:grpSpPr bwMode="auto">
            <a:xfrm>
              <a:off x="4311650" y="4479926"/>
              <a:ext cx="1658938" cy="518489"/>
              <a:chOff x="2640" y="2736"/>
              <a:chExt cx="1056" cy="354"/>
            </a:xfrm>
          </p:grpSpPr>
          <p:sp>
            <p:nvSpPr>
              <p:cNvPr id="16477" name="Text Box 20"/>
              <p:cNvSpPr txBox="1">
                <a:spLocks noChangeArrowheads="1"/>
              </p:cNvSpPr>
              <p:nvPr/>
            </p:nvSpPr>
            <p:spPr bwMode="auto">
              <a:xfrm>
                <a:off x="2640" y="2736"/>
                <a:ext cx="1056" cy="336"/>
              </a:xfrm>
              <a:prstGeom prst="rect">
                <a:avLst/>
              </a:prstGeom>
              <a:gradFill rotWithShape="0">
                <a:gsLst>
                  <a:gs pos="0">
                    <a:srgbClr val="D7D7FF"/>
                  </a:gs>
                  <a:gs pos="100000">
                    <a:srgbClr val="BDBDFF"/>
                  </a:gs>
                </a:gsLst>
                <a:lin ang="5400000" scaled="1"/>
              </a:gradFill>
              <a:ln w="12700">
                <a:solidFill>
                  <a:schemeClr val="tx1"/>
                </a:solidFill>
                <a:prstDash val="dash"/>
                <a:miter lim="800000"/>
                <a:headEnd type="none" w="sm" len="sm"/>
                <a:tailEnd type="none" w="sm" len="sm"/>
              </a:ln>
            </p:spPr>
            <p:txBody>
              <a:bodyPr wrap="none" tIns="10800" bIns="10800" anchorCtr="1"/>
              <a:lstStyle/>
              <a:p>
                <a:pPr algn="ctr"/>
                <a:r>
                  <a:rPr lang="de-CH" sz="500"/>
                  <a:t>Themenbereich Y</a:t>
                </a:r>
              </a:p>
            </p:txBody>
          </p:sp>
          <p:sp>
            <p:nvSpPr>
              <p:cNvPr id="16478" name="AutoShape 21"/>
              <p:cNvSpPr>
                <a:spLocks noChangeArrowheads="1"/>
              </p:cNvSpPr>
              <p:nvPr/>
            </p:nvSpPr>
            <p:spPr bwMode="auto">
              <a:xfrm>
                <a:off x="2736" y="2880"/>
                <a:ext cx="144" cy="144"/>
              </a:xfrm>
              <a:prstGeom prst="can">
                <a:avLst>
                  <a:gd name="adj" fmla="val 25000"/>
                </a:avLst>
              </a:prstGeom>
              <a:solidFill>
                <a:srgbClr val="FFFFFF"/>
              </a:solidFill>
              <a:ln w="12700">
                <a:solidFill>
                  <a:srgbClr val="808080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de-DE" sz="500"/>
              </a:p>
            </p:txBody>
          </p:sp>
          <p:sp>
            <p:nvSpPr>
              <p:cNvPr id="16479" name="AutoShape 22"/>
              <p:cNvSpPr>
                <a:spLocks noChangeArrowheads="1"/>
              </p:cNvSpPr>
              <p:nvPr/>
            </p:nvSpPr>
            <p:spPr bwMode="auto">
              <a:xfrm>
                <a:off x="2928" y="2880"/>
                <a:ext cx="144" cy="144"/>
              </a:xfrm>
              <a:prstGeom prst="can">
                <a:avLst>
                  <a:gd name="adj" fmla="val 25000"/>
                </a:avLst>
              </a:prstGeom>
              <a:solidFill>
                <a:srgbClr val="FFFFFF"/>
              </a:solidFill>
              <a:ln w="12700">
                <a:solidFill>
                  <a:srgbClr val="808080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de-DE" sz="500"/>
              </a:p>
            </p:txBody>
          </p:sp>
          <p:sp>
            <p:nvSpPr>
              <p:cNvPr id="16480" name="AutoShape 23"/>
              <p:cNvSpPr>
                <a:spLocks noChangeArrowheads="1"/>
              </p:cNvSpPr>
              <p:nvPr/>
            </p:nvSpPr>
            <p:spPr bwMode="auto">
              <a:xfrm>
                <a:off x="3456" y="2880"/>
                <a:ext cx="144" cy="144"/>
              </a:xfrm>
              <a:prstGeom prst="can">
                <a:avLst>
                  <a:gd name="adj" fmla="val 25000"/>
                </a:avLst>
              </a:prstGeom>
              <a:solidFill>
                <a:srgbClr val="FFFFFF"/>
              </a:solidFill>
              <a:ln w="12700">
                <a:solidFill>
                  <a:srgbClr val="808080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de-DE" sz="500"/>
              </a:p>
            </p:txBody>
          </p:sp>
          <p:sp>
            <p:nvSpPr>
              <p:cNvPr id="16481" name="Text Box 24"/>
              <p:cNvSpPr txBox="1">
                <a:spLocks noChangeArrowheads="1"/>
              </p:cNvSpPr>
              <p:nvPr/>
            </p:nvSpPr>
            <p:spPr bwMode="auto">
              <a:xfrm>
                <a:off x="3072" y="2880"/>
                <a:ext cx="292" cy="210"/>
              </a:xfrm>
              <a:prstGeom prst="rect">
                <a:avLst/>
              </a:prstGeom>
              <a:noFill/>
              <a:ln w="12700">
                <a:noFill/>
                <a:miter lim="800000"/>
                <a:headEnd type="none" w="sm" len="sm"/>
                <a:tailEnd type="none" w="sm" len="sm"/>
              </a:ln>
            </p:spPr>
            <p:txBody>
              <a:bodyPr wrap="none">
                <a:spAutoFit/>
              </a:bodyPr>
              <a:lstStyle/>
              <a:p>
                <a:r>
                  <a:rPr lang="de-CH" sz="500" b="1"/>
                  <a:t>...</a:t>
                </a:r>
              </a:p>
            </p:txBody>
          </p:sp>
          <p:sp>
            <p:nvSpPr>
              <p:cNvPr id="16482" name="AutoShape 25"/>
              <p:cNvSpPr>
                <a:spLocks noChangeArrowheads="1"/>
              </p:cNvSpPr>
              <p:nvPr/>
            </p:nvSpPr>
            <p:spPr bwMode="auto">
              <a:xfrm>
                <a:off x="3264" y="2880"/>
                <a:ext cx="144" cy="144"/>
              </a:xfrm>
              <a:prstGeom prst="can">
                <a:avLst>
                  <a:gd name="adj" fmla="val 25000"/>
                </a:avLst>
              </a:prstGeom>
              <a:solidFill>
                <a:srgbClr val="FFFFFF"/>
              </a:solidFill>
              <a:ln w="12700">
                <a:solidFill>
                  <a:srgbClr val="808080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de-DE" sz="500"/>
              </a:p>
            </p:txBody>
          </p:sp>
        </p:grpSp>
        <p:grpSp>
          <p:nvGrpSpPr>
            <p:cNvPr id="16403" name="Group 26"/>
            <p:cNvGrpSpPr>
              <a:grpSpLocks/>
            </p:cNvGrpSpPr>
            <p:nvPr/>
          </p:nvGrpSpPr>
          <p:grpSpPr bwMode="auto">
            <a:xfrm>
              <a:off x="6348413" y="4479926"/>
              <a:ext cx="1658937" cy="518489"/>
              <a:chOff x="4128" y="2736"/>
              <a:chExt cx="1056" cy="354"/>
            </a:xfrm>
          </p:grpSpPr>
          <p:sp>
            <p:nvSpPr>
              <p:cNvPr id="16471" name="Text Box 27"/>
              <p:cNvSpPr txBox="1">
                <a:spLocks noChangeArrowheads="1"/>
              </p:cNvSpPr>
              <p:nvPr/>
            </p:nvSpPr>
            <p:spPr bwMode="auto">
              <a:xfrm>
                <a:off x="4128" y="2736"/>
                <a:ext cx="1056" cy="336"/>
              </a:xfrm>
              <a:prstGeom prst="rect">
                <a:avLst/>
              </a:prstGeom>
              <a:gradFill rotWithShape="0">
                <a:gsLst>
                  <a:gs pos="0">
                    <a:srgbClr val="D7D7FF"/>
                  </a:gs>
                  <a:gs pos="100000">
                    <a:srgbClr val="BDBDFF"/>
                  </a:gs>
                </a:gsLst>
                <a:lin ang="5400000" scaled="1"/>
              </a:gradFill>
              <a:ln w="12700">
                <a:solidFill>
                  <a:schemeClr val="tx1"/>
                </a:solidFill>
                <a:prstDash val="dash"/>
                <a:miter lim="800000"/>
                <a:headEnd type="none" w="sm" len="sm"/>
                <a:tailEnd type="none" w="sm" len="sm"/>
              </a:ln>
            </p:spPr>
            <p:txBody>
              <a:bodyPr wrap="none" tIns="10800" bIns="10800" anchorCtr="1"/>
              <a:lstStyle/>
              <a:p>
                <a:pPr algn="ctr"/>
                <a:r>
                  <a:rPr lang="de-CH" sz="500"/>
                  <a:t>Themenbereich Z</a:t>
                </a:r>
              </a:p>
            </p:txBody>
          </p:sp>
          <p:sp>
            <p:nvSpPr>
              <p:cNvPr id="16472" name="AutoShape 28"/>
              <p:cNvSpPr>
                <a:spLocks noChangeArrowheads="1"/>
              </p:cNvSpPr>
              <p:nvPr/>
            </p:nvSpPr>
            <p:spPr bwMode="auto">
              <a:xfrm>
                <a:off x="4224" y="2880"/>
                <a:ext cx="144" cy="144"/>
              </a:xfrm>
              <a:prstGeom prst="can">
                <a:avLst>
                  <a:gd name="adj" fmla="val 25000"/>
                </a:avLst>
              </a:prstGeom>
              <a:solidFill>
                <a:srgbClr val="FFFFFF"/>
              </a:solidFill>
              <a:ln w="12700">
                <a:solidFill>
                  <a:srgbClr val="808080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de-DE" sz="500"/>
              </a:p>
            </p:txBody>
          </p:sp>
          <p:sp>
            <p:nvSpPr>
              <p:cNvPr id="16473" name="AutoShape 29"/>
              <p:cNvSpPr>
                <a:spLocks noChangeArrowheads="1"/>
              </p:cNvSpPr>
              <p:nvPr/>
            </p:nvSpPr>
            <p:spPr bwMode="auto">
              <a:xfrm>
                <a:off x="4416" y="2880"/>
                <a:ext cx="144" cy="144"/>
              </a:xfrm>
              <a:prstGeom prst="can">
                <a:avLst>
                  <a:gd name="adj" fmla="val 25000"/>
                </a:avLst>
              </a:prstGeom>
              <a:solidFill>
                <a:srgbClr val="FFFFFF"/>
              </a:solidFill>
              <a:ln w="12700">
                <a:solidFill>
                  <a:srgbClr val="808080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de-DE" sz="500"/>
              </a:p>
            </p:txBody>
          </p:sp>
          <p:sp>
            <p:nvSpPr>
              <p:cNvPr id="16474" name="AutoShape 30"/>
              <p:cNvSpPr>
                <a:spLocks noChangeArrowheads="1"/>
              </p:cNvSpPr>
              <p:nvPr/>
            </p:nvSpPr>
            <p:spPr bwMode="auto">
              <a:xfrm>
                <a:off x="4944" y="2880"/>
                <a:ext cx="144" cy="144"/>
              </a:xfrm>
              <a:prstGeom prst="can">
                <a:avLst>
                  <a:gd name="adj" fmla="val 25000"/>
                </a:avLst>
              </a:prstGeom>
              <a:solidFill>
                <a:srgbClr val="FFFFFF"/>
              </a:solidFill>
              <a:ln w="12700">
                <a:solidFill>
                  <a:srgbClr val="808080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de-DE" sz="500"/>
              </a:p>
            </p:txBody>
          </p:sp>
          <p:sp>
            <p:nvSpPr>
              <p:cNvPr id="16475" name="Text Box 31"/>
              <p:cNvSpPr txBox="1">
                <a:spLocks noChangeArrowheads="1"/>
              </p:cNvSpPr>
              <p:nvPr/>
            </p:nvSpPr>
            <p:spPr bwMode="auto">
              <a:xfrm>
                <a:off x="4561" y="2880"/>
                <a:ext cx="292" cy="210"/>
              </a:xfrm>
              <a:prstGeom prst="rect">
                <a:avLst/>
              </a:prstGeom>
              <a:noFill/>
              <a:ln w="12700">
                <a:noFill/>
                <a:miter lim="800000"/>
                <a:headEnd type="none" w="sm" len="sm"/>
                <a:tailEnd type="none" w="sm" len="sm"/>
              </a:ln>
            </p:spPr>
            <p:txBody>
              <a:bodyPr wrap="none">
                <a:spAutoFit/>
              </a:bodyPr>
              <a:lstStyle/>
              <a:p>
                <a:r>
                  <a:rPr lang="de-CH" sz="500" b="1"/>
                  <a:t>...</a:t>
                </a:r>
              </a:p>
            </p:txBody>
          </p:sp>
          <p:sp>
            <p:nvSpPr>
              <p:cNvPr id="16476" name="AutoShape 32"/>
              <p:cNvSpPr>
                <a:spLocks noChangeArrowheads="1"/>
              </p:cNvSpPr>
              <p:nvPr/>
            </p:nvSpPr>
            <p:spPr bwMode="auto">
              <a:xfrm>
                <a:off x="4752" y="2880"/>
                <a:ext cx="144" cy="144"/>
              </a:xfrm>
              <a:prstGeom prst="can">
                <a:avLst>
                  <a:gd name="adj" fmla="val 25000"/>
                </a:avLst>
              </a:prstGeom>
              <a:solidFill>
                <a:srgbClr val="FFFFFF"/>
              </a:solidFill>
              <a:ln w="12700">
                <a:solidFill>
                  <a:srgbClr val="808080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de-DE" sz="500"/>
              </a:p>
            </p:txBody>
          </p:sp>
        </p:grpSp>
        <p:sp>
          <p:nvSpPr>
            <p:cNvPr id="16404" name="Text Box 33"/>
            <p:cNvSpPr txBox="1">
              <a:spLocks noChangeArrowheads="1"/>
            </p:cNvSpPr>
            <p:nvPr/>
          </p:nvSpPr>
          <p:spPr bwMode="auto">
            <a:xfrm rot="-5400000">
              <a:off x="708819" y="4158457"/>
              <a:ext cx="1755775" cy="433387"/>
            </a:xfrm>
            <a:prstGeom prst="rect">
              <a:avLst/>
            </a:prstGeom>
            <a:solidFill>
              <a:srgbClr val="C0C0C0"/>
            </a:solidFill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algn="ctr"/>
              <a:r>
                <a:rPr lang="de-CH" sz="500"/>
                <a:t>Physische Ebene</a:t>
              </a:r>
            </a:p>
          </p:txBody>
        </p:sp>
        <p:cxnSp>
          <p:nvCxnSpPr>
            <p:cNvPr id="16405" name="AutoShape 34"/>
            <p:cNvCxnSpPr>
              <a:cxnSpLocks noChangeShapeType="1"/>
              <a:stCxn id="16398" idx="0"/>
              <a:endCxn id="16477" idx="2"/>
            </p:cNvCxnSpPr>
            <p:nvPr/>
          </p:nvCxnSpPr>
          <p:spPr bwMode="auto">
            <a:xfrm flipH="1" flipV="1">
              <a:off x="5141913" y="4972050"/>
              <a:ext cx="36512" cy="492125"/>
            </a:xfrm>
            <a:prstGeom prst="straightConnector1">
              <a:avLst/>
            </a:prstGeom>
            <a:noFill/>
            <a:ln w="31750">
              <a:solidFill>
                <a:srgbClr val="FF0000"/>
              </a:solidFill>
              <a:round/>
              <a:headEnd type="none" w="sm" len="sm"/>
              <a:tailEnd type="triangle" w="sm" len="sm"/>
            </a:ln>
          </p:spPr>
        </p:cxnSp>
        <p:cxnSp>
          <p:nvCxnSpPr>
            <p:cNvPr id="16406" name="AutoShape 35"/>
            <p:cNvCxnSpPr>
              <a:cxnSpLocks noChangeShapeType="1"/>
              <a:stCxn id="16397" idx="0"/>
              <a:endCxn id="16477" idx="2"/>
            </p:cNvCxnSpPr>
            <p:nvPr/>
          </p:nvCxnSpPr>
          <p:spPr bwMode="auto">
            <a:xfrm flipV="1">
              <a:off x="3821113" y="4972050"/>
              <a:ext cx="1320800" cy="492125"/>
            </a:xfrm>
            <a:prstGeom prst="straightConnector1">
              <a:avLst/>
            </a:prstGeom>
            <a:noFill/>
            <a:ln w="31750">
              <a:solidFill>
                <a:srgbClr val="FF0000"/>
              </a:solidFill>
              <a:round/>
              <a:headEnd type="none" w="sm" len="sm"/>
              <a:tailEnd type="triangle" w="sm" len="sm"/>
            </a:ln>
          </p:spPr>
        </p:cxnSp>
        <p:cxnSp>
          <p:nvCxnSpPr>
            <p:cNvPr id="16407" name="AutoShape 36"/>
            <p:cNvCxnSpPr>
              <a:cxnSpLocks noChangeShapeType="1"/>
              <a:stCxn id="16399" idx="0"/>
              <a:endCxn id="16477" idx="2"/>
            </p:cNvCxnSpPr>
            <p:nvPr/>
          </p:nvCxnSpPr>
          <p:spPr bwMode="auto">
            <a:xfrm flipH="1" flipV="1">
              <a:off x="5141913" y="4972050"/>
              <a:ext cx="1393825" cy="492125"/>
            </a:xfrm>
            <a:prstGeom prst="straightConnector1">
              <a:avLst/>
            </a:prstGeom>
            <a:noFill/>
            <a:ln w="31750">
              <a:solidFill>
                <a:srgbClr val="FF0000"/>
              </a:solidFill>
              <a:round/>
              <a:headEnd type="none" w="sm" len="sm"/>
              <a:tailEnd type="triangle" w="sm" len="sm"/>
            </a:ln>
          </p:spPr>
        </p:cxnSp>
        <p:cxnSp>
          <p:nvCxnSpPr>
            <p:cNvPr id="16408" name="AutoShape 37"/>
            <p:cNvCxnSpPr>
              <a:cxnSpLocks noChangeShapeType="1"/>
              <a:stCxn id="16396" idx="0"/>
              <a:endCxn id="16471" idx="2"/>
            </p:cNvCxnSpPr>
            <p:nvPr/>
          </p:nvCxnSpPr>
          <p:spPr bwMode="auto">
            <a:xfrm flipH="1" flipV="1">
              <a:off x="7177088" y="4972050"/>
              <a:ext cx="641350" cy="492125"/>
            </a:xfrm>
            <a:prstGeom prst="straightConnector1">
              <a:avLst/>
            </a:prstGeom>
            <a:noFill/>
            <a:ln w="31750">
              <a:solidFill>
                <a:srgbClr val="FF0000"/>
              </a:solidFill>
              <a:round/>
              <a:headEnd type="none" w="sm" len="sm"/>
              <a:tailEnd type="triangle" w="sm" len="sm"/>
            </a:ln>
          </p:spPr>
        </p:cxnSp>
        <p:cxnSp>
          <p:nvCxnSpPr>
            <p:cNvPr id="16409" name="AutoShape 38"/>
            <p:cNvCxnSpPr>
              <a:cxnSpLocks noChangeShapeType="1"/>
              <a:stCxn id="16400" idx="0"/>
              <a:endCxn id="16483" idx="2"/>
            </p:cNvCxnSpPr>
            <p:nvPr/>
          </p:nvCxnSpPr>
          <p:spPr bwMode="auto">
            <a:xfrm flipV="1">
              <a:off x="2538413" y="4972050"/>
              <a:ext cx="566737" cy="492125"/>
            </a:xfrm>
            <a:prstGeom prst="straightConnector1">
              <a:avLst/>
            </a:prstGeom>
            <a:noFill/>
            <a:ln w="31750">
              <a:solidFill>
                <a:srgbClr val="FF0000"/>
              </a:solidFill>
              <a:round/>
              <a:headEnd type="none" w="sm" len="sm"/>
              <a:tailEnd type="triangle" w="sm" len="sm"/>
            </a:ln>
          </p:spPr>
        </p:cxnSp>
        <p:sp>
          <p:nvSpPr>
            <p:cNvPr id="16410" name="Text Box 39"/>
            <p:cNvSpPr txBox="1">
              <a:spLocks noChangeArrowheads="1"/>
            </p:cNvSpPr>
            <p:nvPr/>
          </p:nvSpPr>
          <p:spPr bwMode="auto">
            <a:xfrm rot="-5400000">
              <a:off x="1235075" y="2859088"/>
              <a:ext cx="703263" cy="433387"/>
            </a:xfrm>
            <a:prstGeom prst="rect">
              <a:avLst/>
            </a:prstGeom>
            <a:solidFill>
              <a:srgbClr val="C0C0C0"/>
            </a:solidFill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algn="ctr"/>
              <a:r>
                <a:rPr lang="de-CH" sz="500"/>
                <a:t>Logische</a:t>
              </a:r>
            </a:p>
            <a:p>
              <a:pPr algn="ctr"/>
              <a:r>
                <a:rPr lang="de-CH" sz="500"/>
                <a:t>Ebene</a:t>
              </a:r>
            </a:p>
          </p:txBody>
        </p:sp>
        <p:sp>
          <p:nvSpPr>
            <p:cNvPr id="16411" name="Text Box 40"/>
            <p:cNvSpPr txBox="1">
              <a:spLocks noChangeArrowheads="1"/>
            </p:cNvSpPr>
            <p:nvPr/>
          </p:nvSpPr>
          <p:spPr bwMode="auto">
            <a:xfrm rot="-5400000">
              <a:off x="1270794" y="5493544"/>
              <a:ext cx="631825" cy="433387"/>
            </a:xfrm>
            <a:prstGeom prst="rect">
              <a:avLst/>
            </a:prstGeom>
            <a:solidFill>
              <a:srgbClr val="C0C0C0"/>
            </a:solidFill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algn="ctr"/>
              <a:r>
                <a:rPr lang="de-CH" sz="500"/>
                <a:t>Daten-</a:t>
              </a:r>
            </a:p>
            <a:p>
              <a:pPr algn="ctr"/>
              <a:r>
                <a:rPr lang="de-CH" sz="500"/>
                <a:t>quellen</a:t>
              </a:r>
            </a:p>
          </p:txBody>
        </p:sp>
        <p:sp>
          <p:nvSpPr>
            <p:cNvPr id="16412" name="Text Box 41"/>
            <p:cNvSpPr txBox="1">
              <a:spLocks noChangeArrowheads="1"/>
            </p:cNvSpPr>
            <p:nvPr/>
          </p:nvSpPr>
          <p:spPr bwMode="auto">
            <a:xfrm rot="-5400000">
              <a:off x="1200151" y="2051050"/>
              <a:ext cx="773112" cy="433387"/>
            </a:xfrm>
            <a:prstGeom prst="rect">
              <a:avLst/>
            </a:prstGeom>
            <a:solidFill>
              <a:srgbClr val="C0C0C0"/>
            </a:solidFill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algn="ctr"/>
              <a:r>
                <a:rPr lang="de-CH" sz="500"/>
                <a:t>Reporting</a:t>
              </a:r>
            </a:p>
          </p:txBody>
        </p:sp>
        <p:cxnSp>
          <p:nvCxnSpPr>
            <p:cNvPr id="16413" name="AutoShape 42"/>
            <p:cNvCxnSpPr>
              <a:cxnSpLocks noChangeShapeType="1"/>
              <a:stCxn id="16483" idx="0"/>
              <a:endCxn id="16462" idx="2"/>
            </p:cNvCxnSpPr>
            <p:nvPr/>
          </p:nvCxnSpPr>
          <p:spPr bwMode="auto">
            <a:xfrm flipV="1">
              <a:off x="3105150" y="4270375"/>
              <a:ext cx="0" cy="209550"/>
            </a:xfrm>
            <a:prstGeom prst="straightConnector1">
              <a:avLst/>
            </a:prstGeom>
            <a:noFill/>
            <a:ln w="31750">
              <a:solidFill>
                <a:srgbClr val="FF0000"/>
              </a:solidFill>
              <a:round/>
              <a:headEnd type="none" w="sm" len="sm"/>
              <a:tailEnd type="triangle" w="sm" len="sm"/>
            </a:ln>
          </p:spPr>
        </p:cxnSp>
        <p:cxnSp>
          <p:nvCxnSpPr>
            <p:cNvPr id="16414" name="AutoShape 43"/>
            <p:cNvCxnSpPr>
              <a:cxnSpLocks noChangeShapeType="1"/>
              <a:stCxn id="16477" idx="0"/>
              <a:endCxn id="16453" idx="2"/>
            </p:cNvCxnSpPr>
            <p:nvPr/>
          </p:nvCxnSpPr>
          <p:spPr bwMode="auto">
            <a:xfrm flipV="1">
              <a:off x="5141913" y="4270375"/>
              <a:ext cx="0" cy="209550"/>
            </a:xfrm>
            <a:prstGeom prst="straightConnector1">
              <a:avLst/>
            </a:prstGeom>
            <a:noFill/>
            <a:ln w="31750">
              <a:solidFill>
                <a:srgbClr val="FF0000"/>
              </a:solidFill>
              <a:round/>
              <a:headEnd type="none" w="sm" len="sm"/>
              <a:tailEnd type="triangle" w="sm" len="sm"/>
            </a:ln>
          </p:spPr>
        </p:cxnSp>
        <p:cxnSp>
          <p:nvCxnSpPr>
            <p:cNvPr id="16415" name="AutoShape 44"/>
            <p:cNvCxnSpPr>
              <a:cxnSpLocks noChangeShapeType="1"/>
              <a:stCxn id="16471" idx="0"/>
              <a:endCxn id="16444" idx="2"/>
            </p:cNvCxnSpPr>
            <p:nvPr/>
          </p:nvCxnSpPr>
          <p:spPr bwMode="auto">
            <a:xfrm flipV="1">
              <a:off x="7177088" y="4270375"/>
              <a:ext cx="0" cy="209550"/>
            </a:xfrm>
            <a:prstGeom prst="straightConnector1">
              <a:avLst/>
            </a:prstGeom>
            <a:noFill/>
            <a:ln w="31750">
              <a:solidFill>
                <a:srgbClr val="FF0000"/>
              </a:solidFill>
              <a:round/>
              <a:headEnd type="none" w="sm" len="sm"/>
              <a:tailEnd type="triangle" w="sm" len="sm"/>
            </a:ln>
          </p:spPr>
        </p:cxnSp>
        <p:sp>
          <p:nvSpPr>
            <p:cNvPr id="16416" name="Text Box 45"/>
            <p:cNvSpPr txBox="1">
              <a:spLocks noChangeArrowheads="1"/>
            </p:cNvSpPr>
            <p:nvPr/>
          </p:nvSpPr>
          <p:spPr bwMode="auto">
            <a:xfrm>
              <a:off x="2049463" y="2724150"/>
              <a:ext cx="979487" cy="703263"/>
            </a:xfrm>
            <a:prstGeom prst="rect">
              <a:avLst/>
            </a:prstGeom>
            <a:gradFill rotWithShape="0">
              <a:gsLst>
                <a:gs pos="0">
                  <a:srgbClr val="D7D7FF"/>
                </a:gs>
                <a:gs pos="100000">
                  <a:srgbClr val="BDBDFF"/>
                </a:gs>
              </a:gsLst>
              <a:lin ang="5400000" scaled="1"/>
            </a:gradFill>
            <a:ln w="12700">
              <a:solidFill>
                <a:schemeClr val="tx1"/>
              </a:solidFill>
              <a:prstDash val="dash"/>
              <a:miter lim="800000"/>
              <a:headEnd type="none" w="sm" len="sm"/>
              <a:tailEnd type="none" w="sm" len="sm"/>
            </a:ln>
          </p:spPr>
          <p:txBody>
            <a:bodyPr lIns="18000" tIns="10800" rIns="18000" bIns="10800" anchorCtr="1"/>
            <a:lstStyle/>
            <a:p>
              <a:pPr algn="ctr"/>
              <a:r>
                <a:rPr lang="de-CH" sz="500"/>
                <a:t>Data Mart A</a:t>
              </a:r>
            </a:p>
          </p:txBody>
        </p:sp>
        <p:sp>
          <p:nvSpPr>
            <p:cNvPr id="16417" name="Text Box 46"/>
            <p:cNvSpPr txBox="1">
              <a:spLocks noChangeArrowheads="1"/>
            </p:cNvSpPr>
            <p:nvPr/>
          </p:nvSpPr>
          <p:spPr bwMode="auto">
            <a:xfrm>
              <a:off x="3105150" y="2724150"/>
              <a:ext cx="979488" cy="703263"/>
            </a:xfrm>
            <a:prstGeom prst="rect">
              <a:avLst/>
            </a:prstGeom>
            <a:gradFill rotWithShape="0">
              <a:gsLst>
                <a:gs pos="0">
                  <a:srgbClr val="D7D7FF"/>
                </a:gs>
                <a:gs pos="100000">
                  <a:srgbClr val="BDBDFF"/>
                </a:gs>
              </a:gsLst>
              <a:lin ang="5400000" scaled="1"/>
            </a:gradFill>
            <a:ln w="12700">
              <a:solidFill>
                <a:schemeClr val="tx1"/>
              </a:solidFill>
              <a:prstDash val="dash"/>
              <a:miter lim="800000"/>
              <a:headEnd type="none" w="sm" len="sm"/>
              <a:tailEnd type="none" w="sm" len="sm"/>
            </a:ln>
          </p:spPr>
          <p:txBody>
            <a:bodyPr lIns="18000" tIns="10800" rIns="18000" bIns="10800" anchorCtr="1"/>
            <a:lstStyle/>
            <a:p>
              <a:pPr algn="ctr"/>
              <a:r>
                <a:rPr lang="de-CH" sz="500"/>
                <a:t>Data Mart B</a:t>
              </a:r>
            </a:p>
          </p:txBody>
        </p:sp>
        <p:sp>
          <p:nvSpPr>
            <p:cNvPr id="16418" name="Text Box 47"/>
            <p:cNvSpPr txBox="1">
              <a:spLocks noChangeArrowheads="1"/>
            </p:cNvSpPr>
            <p:nvPr/>
          </p:nvSpPr>
          <p:spPr bwMode="auto">
            <a:xfrm>
              <a:off x="4160838" y="2724150"/>
              <a:ext cx="981075" cy="703263"/>
            </a:xfrm>
            <a:prstGeom prst="rect">
              <a:avLst/>
            </a:prstGeom>
            <a:gradFill rotWithShape="0">
              <a:gsLst>
                <a:gs pos="0">
                  <a:srgbClr val="D7D7FF"/>
                </a:gs>
                <a:gs pos="100000">
                  <a:srgbClr val="BDBDFF"/>
                </a:gs>
              </a:gsLst>
              <a:lin ang="5400000" scaled="1"/>
            </a:gradFill>
            <a:ln w="12700">
              <a:solidFill>
                <a:schemeClr val="tx1"/>
              </a:solidFill>
              <a:prstDash val="dash"/>
              <a:miter lim="800000"/>
              <a:headEnd type="none" w="sm" len="sm"/>
              <a:tailEnd type="none" w="sm" len="sm"/>
            </a:ln>
          </p:spPr>
          <p:txBody>
            <a:bodyPr lIns="18000" tIns="10800" rIns="18000" bIns="10800" anchorCtr="1"/>
            <a:lstStyle/>
            <a:p>
              <a:pPr algn="ctr"/>
              <a:r>
                <a:rPr lang="de-CH" sz="500"/>
                <a:t>Data Mart C</a:t>
              </a:r>
            </a:p>
          </p:txBody>
        </p:sp>
        <p:sp>
          <p:nvSpPr>
            <p:cNvPr id="16419" name="Text Box 48"/>
            <p:cNvSpPr txBox="1">
              <a:spLocks noChangeArrowheads="1"/>
            </p:cNvSpPr>
            <p:nvPr/>
          </p:nvSpPr>
          <p:spPr bwMode="auto">
            <a:xfrm>
              <a:off x="5216525" y="2724150"/>
              <a:ext cx="981075" cy="703263"/>
            </a:xfrm>
            <a:prstGeom prst="rect">
              <a:avLst/>
            </a:prstGeom>
            <a:gradFill rotWithShape="0">
              <a:gsLst>
                <a:gs pos="0">
                  <a:srgbClr val="D7D7FF"/>
                </a:gs>
                <a:gs pos="100000">
                  <a:srgbClr val="BDBDFF"/>
                </a:gs>
              </a:gsLst>
              <a:lin ang="5400000" scaled="1"/>
            </a:gradFill>
            <a:ln w="12700">
              <a:solidFill>
                <a:schemeClr val="tx1"/>
              </a:solidFill>
              <a:prstDash val="dash"/>
              <a:miter lim="800000"/>
              <a:headEnd type="none" w="sm" len="sm"/>
              <a:tailEnd type="none" w="sm" len="sm"/>
            </a:ln>
          </p:spPr>
          <p:txBody>
            <a:bodyPr lIns="18000" tIns="10800" rIns="18000" bIns="10800" anchorCtr="1"/>
            <a:lstStyle/>
            <a:p>
              <a:pPr algn="ctr"/>
              <a:r>
                <a:rPr lang="de-CH" sz="500"/>
                <a:t>Data Mart D</a:t>
              </a:r>
            </a:p>
          </p:txBody>
        </p:sp>
        <p:sp>
          <p:nvSpPr>
            <p:cNvPr id="16420" name="Text Box 49"/>
            <p:cNvSpPr txBox="1">
              <a:spLocks noChangeArrowheads="1"/>
            </p:cNvSpPr>
            <p:nvPr/>
          </p:nvSpPr>
          <p:spPr bwMode="auto">
            <a:xfrm>
              <a:off x="6272213" y="2724150"/>
              <a:ext cx="981075" cy="703263"/>
            </a:xfrm>
            <a:prstGeom prst="rect">
              <a:avLst/>
            </a:prstGeom>
            <a:gradFill rotWithShape="0">
              <a:gsLst>
                <a:gs pos="0">
                  <a:srgbClr val="D7D7FF"/>
                </a:gs>
                <a:gs pos="100000">
                  <a:srgbClr val="BDBDFF"/>
                </a:gs>
              </a:gsLst>
              <a:lin ang="5400000" scaled="1"/>
            </a:gradFill>
            <a:ln w="12700">
              <a:solidFill>
                <a:schemeClr val="tx1"/>
              </a:solidFill>
              <a:prstDash val="dash"/>
              <a:miter lim="800000"/>
              <a:headEnd type="none" w="sm" len="sm"/>
              <a:tailEnd type="none" w="sm" len="sm"/>
            </a:ln>
          </p:spPr>
          <p:txBody>
            <a:bodyPr lIns="18000" tIns="10800" rIns="18000" bIns="10800" anchorCtr="1"/>
            <a:lstStyle/>
            <a:p>
              <a:pPr algn="ctr"/>
              <a:r>
                <a:rPr lang="de-CH" sz="500"/>
                <a:t>Data Mart E</a:t>
              </a:r>
            </a:p>
          </p:txBody>
        </p:sp>
        <p:sp>
          <p:nvSpPr>
            <p:cNvPr id="16421" name="Text Box 50"/>
            <p:cNvSpPr txBox="1">
              <a:spLocks noChangeArrowheads="1"/>
            </p:cNvSpPr>
            <p:nvPr/>
          </p:nvSpPr>
          <p:spPr bwMode="auto">
            <a:xfrm>
              <a:off x="7327900" y="2724150"/>
              <a:ext cx="981075" cy="703263"/>
            </a:xfrm>
            <a:prstGeom prst="rect">
              <a:avLst/>
            </a:prstGeom>
            <a:gradFill rotWithShape="0">
              <a:gsLst>
                <a:gs pos="0">
                  <a:srgbClr val="D7D7FF"/>
                </a:gs>
                <a:gs pos="100000">
                  <a:srgbClr val="BDBDFF"/>
                </a:gs>
              </a:gsLst>
              <a:lin ang="5400000" scaled="1"/>
            </a:gradFill>
            <a:ln w="12700">
              <a:solidFill>
                <a:schemeClr val="tx1"/>
              </a:solidFill>
              <a:prstDash val="dash"/>
              <a:miter lim="800000"/>
              <a:headEnd type="none" w="sm" len="sm"/>
              <a:tailEnd type="none" w="sm" len="sm"/>
            </a:ln>
          </p:spPr>
          <p:txBody>
            <a:bodyPr lIns="18000" tIns="10800" rIns="18000" bIns="10800" anchorCtr="1"/>
            <a:lstStyle/>
            <a:p>
              <a:pPr algn="ctr"/>
              <a:r>
                <a:rPr lang="de-CH" sz="500"/>
                <a:t>Data Mart F</a:t>
              </a:r>
            </a:p>
          </p:txBody>
        </p:sp>
        <p:grpSp>
          <p:nvGrpSpPr>
            <p:cNvPr id="16422" name="Group 51"/>
            <p:cNvGrpSpPr>
              <a:grpSpLocks/>
            </p:cNvGrpSpPr>
            <p:nvPr/>
          </p:nvGrpSpPr>
          <p:grpSpPr bwMode="auto">
            <a:xfrm>
              <a:off x="2274888" y="3567111"/>
              <a:ext cx="1658937" cy="731099"/>
              <a:chOff x="1488" y="2112"/>
              <a:chExt cx="1056" cy="499"/>
            </a:xfrm>
          </p:grpSpPr>
          <p:sp>
            <p:nvSpPr>
              <p:cNvPr id="16462" name="Text Box 52"/>
              <p:cNvSpPr txBox="1">
                <a:spLocks noChangeArrowheads="1"/>
              </p:cNvSpPr>
              <p:nvPr/>
            </p:nvSpPr>
            <p:spPr bwMode="auto">
              <a:xfrm>
                <a:off x="1488" y="2112"/>
                <a:ext cx="1056" cy="480"/>
              </a:xfrm>
              <a:prstGeom prst="rect">
                <a:avLst/>
              </a:prstGeom>
              <a:gradFill rotWithShape="0">
                <a:gsLst>
                  <a:gs pos="0">
                    <a:srgbClr val="D7D7FF"/>
                  </a:gs>
                  <a:gs pos="100000">
                    <a:srgbClr val="BDBDFF"/>
                  </a:gs>
                </a:gsLst>
                <a:lin ang="5400000" scaled="1"/>
              </a:gradFill>
              <a:ln w="12700">
                <a:solidFill>
                  <a:schemeClr val="tx1"/>
                </a:solidFill>
                <a:prstDash val="dash"/>
                <a:miter lim="800000"/>
                <a:headEnd type="none" w="sm" len="sm"/>
                <a:tailEnd type="none" w="sm" len="sm"/>
              </a:ln>
            </p:spPr>
            <p:txBody>
              <a:bodyPr wrap="none" tIns="10800" bIns="10800" anchorCtr="1"/>
              <a:lstStyle/>
              <a:p>
                <a:pPr algn="ctr"/>
                <a:endParaRPr lang="en-GB" sz="500"/>
              </a:p>
            </p:txBody>
          </p:sp>
          <p:sp>
            <p:nvSpPr>
              <p:cNvPr id="16463" name="AutoShape 53"/>
              <p:cNvSpPr>
                <a:spLocks noChangeArrowheads="1"/>
              </p:cNvSpPr>
              <p:nvPr/>
            </p:nvSpPr>
            <p:spPr bwMode="auto">
              <a:xfrm>
                <a:off x="1584" y="2400"/>
                <a:ext cx="144" cy="144"/>
              </a:xfrm>
              <a:prstGeom prst="can">
                <a:avLst>
                  <a:gd name="adj" fmla="val 25000"/>
                </a:avLst>
              </a:prstGeom>
              <a:solidFill>
                <a:srgbClr val="FFFFFF"/>
              </a:solidFill>
              <a:ln w="12700">
                <a:solidFill>
                  <a:srgbClr val="969696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de-DE" sz="500"/>
              </a:p>
            </p:txBody>
          </p:sp>
          <p:sp>
            <p:nvSpPr>
              <p:cNvPr id="16464" name="AutoShape 54"/>
              <p:cNvSpPr>
                <a:spLocks noChangeArrowheads="1"/>
              </p:cNvSpPr>
              <p:nvPr/>
            </p:nvSpPr>
            <p:spPr bwMode="auto">
              <a:xfrm>
                <a:off x="1776" y="2400"/>
                <a:ext cx="144" cy="144"/>
              </a:xfrm>
              <a:prstGeom prst="can">
                <a:avLst>
                  <a:gd name="adj" fmla="val 25000"/>
                </a:avLst>
              </a:prstGeom>
              <a:solidFill>
                <a:srgbClr val="FFFFFF"/>
              </a:solidFill>
              <a:ln w="12700">
                <a:solidFill>
                  <a:srgbClr val="969696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de-DE" sz="500"/>
              </a:p>
            </p:txBody>
          </p:sp>
          <p:sp>
            <p:nvSpPr>
              <p:cNvPr id="16465" name="AutoShape 55"/>
              <p:cNvSpPr>
                <a:spLocks noChangeArrowheads="1"/>
              </p:cNvSpPr>
              <p:nvPr/>
            </p:nvSpPr>
            <p:spPr bwMode="auto">
              <a:xfrm>
                <a:off x="2304" y="2400"/>
                <a:ext cx="144" cy="144"/>
              </a:xfrm>
              <a:prstGeom prst="can">
                <a:avLst>
                  <a:gd name="adj" fmla="val 25000"/>
                </a:avLst>
              </a:prstGeom>
              <a:solidFill>
                <a:srgbClr val="FFFFFF"/>
              </a:solidFill>
              <a:ln w="12700">
                <a:solidFill>
                  <a:srgbClr val="969696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de-DE" sz="500"/>
              </a:p>
            </p:txBody>
          </p:sp>
          <p:sp>
            <p:nvSpPr>
              <p:cNvPr id="16466" name="Text Box 56"/>
              <p:cNvSpPr txBox="1">
                <a:spLocks noChangeArrowheads="1"/>
              </p:cNvSpPr>
              <p:nvPr/>
            </p:nvSpPr>
            <p:spPr bwMode="auto">
              <a:xfrm>
                <a:off x="1920" y="2401"/>
                <a:ext cx="292" cy="210"/>
              </a:xfrm>
              <a:prstGeom prst="rect">
                <a:avLst/>
              </a:prstGeom>
              <a:noFill/>
              <a:ln w="12700">
                <a:noFill/>
                <a:miter lim="800000"/>
                <a:headEnd type="none" w="sm" len="sm"/>
                <a:tailEnd type="none" w="sm" len="sm"/>
              </a:ln>
            </p:spPr>
            <p:txBody>
              <a:bodyPr wrap="none">
                <a:spAutoFit/>
              </a:bodyPr>
              <a:lstStyle/>
              <a:p>
                <a:r>
                  <a:rPr lang="de-CH" sz="500" b="1"/>
                  <a:t>...</a:t>
                </a:r>
              </a:p>
            </p:txBody>
          </p:sp>
          <p:sp>
            <p:nvSpPr>
              <p:cNvPr id="16467" name="AutoShape 57"/>
              <p:cNvSpPr>
                <a:spLocks noChangeArrowheads="1"/>
              </p:cNvSpPr>
              <p:nvPr/>
            </p:nvSpPr>
            <p:spPr bwMode="auto">
              <a:xfrm>
                <a:off x="2112" y="2400"/>
                <a:ext cx="144" cy="144"/>
              </a:xfrm>
              <a:prstGeom prst="can">
                <a:avLst>
                  <a:gd name="adj" fmla="val 25000"/>
                </a:avLst>
              </a:prstGeom>
              <a:solidFill>
                <a:srgbClr val="FFFFFF"/>
              </a:solidFill>
              <a:ln w="12700">
                <a:solidFill>
                  <a:srgbClr val="969696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de-DE" sz="500"/>
              </a:p>
            </p:txBody>
          </p:sp>
          <p:pic>
            <p:nvPicPr>
              <p:cNvPr id="16468" name="Picture 58"/>
              <p:cNvPicPr>
                <a:picLocks noChangeAspect="1" noChangeArrowheads="1"/>
              </p:cNvPicPr>
              <p:nvPr/>
            </p:nvPicPr>
            <p:blipFill>
              <a:blip r:embed="rId3" cstate="print"/>
              <a:srcRect/>
              <a:stretch>
                <a:fillRect/>
              </a:stretch>
            </p:blipFill>
            <p:spPr bwMode="auto">
              <a:xfrm>
                <a:off x="1632" y="2160"/>
                <a:ext cx="192" cy="191"/>
              </a:xfrm>
              <a:prstGeom prst="rect">
                <a:avLst/>
              </a:prstGeom>
              <a:noFill/>
              <a:ln w="12700">
                <a:noFill/>
                <a:miter lim="800000"/>
                <a:headEnd type="none" w="sm" len="sm"/>
                <a:tailEnd type="none" w="sm" len="sm"/>
              </a:ln>
            </p:spPr>
          </p:pic>
          <p:pic>
            <p:nvPicPr>
              <p:cNvPr id="16469" name="Picture 59"/>
              <p:cNvPicPr>
                <a:picLocks noChangeAspect="1" noChangeArrowheads="1"/>
              </p:cNvPicPr>
              <p:nvPr/>
            </p:nvPicPr>
            <p:blipFill>
              <a:blip r:embed="rId3" cstate="print"/>
              <a:srcRect/>
              <a:stretch>
                <a:fillRect/>
              </a:stretch>
            </p:blipFill>
            <p:spPr bwMode="auto">
              <a:xfrm>
                <a:off x="1920" y="2160"/>
                <a:ext cx="192" cy="191"/>
              </a:xfrm>
              <a:prstGeom prst="rect">
                <a:avLst/>
              </a:prstGeom>
              <a:noFill/>
              <a:ln w="12700">
                <a:noFill/>
                <a:miter lim="800000"/>
                <a:headEnd type="none" w="sm" len="sm"/>
                <a:tailEnd type="none" w="sm" len="sm"/>
              </a:ln>
            </p:spPr>
          </p:pic>
          <p:pic>
            <p:nvPicPr>
              <p:cNvPr id="16470" name="Picture 60"/>
              <p:cNvPicPr>
                <a:picLocks noChangeAspect="1" noChangeArrowheads="1"/>
              </p:cNvPicPr>
              <p:nvPr/>
            </p:nvPicPr>
            <p:blipFill>
              <a:blip r:embed="rId3" cstate="print"/>
              <a:srcRect/>
              <a:stretch>
                <a:fillRect/>
              </a:stretch>
            </p:blipFill>
            <p:spPr bwMode="auto">
              <a:xfrm>
                <a:off x="2208" y="2160"/>
                <a:ext cx="192" cy="191"/>
              </a:xfrm>
              <a:prstGeom prst="rect">
                <a:avLst/>
              </a:prstGeom>
              <a:noFill/>
              <a:ln w="12700">
                <a:noFill/>
                <a:miter lim="800000"/>
                <a:headEnd type="none" w="sm" len="sm"/>
                <a:tailEnd type="none" w="sm" len="sm"/>
              </a:ln>
            </p:spPr>
          </p:pic>
        </p:grpSp>
        <p:grpSp>
          <p:nvGrpSpPr>
            <p:cNvPr id="16423" name="Group 61"/>
            <p:cNvGrpSpPr>
              <a:grpSpLocks/>
            </p:cNvGrpSpPr>
            <p:nvPr/>
          </p:nvGrpSpPr>
          <p:grpSpPr bwMode="auto">
            <a:xfrm>
              <a:off x="4311650" y="3567111"/>
              <a:ext cx="1658938" cy="731099"/>
              <a:chOff x="2640" y="2112"/>
              <a:chExt cx="1056" cy="499"/>
            </a:xfrm>
          </p:grpSpPr>
          <p:sp>
            <p:nvSpPr>
              <p:cNvPr id="16453" name="Text Box 62"/>
              <p:cNvSpPr txBox="1">
                <a:spLocks noChangeArrowheads="1"/>
              </p:cNvSpPr>
              <p:nvPr/>
            </p:nvSpPr>
            <p:spPr bwMode="auto">
              <a:xfrm>
                <a:off x="2640" y="2112"/>
                <a:ext cx="1056" cy="480"/>
              </a:xfrm>
              <a:prstGeom prst="rect">
                <a:avLst/>
              </a:prstGeom>
              <a:gradFill rotWithShape="0">
                <a:gsLst>
                  <a:gs pos="0">
                    <a:srgbClr val="D7D7FF"/>
                  </a:gs>
                  <a:gs pos="100000">
                    <a:srgbClr val="BDBDFF"/>
                  </a:gs>
                </a:gsLst>
                <a:lin ang="5400000" scaled="1"/>
              </a:gradFill>
              <a:ln w="12700">
                <a:solidFill>
                  <a:schemeClr val="tx1"/>
                </a:solidFill>
                <a:prstDash val="dash"/>
                <a:miter lim="800000"/>
                <a:headEnd type="none" w="sm" len="sm"/>
                <a:tailEnd type="none" w="sm" len="sm"/>
              </a:ln>
            </p:spPr>
            <p:txBody>
              <a:bodyPr wrap="none" tIns="10800" bIns="10800" anchorCtr="1"/>
              <a:lstStyle/>
              <a:p>
                <a:pPr algn="ctr"/>
                <a:endParaRPr lang="en-GB" sz="500"/>
              </a:p>
            </p:txBody>
          </p:sp>
          <p:sp>
            <p:nvSpPr>
              <p:cNvPr id="16454" name="AutoShape 63"/>
              <p:cNvSpPr>
                <a:spLocks noChangeArrowheads="1"/>
              </p:cNvSpPr>
              <p:nvPr/>
            </p:nvSpPr>
            <p:spPr bwMode="auto">
              <a:xfrm>
                <a:off x="2736" y="2400"/>
                <a:ext cx="144" cy="144"/>
              </a:xfrm>
              <a:prstGeom prst="can">
                <a:avLst>
                  <a:gd name="adj" fmla="val 25000"/>
                </a:avLst>
              </a:prstGeom>
              <a:solidFill>
                <a:srgbClr val="FFFFFF"/>
              </a:solidFill>
              <a:ln w="12700">
                <a:solidFill>
                  <a:srgbClr val="969696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de-DE" sz="500"/>
              </a:p>
            </p:txBody>
          </p:sp>
          <p:sp>
            <p:nvSpPr>
              <p:cNvPr id="16455" name="AutoShape 64"/>
              <p:cNvSpPr>
                <a:spLocks noChangeArrowheads="1"/>
              </p:cNvSpPr>
              <p:nvPr/>
            </p:nvSpPr>
            <p:spPr bwMode="auto">
              <a:xfrm>
                <a:off x="2928" y="2400"/>
                <a:ext cx="144" cy="144"/>
              </a:xfrm>
              <a:prstGeom prst="can">
                <a:avLst>
                  <a:gd name="adj" fmla="val 25000"/>
                </a:avLst>
              </a:prstGeom>
              <a:solidFill>
                <a:srgbClr val="FFFFFF"/>
              </a:solidFill>
              <a:ln w="12700">
                <a:solidFill>
                  <a:srgbClr val="969696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de-DE" sz="500"/>
              </a:p>
            </p:txBody>
          </p:sp>
          <p:sp>
            <p:nvSpPr>
              <p:cNvPr id="16456" name="AutoShape 65"/>
              <p:cNvSpPr>
                <a:spLocks noChangeArrowheads="1"/>
              </p:cNvSpPr>
              <p:nvPr/>
            </p:nvSpPr>
            <p:spPr bwMode="auto">
              <a:xfrm>
                <a:off x="3456" y="2400"/>
                <a:ext cx="144" cy="144"/>
              </a:xfrm>
              <a:prstGeom prst="can">
                <a:avLst>
                  <a:gd name="adj" fmla="val 25000"/>
                </a:avLst>
              </a:prstGeom>
              <a:solidFill>
                <a:srgbClr val="FFFFFF"/>
              </a:solidFill>
              <a:ln w="12700">
                <a:solidFill>
                  <a:srgbClr val="969696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de-DE" sz="500"/>
              </a:p>
            </p:txBody>
          </p:sp>
          <p:sp>
            <p:nvSpPr>
              <p:cNvPr id="16457" name="Text Box 66"/>
              <p:cNvSpPr txBox="1">
                <a:spLocks noChangeArrowheads="1"/>
              </p:cNvSpPr>
              <p:nvPr/>
            </p:nvSpPr>
            <p:spPr bwMode="auto">
              <a:xfrm>
                <a:off x="3072" y="2401"/>
                <a:ext cx="292" cy="210"/>
              </a:xfrm>
              <a:prstGeom prst="rect">
                <a:avLst/>
              </a:prstGeom>
              <a:noFill/>
              <a:ln w="12700">
                <a:noFill/>
                <a:miter lim="800000"/>
                <a:headEnd type="none" w="sm" len="sm"/>
                <a:tailEnd type="none" w="sm" len="sm"/>
              </a:ln>
            </p:spPr>
            <p:txBody>
              <a:bodyPr wrap="none">
                <a:spAutoFit/>
              </a:bodyPr>
              <a:lstStyle/>
              <a:p>
                <a:r>
                  <a:rPr lang="de-CH" sz="500" b="1"/>
                  <a:t>...</a:t>
                </a:r>
              </a:p>
            </p:txBody>
          </p:sp>
          <p:sp>
            <p:nvSpPr>
              <p:cNvPr id="16458" name="AutoShape 67"/>
              <p:cNvSpPr>
                <a:spLocks noChangeArrowheads="1"/>
              </p:cNvSpPr>
              <p:nvPr/>
            </p:nvSpPr>
            <p:spPr bwMode="auto">
              <a:xfrm>
                <a:off x="3264" y="2400"/>
                <a:ext cx="144" cy="144"/>
              </a:xfrm>
              <a:prstGeom prst="can">
                <a:avLst>
                  <a:gd name="adj" fmla="val 25000"/>
                </a:avLst>
              </a:prstGeom>
              <a:solidFill>
                <a:srgbClr val="FFFFFF"/>
              </a:solidFill>
              <a:ln w="12700">
                <a:solidFill>
                  <a:srgbClr val="969696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de-DE" sz="500"/>
              </a:p>
            </p:txBody>
          </p:sp>
          <p:pic>
            <p:nvPicPr>
              <p:cNvPr id="16459" name="Picture 68"/>
              <p:cNvPicPr>
                <a:picLocks noChangeAspect="1" noChangeArrowheads="1"/>
              </p:cNvPicPr>
              <p:nvPr/>
            </p:nvPicPr>
            <p:blipFill>
              <a:blip r:embed="rId3" cstate="print"/>
              <a:srcRect/>
              <a:stretch>
                <a:fillRect/>
              </a:stretch>
            </p:blipFill>
            <p:spPr bwMode="auto">
              <a:xfrm>
                <a:off x="2784" y="2160"/>
                <a:ext cx="192" cy="191"/>
              </a:xfrm>
              <a:prstGeom prst="rect">
                <a:avLst/>
              </a:prstGeom>
              <a:noFill/>
              <a:ln w="12700">
                <a:noFill/>
                <a:miter lim="800000"/>
                <a:headEnd type="none" w="sm" len="sm"/>
                <a:tailEnd type="none" w="sm" len="sm"/>
              </a:ln>
            </p:spPr>
          </p:pic>
          <p:pic>
            <p:nvPicPr>
              <p:cNvPr id="16460" name="Picture 69"/>
              <p:cNvPicPr>
                <a:picLocks noChangeAspect="1" noChangeArrowheads="1"/>
              </p:cNvPicPr>
              <p:nvPr/>
            </p:nvPicPr>
            <p:blipFill>
              <a:blip r:embed="rId3" cstate="print"/>
              <a:srcRect/>
              <a:stretch>
                <a:fillRect/>
              </a:stretch>
            </p:blipFill>
            <p:spPr bwMode="auto">
              <a:xfrm>
                <a:off x="3072" y="2160"/>
                <a:ext cx="192" cy="191"/>
              </a:xfrm>
              <a:prstGeom prst="rect">
                <a:avLst/>
              </a:prstGeom>
              <a:noFill/>
              <a:ln w="12700">
                <a:noFill/>
                <a:miter lim="800000"/>
                <a:headEnd type="none" w="sm" len="sm"/>
                <a:tailEnd type="none" w="sm" len="sm"/>
              </a:ln>
            </p:spPr>
          </p:pic>
          <p:pic>
            <p:nvPicPr>
              <p:cNvPr id="16461" name="Picture 70"/>
              <p:cNvPicPr>
                <a:picLocks noChangeAspect="1" noChangeArrowheads="1"/>
              </p:cNvPicPr>
              <p:nvPr/>
            </p:nvPicPr>
            <p:blipFill>
              <a:blip r:embed="rId3" cstate="print"/>
              <a:srcRect/>
              <a:stretch>
                <a:fillRect/>
              </a:stretch>
            </p:blipFill>
            <p:spPr bwMode="auto">
              <a:xfrm>
                <a:off x="3360" y="2160"/>
                <a:ext cx="192" cy="191"/>
              </a:xfrm>
              <a:prstGeom prst="rect">
                <a:avLst/>
              </a:prstGeom>
              <a:noFill/>
              <a:ln w="12700">
                <a:noFill/>
                <a:miter lim="800000"/>
                <a:headEnd type="none" w="sm" len="sm"/>
                <a:tailEnd type="none" w="sm" len="sm"/>
              </a:ln>
            </p:spPr>
          </p:pic>
        </p:grpSp>
        <p:grpSp>
          <p:nvGrpSpPr>
            <p:cNvPr id="16424" name="Group 71"/>
            <p:cNvGrpSpPr>
              <a:grpSpLocks/>
            </p:cNvGrpSpPr>
            <p:nvPr/>
          </p:nvGrpSpPr>
          <p:grpSpPr bwMode="auto">
            <a:xfrm>
              <a:off x="6348413" y="3567111"/>
              <a:ext cx="1658937" cy="731099"/>
              <a:chOff x="3792" y="2112"/>
              <a:chExt cx="1056" cy="499"/>
            </a:xfrm>
          </p:grpSpPr>
          <p:sp>
            <p:nvSpPr>
              <p:cNvPr id="16444" name="Text Box 72"/>
              <p:cNvSpPr txBox="1">
                <a:spLocks noChangeArrowheads="1"/>
              </p:cNvSpPr>
              <p:nvPr/>
            </p:nvSpPr>
            <p:spPr bwMode="auto">
              <a:xfrm>
                <a:off x="3792" y="2112"/>
                <a:ext cx="1056" cy="480"/>
              </a:xfrm>
              <a:prstGeom prst="rect">
                <a:avLst/>
              </a:prstGeom>
              <a:gradFill rotWithShape="0">
                <a:gsLst>
                  <a:gs pos="0">
                    <a:srgbClr val="D7D7FF"/>
                  </a:gs>
                  <a:gs pos="100000">
                    <a:srgbClr val="BDBDFF"/>
                  </a:gs>
                </a:gsLst>
                <a:lin ang="5400000" scaled="1"/>
              </a:gradFill>
              <a:ln w="12700">
                <a:solidFill>
                  <a:schemeClr val="tx1"/>
                </a:solidFill>
                <a:prstDash val="dash"/>
                <a:miter lim="800000"/>
                <a:headEnd type="none" w="sm" len="sm"/>
                <a:tailEnd type="none" w="sm" len="sm"/>
              </a:ln>
            </p:spPr>
            <p:txBody>
              <a:bodyPr wrap="none" tIns="10800" bIns="10800" anchorCtr="1"/>
              <a:lstStyle/>
              <a:p>
                <a:pPr algn="ctr"/>
                <a:endParaRPr lang="en-GB" sz="500"/>
              </a:p>
            </p:txBody>
          </p:sp>
          <p:sp>
            <p:nvSpPr>
              <p:cNvPr id="16445" name="AutoShape 73"/>
              <p:cNvSpPr>
                <a:spLocks noChangeArrowheads="1"/>
              </p:cNvSpPr>
              <p:nvPr/>
            </p:nvSpPr>
            <p:spPr bwMode="auto">
              <a:xfrm>
                <a:off x="3888" y="2400"/>
                <a:ext cx="144" cy="144"/>
              </a:xfrm>
              <a:prstGeom prst="can">
                <a:avLst>
                  <a:gd name="adj" fmla="val 25000"/>
                </a:avLst>
              </a:prstGeom>
              <a:solidFill>
                <a:srgbClr val="FFFFFF"/>
              </a:solidFill>
              <a:ln w="12700">
                <a:solidFill>
                  <a:srgbClr val="969696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de-DE" sz="500"/>
              </a:p>
            </p:txBody>
          </p:sp>
          <p:sp>
            <p:nvSpPr>
              <p:cNvPr id="16446" name="AutoShape 74"/>
              <p:cNvSpPr>
                <a:spLocks noChangeArrowheads="1"/>
              </p:cNvSpPr>
              <p:nvPr/>
            </p:nvSpPr>
            <p:spPr bwMode="auto">
              <a:xfrm>
                <a:off x="4080" y="2400"/>
                <a:ext cx="144" cy="144"/>
              </a:xfrm>
              <a:prstGeom prst="can">
                <a:avLst>
                  <a:gd name="adj" fmla="val 25000"/>
                </a:avLst>
              </a:prstGeom>
              <a:solidFill>
                <a:srgbClr val="FFFFFF"/>
              </a:solidFill>
              <a:ln w="12700">
                <a:solidFill>
                  <a:srgbClr val="969696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de-DE" sz="500"/>
              </a:p>
            </p:txBody>
          </p:sp>
          <p:sp>
            <p:nvSpPr>
              <p:cNvPr id="16447" name="AutoShape 75"/>
              <p:cNvSpPr>
                <a:spLocks noChangeArrowheads="1"/>
              </p:cNvSpPr>
              <p:nvPr/>
            </p:nvSpPr>
            <p:spPr bwMode="auto">
              <a:xfrm>
                <a:off x="4608" y="2400"/>
                <a:ext cx="144" cy="144"/>
              </a:xfrm>
              <a:prstGeom prst="can">
                <a:avLst>
                  <a:gd name="adj" fmla="val 25000"/>
                </a:avLst>
              </a:prstGeom>
              <a:solidFill>
                <a:srgbClr val="FFFFFF"/>
              </a:solidFill>
              <a:ln w="12700">
                <a:solidFill>
                  <a:srgbClr val="969696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de-DE" sz="500"/>
              </a:p>
            </p:txBody>
          </p:sp>
          <p:sp>
            <p:nvSpPr>
              <p:cNvPr id="16448" name="Text Box 76"/>
              <p:cNvSpPr txBox="1">
                <a:spLocks noChangeArrowheads="1"/>
              </p:cNvSpPr>
              <p:nvPr/>
            </p:nvSpPr>
            <p:spPr bwMode="auto">
              <a:xfrm>
                <a:off x="4225" y="2401"/>
                <a:ext cx="292" cy="210"/>
              </a:xfrm>
              <a:prstGeom prst="rect">
                <a:avLst/>
              </a:prstGeom>
              <a:noFill/>
              <a:ln w="12700">
                <a:noFill/>
                <a:miter lim="800000"/>
                <a:headEnd type="none" w="sm" len="sm"/>
                <a:tailEnd type="none" w="sm" len="sm"/>
              </a:ln>
            </p:spPr>
            <p:txBody>
              <a:bodyPr wrap="none">
                <a:spAutoFit/>
              </a:bodyPr>
              <a:lstStyle/>
              <a:p>
                <a:r>
                  <a:rPr lang="de-CH" sz="500" b="1"/>
                  <a:t>...</a:t>
                </a:r>
              </a:p>
            </p:txBody>
          </p:sp>
          <p:sp>
            <p:nvSpPr>
              <p:cNvPr id="16449" name="AutoShape 77"/>
              <p:cNvSpPr>
                <a:spLocks noChangeArrowheads="1"/>
              </p:cNvSpPr>
              <p:nvPr/>
            </p:nvSpPr>
            <p:spPr bwMode="auto">
              <a:xfrm>
                <a:off x="4416" y="2400"/>
                <a:ext cx="144" cy="144"/>
              </a:xfrm>
              <a:prstGeom prst="can">
                <a:avLst>
                  <a:gd name="adj" fmla="val 25000"/>
                </a:avLst>
              </a:prstGeom>
              <a:solidFill>
                <a:srgbClr val="FFFFFF"/>
              </a:solidFill>
              <a:ln w="12700">
                <a:solidFill>
                  <a:srgbClr val="969696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de-DE" sz="500"/>
              </a:p>
            </p:txBody>
          </p:sp>
          <p:pic>
            <p:nvPicPr>
              <p:cNvPr id="16450" name="Picture 78"/>
              <p:cNvPicPr>
                <a:picLocks noChangeAspect="1" noChangeArrowheads="1"/>
              </p:cNvPicPr>
              <p:nvPr/>
            </p:nvPicPr>
            <p:blipFill>
              <a:blip r:embed="rId3" cstate="print"/>
              <a:srcRect/>
              <a:stretch>
                <a:fillRect/>
              </a:stretch>
            </p:blipFill>
            <p:spPr bwMode="auto">
              <a:xfrm>
                <a:off x="3936" y="2160"/>
                <a:ext cx="192" cy="191"/>
              </a:xfrm>
              <a:prstGeom prst="rect">
                <a:avLst/>
              </a:prstGeom>
              <a:noFill/>
              <a:ln w="12700">
                <a:noFill/>
                <a:miter lim="800000"/>
                <a:headEnd type="none" w="sm" len="sm"/>
                <a:tailEnd type="none" w="sm" len="sm"/>
              </a:ln>
            </p:spPr>
          </p:pic>
          <p:pic>
            <p:nvPicPr>
              <p:cNvPr id="16451" name="Picture 79"/>
              <p:cNvPicPr>
                <a:picLocks noChangeAspect="1" noChangeArrowheads="1"/>
              </p:cNvPicPr>
              <p:nvPr/>
            </p:nvPicPr>
            <p:blipFill>
              <a:blip r:embed="rId3" cstate="print"/>
              <a:srcRect/>
              <a:stretch>
                <a:fillRect/>
              </a:stretch>
            </p:blipFill>
            <p:spPr bwMode="auto">
              <a:xfrm>
                <a:off x="4224" y="2160"/>
                <a:ext cx="192" cy="191"/>
              </a:xfrm>
              <a:prstGeom prst="rect">
                <a:avLst/>
              </a:prstGeom>
              <a:noFill/>
              <a:ln w="12700">
                <a:noFill/>
                <a:miter lim="800000"/>
                <a:headEnd type="none" w="sm" len="sm"/>
                <a:tailEnd type="none" w="sm" len="sm"/>
              </a:ln>
            </p:spPr>
          </p:pic>
          <p:pic>
            <p:nvPicPr>
              <p:cNvPr id="16452" name="Picture 80"/>
              <p:cNvPicPr>
                <a:picLocks noChangeAspect="1" noChangeArrowheads="1"/>
              </p:cNvPicPr>
              <p:nvPr/>
            </p:nvPicPr>
            <p:blipFill>
              <a:blip r:embed="rId3" cstate="print"/>
              <a:srcRect/>
              <a:stretch>
                <a:fillRect/>
              </a:stretch>
            </p:blipFill>
            <p:spPr bwMode="auto">
              <a:xfrm>
                <a:off x="4512" y="2160"/>
                <a:ext cx="192" cy="191"/>
              </a:xfrm>
              <a:prstGeom prst="rect">
                <a:avLst/>
              </a:prstGeom>
              <a:noFill/>
              <a:ln w="12700">
                <a:noFill/>
                <a:miter lim="800000"/>
                <a:headEnd type="none" w="sm" len="sm"/>
                <a:tailEnd type="none" w="sm" len="sm"/>
              </a:ln>
            </p:spPr>
          </p:pic>
        </p:grpSp>
        <p:pic>
          <p:nvPicPr>
            <p:cNvPr id="16425" name="Picture 81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2200275" y="3074988"/>
              <a:ext cx="301625" cy="279400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</p:pic>
        <p:pic>
          <p:nvPicPr>
            <p:cNvPr id="16426" name="Picture 82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2576513" y="3074988"/>
              <a:ext cx="301625" cy="279400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</p:pic>
        <p:pic>
          <p:nvPicPr>
            <p:cNvPr id="16427" name="Picture 83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3255963" y="3074988"/>
              <a:ext cx="301625" cy="279400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</p:pic>
        <p:pic>
          <p:nvPicPr>
            <p:cNvPr id="16428" name="Picture 84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3632200" y="3074988"/>
              <a:ext cx="301625" cy="279400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</p:pic>
        <p:pic>
          <p:nvPicPr>
            <p:cNvPr id="16429" name="Picture 85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4311650" y="3074988"/>
              <a:ext cx="301625" cy="279400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</p:pic>
        <p:pic>
          <p:nvPicPr>
            <p:cNvPr id="16430" name="Picture 86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4687888" y="3074988"/>
              <a:ext cx="303212" cy="279400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</p:pic>
        <p:pic>
          <p:nvPicPr>
            <p:cNvPr id="16431" name="Picture 89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5367338" y="3074988"/>
              <a:ext cx="301625" cy="279400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</p:pic>
        <p:pic>
          <p:nvPicPr>
            <p:cNvPr id="16432" name="Picture 90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5745163" y="3074988"/>
              <a:ext cx="301625" cy="279400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</p:pic>
        <p:pic>
          <p:nvPicPr>
            <p:cNvPr id="16433" name="Picture 91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6423025" y="3074988"/>
              <a:ext cx="301625" cy="279400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</p:pic>
        <p:pic>
          <p:nvPicPr>
            <p:cNvPr id="16434" name="Picture 92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6800850" y="3074988"/>
              <a:ext cx="301625" cy="279400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</p:pic>
        <p:pic>
          <p:nvPicPr>
            <p:cNvPr id="16435" name="Picture 93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7478713" y="3074988"/>
              <a:ext cx="301625" cy="279400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</p:pic>
        <p:pic>
          <p:nvPicPr>
            <p:cNvPr id="16436" name="Picture 94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7856538" y="3074988"/>
              <a:ext cx="301625" cy="279400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</p:pic>
        <p:sp>
          <p:nvSpPr>
            <p:cNvPr id="16437" name="Text Box 95"/>
            <p:cNvSpPr txBox="1">
              <a:spLocks noChangeArrowheads="1"/>
            </p:cNvSpPr>
            <p:nvPr/>
          </p:nvSpPr>
          <p:spPr bwMode="auto">
            <a:xfrm>
              <a:off x="76200" y="2819400"/>
              <a:ext cx="1058125" cy="447846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r>
                <a:rPr lang="de-CH" sz="500"/>
                <a:t>Multiprovider</a:t>
              </a:r>
            </a:p>
            <a:p>
              <a:r>
                <a:rPr lang="de-CH" sz="500"/>
                <a:t>Layer (View)</a:t>
              </a:r>
              <a:endParaRPr lang="en-GB" sz="500"/>
            </a:p>
          </p:txBody>
        </p:sp>
        <p:sp>
          <p:nvSpPr>
            <p:cNvPr id="16438" name="Text Box 96"/>
            <p:cNvSpPr txBox="1">
              <a:spLocks noChangeArrowheads="1"/>
            </p:cNvSpPr>
            <p:nvPr/>
          </p:nvSpPr>
          <p:spPr bwMode="auto">
            <a:xfrm>
              <a:off x="80963" y="3911601"/>
              <a:ext cx="1129244" cy="587798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r>
                <a:rPr lang="de-CH" sz="500"/>
                <a:t>DWH-Core</a:t>
              </a:r>
            </a:p>
            <a:p>
              <a:r>
                <a:rPr lang="de-CH" sz="500"/>
                <a:t>EDW-Layer</a:t>
              </a:r>
            </a:p>
            <a:p>
              <a:r>
                <a:rPr lang="de-CH" sz="500"/>
                <a:t>(Basis Cubes)</a:t>
              </a:r>
              <a:endParaRPr lang="en-GB" sz="500"/>
            </a:p>
          </p:txBody>
        </p:sp>
        <p:sp>
          <p:nvSpPr>
            <p:cNvPr id="16439" name="Text Box 97"/>
            <p:cNvSpPr txBox="1">
              <a:spLocks noChangeArrowheads="1"/>
            </p:cNvSpPr>
            <p:nvPr/>
          </p:nvSpPr>
          <p:spPr bwMode="auto">
            <a:xfrm>
              <a:off x="76200" y="1965325"/>
              <a:ext cx="888057" cy="447846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r>
                <a:rPr lang="de-CH" sz="500"/>
                <a:t>Reporting</a:t>
              </a:r>
            </a:p>
            <a:p>
              <a:r>
                <a:rPr lang="de-CH" sz="500"/>
                <a:t>Layer</a:t>
              </a:r>
              <a:endParaRPr lang="en-GB" sz="500"/>
            </a:p>
          </p:txBody>
        </p:sp>
        <p:pic>
          <p:nvPicPr>
            <p:cNvPr id="16440" name="Picture 100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3933825" y="1951038"/>
              <a:ext cx="1131888" cy="671512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</p:pic>
        <p:pic>
          <p:nvPicPr>
            <p:cNvPr id="16441" name="Picture 101"/>
            <p:cNvPicPr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5745163" y="1951038"/>
              <a:ext cx="979487" cy="665162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</p:pic>
        <p:pic>
          <p:nvPicPr>
            <p:cNvPr id="16442" name="Picture 102"/>
            <p:cNvPicPr>
              <a:picLocks noChangeAspect="1" noChangeArrowheads="1"/>
            </p:cNvPicPr>
            <p:nvPr/>
          </p:nvPicPr>
          <p:blipFill>
            <a:blip r:embed="rId6" cstate="print"/>
            <a:srcRect/>
            <a:stretch>
              <a:fillRect/>
            </a:stretch>
          </p:blipFill>
          <p:spPr bwMode="auto">
            <a:xfrm>
              <a:off x="7327900" y="1951038"/>
              <a:ext cx="981075" cy="6619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6443" name="Picture 103"/>
            <p:cNvPicPr>
              <a:picLocks noChangeAspect="1" noChangeArrowheads="1"/>
            </p:cNvPicPr>
            <p:nvPr/>
          </p:nvPicPr>
          <p:blipFill>
            <a:blip r:embed="rId7" cstate="print"/>
            <a:srcRect/>
            <a:stretch>
              <a:fillRect/>
            </a:stretch>
          </p:blipFill>
          <p:spPr bwMode="auto">
            <a:xfrm>
              <a:off x="2049463" y="1951038"/>
              <a:ext cx="1327150" cy="660400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</p:pic>
      </p:grpSp>
      <p:sp>
        <p:nvSpPr>
          <p:cNvPr id="16390" name="Rechteck 125"/>
          <p:cNvSpPr>
            <a:spLocks noChangeArrowheads="1"/>
          </p:cNvSpPr>
          <p:nvPr/>
        </p:nvSpPr>
        <p:spPr bwMode="auto">
          <a:xfrm>
            <a:off x="1785938" y="3643313"/>
            <a:ext cx="5929312" cy="1285875"/>
          </a:xfrm>
          <a:prstGeom prst="rect">
            <a:avLst/>
          </a:prstGeom>
          <a:solidFill>
            <a:schemeClr val="bg1">
              <a:alpha val="50195"/>
            </a:schemeClr>
          </a:solidFill>
          <a:ln w="12700" algn="ctr">
            <a:noFill/>
            <a:round/>
            <a:headEnd type="none" w="sm" len="sm"/>
            <a:tailEnd type="none" w="sm" len="sm"/>
          </a:ln>
        </p:spPr>
        <p:txBody>
          <a:bodyPr/>
          <a:lstStyle/>
          <a:p>
            <a:pPr marL="628650" indent="-180975">
              <a:buFont typeface="Arial" charset="0"/>
              <a:buChar char="•"/>
            </a:pPr>
            <a:r>
              <a:rPr lang="de-CH" sz="1600"/>
              <a:t>Verbessern der Wirtschaftlichkeit </a:t>
            </a:r>
          </a:p>
          <a:p>
            <a:pPr marL="628650" indent="-180975">
              <a:buFont typeface="Arial" charset="0"/>
              <a:buChar char="•"/>
            </a:pPr>
            <a:r>
              <a:rPr lang="de-CH" sz="1600"/>
              <a:t>Schrittweise Integration durch Migration auf eine einheitliche Plattform</a:t>
            </a:r>
          </a:p>
          <a:p>
            <a:pPr marL="628650" indent="-180975">
              <a:buFont typeface="Arial" charset="0"/>
              <a:buChar char="•"/>
            </a:pPr>
            <a:r>
              <a:rPr lang="de-CH" sz="1600"/>
              <a:t>Steuerung der konzernweiten Datenkonzeption und Reduktion der vorhandenen Redundanzen</a:t>
            </a:r>
          </a:p>
          <a:p>
            <a:pPr marL="628650" indent="-180975">
              <a:buFont typeface="Arial" charset="0"/>
              <a:buChar char="•"/>
            </a:pPr>
            <a:endParaRPr lang="de-CH" sz="1600"/>
          </a:p>
          <a:p>
            <a:pPr marL="628650" indent="-180975">
              <a:buFont typeface="Arial" charset="0"/>
              <a:buChar char="•"/>
            </a:pPr>
            <a:endParaRPr lang="de-CH" sz="1600"/>
          </a:p>
        </p:txBody>
      </p:sp>
      <p:sp>
        <p:nvSpPr>
          <p:cNvPr id="16391" name="Rechteck 124"/>
          <p:cNvSpPr>
            <a:spLocks noChangeArrowheads="1"/>
          </p:cNvSpPr>
          <p:nvPr/>
        </p:nvSpPr>
        <p:spPr bwMode="auto">
          <a:xfrm>
            <a:off x="357188" y="3714750"/>
            <a:ext cx="1857375" cy="500063"/>
          </a:xfrm>
          <a:prstGeom prst="rect">
            <a:avLst/>
          </a:prstGeom>
          <a:solidFill>
            <a:schemeClr val="accent1"/>
          </a:solidFill>
          <a:ln w="12700" algn="ctr">
            <a:noFill/>
            <a:round/>
            <a:headEnd type="none" w="sm" len="sm"/>
            <a:tailEnd type="none" w="sm" len="sm"/>
          </a:ln>
        </p:spPr>
        <p:txBody>
          <a:bodyPr/>
          <a:lstStyle/>
          <a:p>
            <a:r>
              <a:rPr lang="de-CH" sz="1400" b="1"/>
              <a:t>Zielsetzung </a:t>
            </a:r>
          </a:p>
          <a:p>
            <a:r>
              <a:rPr lang="de-CH" sz="1400" b="1"/>
              <a:t>Architektur</a:t>
            </a:r>
          </a:p>
        </p:txBody>
      </p:sp>
      <p:sp>
        <p:nvSpPr>
          <p:cNvPr id="16392" name="Rectangle 2"/>
          <p:cNvSpPr>
            <a:spLocks noGrp="1" noChangeArrowheads="1"/>
          </p:cNvSpPr>
          <p:nvPr>
            <p:ph type="title"/>
          </p:nvPr>
        </p:nvSpPr>
        <p:spPr>
          <a:xfrm>
            <a:off x="571500" y="357188"/>
            <a:ext cx="7558088" cy="487362"/>
          </a:xfrm>
        </p:spPr>
        <p:txBody>
          <a:bodyPr/>
          <a:lstStyle/>
          <a:p>
            <a:r>
              <a:rPr lang="de-CH" sz="2000" smtClean="0">
                <a:solidFill>
                  <a:schemeClr val="accent1"/>
                </a:solidFill>
              </a:rPr>
              <a:t>5. Festlegung geeigneter Produkte-Standards zur Umsetzung</a:t>
            </a:r>
            <a:br>
              <a:rPr lang="de-CH" sz="2000" smtClean="0">
                <a:solidFill>
                  <a:schemeClr val="accent1"/>
                </a:solidFill>
              </a:rPr>
            </a:br>
            <a:r>
              <a:rPr lang="de-CH" sz="2000" smtClean="0">
                <a:solidFill>
                  <a:schemeClr val="accent1"/>
                </a:solidFill>
              </a:rPr>
              <a:t>    </a:t>
            </a:r>
            <a:r>
              <a:rPr lang="de-CH" sz="2000" smtClean="0"/>
              <a:t>Zielsetzungen und Richtungsweisung</a:t>
            </a:r>
            <a:endParaRPr lang="de-CH" sz="2000" smtClean="0">
              <a:solidFill>
                <a:schemeClr val="accent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Picture 6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47675" y="1285875"/>
            <a:ext cx="4981575" cy="28575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</p:pic>
      <p:sp>
        <p:nvSpPr>
          <p:cNvPr id="17411" name="Rectangle 2"/>
          <p:cNvSpPr>
            <a:spLocks noGrp="1" noChangeArrowheads="1"/>
          </p:cNvSpPr>
          <p:nvPr>
            <p:ph type="title"/>
          </p:nvPr>
        </p:nvSpPr>
        <p:spPr>
          <a:xfrm>
            <a:off x="571500" y="357188"/>
            <a:ext cx="7558088" cy="487362"/>
          </a:xfrm>
        </p:spPr>
        <p:txBody>
          <a:bodyPr/>
          <a:lstStyle/>
          <a:p>
            <a:r>
              <a:rPr lang="de-CH" sz="2000" smtClean="0">
                <a:solidFill>
                  <a:schemeClr val="accent1"/>
                </a:solidFill>
              </a:rPr>
              <a:t>5. Festlegung geeigneter Produkte-Standards zur Umsetzung</a:t>
            </a:r>
            <a:br>
              <a:rPr lang="de-CH" sz="2000" smtClean="0">
                <a:solidFill>
                  <a:schemeClr val="accent1"/>
                </a:solidFill>
              </a:rPr>
            </a:br>
            <a:r>
              <a:rPr lang="de-CH" sz="2000" smtClean="0">
                <a:solidFill>
                  <a:schemeClr val="accent1"/>
                </a:solidFill>
              </a:rPr>
              <a:t>    </a:t>
            </a:r>
            <a:r>
              <a:rPr lang="de-CH" sz="2000" smtClean="0"/>
              <a:t>Ziele einer abgestimmten Datenarchitektur</a:t>
            </a:r>
            <a:endParaRPr lang="de-CH" sz="2000" smtClean="0">
              <a:solidFill>
                <a:schemeClr val="accent1"/>
              </a:solidFill>
            </a:endParaRPr>
          </a:p>
        </p:txBody>
      </p:sp>
      <p:sp>
        <p:nvSpPr>
          <p:cNvPr id="17412" name="Rectangle 3"/>
          <p:cNvSpPr txBox="1">
            <a:spLocks noChangeArrowheads="1"/>
          </p:cNvSpPr>
          <p:nvPr/>
        </p:nvSpPr>
        <p:spPr bwMode="auto">
          <a:xfrm>
            <a:off x="5500688" y="1285875"/>
            <a:ext cx="3214687" cy="300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 marL="268288" indent="-182563">
              <a:buFont typeface="Arial" charset="0"/>
              <a:buChar char="•"/>
            </a:pPr>
            <a:r>
              <a:rPr lang="de-CH" sz="1400"/>
              <a:t>Definierte Bereichsdatenbanken mit definierten Verantwortlichkeiten ("Data Ownership")</a:t>
            </a:r>
          </a:p>
          <a:p>
            <a:pPr marL="268288" indent="-182563">
              <a:buFont typeface="Arial" charset="0"/>
              <a:buChar char="•"/>
            </a:pPr>
            <a:r>
              <a:rPr lang="de-CH" sz="1400"/>
              <a:t>Bereichsübergreifende Daten- und Informationsharmonisierung (Abstimmprozess)</a:t>
            </a:r>
          </a:p>
          <a:p>
            <a:pPr marL="268288" indent="-182563">
              <a:buFont typeface="Arial" charset="0"/>
              <a:buChar char="•"/>
            </a:pPr>
            <a:r>
              <a:rPr lang="de-CH" sz="1400"/>
              <a:t>Vergleichbare Datenstrukturen für unterschiedliche </a:t>
            </a:r>
            <a:r>
              <a:rPr lang="de-CH" sz="1400" smtClean="0"/>
              <a:t>Nutzergruppen und Datenquellen </a:t>
            </a:r>
            <a:r>
              <a:rPr lang="de-CH" sz="1400"/>
              <a:t>gewährleisten</a:t>
            </a:r>
          </a:p>
          <a:p>
            <a:pPr marL="268288" indent="-182563">
              <a:buFont typeface="Arial" charset="0"/>
              <a:buChar char="•"/>
            </a:pPr>
            <a:r>
              <a:rPr lang="de-CH" sz="1400"/>
              <a:t>Vergleichbare Dimensionshierarchien und Periodizitäten</a:t>
            </a:r>
          </a:p>
        </p:txBody>
      </p:sp>
      <p:graphicFrame>
        <p:nvGraphicFramePr>
          <p:cNvPr id="110" name="Tabelle 109"/>
          <p:cNvGraphicFramePr>
            <a:graphicFrameLocks noGrp="1"/>
          </p:cNvGraphicFramePr>
          <p:nvPr/>
        </p:nvGraphicFramePr>
        <p:xfrm>
          <a:off x="357188" y="4643438"/>
          <a:ext cx="7072362" cy="175260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3536181"/>
                <a:gridCol w="3536181"/>
              </a:tblGrid>
              <a:tr h="370840">
                <a:tc>
                  <a:txBody>
                    <a:bodyPr/>
                    <a:lstStyle/>
                    <a:p>
                      <a:r>
                        <a:rPr lang="de-CH" dirty="0" smtClean="0"/>
                        <a:t>Stolpersteine</a:t>
                      </a:r>
                      <a:endParaRPr lang="de-C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dirty="0" smtClean="0"/>
                        <a:t>Massnahmen</a:t>
                      </a:r>
                      <a:endParaRPr lang="de-CH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de-CH" dirty="0" smtClean="0"/>
                        <a:t>Produkte-Diskussionen</a:t>
                      </a:r>
                      <a:endParaRPr lang="de-C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dirty="0" err="1" smtClean="0"/>
                        <a:t>PoC</a:t>
                      </a:r>
                      <a:endParaRPr lang="de-CH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de-CH" dirty="0" smtClean="0"/>
                        <a:t>Bedarf/Produkt/Kosten</a:t>
                      </a:r>
                      <a:endParaRPr lang="de-C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dirty="0" smtClean="0"/>
                        <a:t>Objektive Abwägung</a:t>
                      </a:r>
                      <a:endParaRPr lang="de-CH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de-CH" dirty="0" smtClean="0"/>
                        <a:t>Big-Bang / </a:t>
                      </a:r>
                      <a:r>
                        <a:rPr lang="de-CH" dirty="0" err="1" smtClean="0"/>
                        <a:t>step-by-step</a:t>
                      </a:r>
                      <a:endParaRPr lang="de-C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dirty="0" smtClean="0"/>
                        <a:t>Business-Bereich mit hohen Anforderungen baut auf</a:t>
                      </a:r>
                      <a:endParaRPr lang="de-CH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hteck 125"/>
          <p:cNvSpPr>
            <a:spLocks noChangeArrowheads="1"/>
          </p:cNvSpPr>
          <p:nvPr/>
        </p:nvSpPr>
        <p:spPr bwMode="auto">
          <a:xfrm>
            <a:off x="2000250" y="4500563"/>
            <a:ext cx="5929313" cy="928687"/>
          </a:xfrm>
          <a:prstGeom prst="rect">
            <a:avLst/>
          </a:prstGeom>
          <a:solidFill>
            <a:schemeClr val="bg1">
              <a:alpha val="50195"/>
            </a:schemeClr>
          </a:solidFill>
          <a:ln w="12700" algn="ctr">
            <a:noFill/>
            <a:round/>
            <a:headEnd type="none" w="sm" len="sm"/>
            <a:tailEnd type="none" w="sm" len="sm"/>
          </a:ln>
        </p:spPr>
        <p:txBody>
          <a:bodyPr/>
          <a:lstStyle/>
          <a:p>
            <a:pPr marL="628650" indent="-180975">
              <a:buFont typeface="Arial" charset="0"/>
              <a:buChar char="•"/>
            </a:pPr>
            <a:r>
              <a:rPr lang="de-CH" sz="1600"/>
              <a:t>Standard den geänderten Kundenanforderungen und der geänderten Situation auf Seiten Produkt anpassen</a:t>
            </a:r>
          </a:p>
          <a:p>
            <a:pPr marL="628650" indent="-180975">
              <a:buFont typeface="Arial" charset="0"/>
              <a:buChar char="•"/>
            </a:pPr>
            <a:r>
              <a:rPr lang="de-CH" sz="1600"/>
              <a:t>Evolutionäre Migration mit minimalen Mehrkosten</a:t>
            </a:r>
          </a:p>
        </p:txBody>
      </p:sp>
      <p:sp>
        <p:nvSpPr>
          <p:cNvPr id="18435" name="Rechteck 121"/>
          <p:cNvSpPr>
            <a:spLocks noChangeArrowheads="1"/>
          </p:cNvSpPr>
          <p:nvPr/>
        </p:nvSpPr>
        <p:spPr bwMode="auto">
          <a:xfrm>
            <a:off x="2000250" y="3643313"/>
            <a:ext cx="5929313" cy="785812"/>
          </a:xfrm>
          <a:prstGeom prst="rect">
            <a:avLst/>
          </a:prstGeom>
          <a:solidFill>
            <a:schemeClr val="bg1">
              <a:alpha val="50195"/>
            </a:schemeClr>
          </a:solidFill>
          <a:ln w="12700" algn="ctr">
            <a:noFill/>
            <a:round/>
            <a:headEnd type="none" w="sm" len="sm"/>
            <a:tailEnd type="none" w="sm" len="sm"/>
          </a:ln>
        </p:spPr>
        <p:txBody>
          <a:bodyPr/>
          <a:lstStyle/>
          <a:p>
            <a:pPr marL="628650" indent="-180975">
              <a:buFont typeface="Arial" charset="0"/>
              <a:buChar char="•"/>
            </a:pPr>
            <a:r>
              <a:rPr lang="de-CH" sz="1600"/>
              <a:t>Übernahme von Business Objects durch die SAP</a:t>
            </a:r>
          </a:p>
          <a:p>
            <a:pPr marL="628650" indent="-180975">
              <a:buFont typeface="Arial" charset="0"/>
              <a:buChar char="•"/>
            </a:pPr>
            <a:r>
              <a:rPr lang="de-CH" sz="1600" smtClean="0"/>
              <a:t>Grosser </a:t>
            </a:r>
            <a:r>
              <a:rPr lang="de-CH" sz="1600"/>
              <a:t>Kundenbedarf für flexibleres und integrierteres Reporting</a:t>
            </a:r>
          </a:p>
        </p:txBody>
      </p:sp>
      <p:sp>
        <p:nvSpPr>
          <p:cNvPr id="18436" name="Rechteck 123"/>
          <p:cNvSpPr>
            <a:spLocks noChangeArrowheads="1"/>
          </p:cNvSpPr>
          <p:nvPr/>
        </p:nvSpPr>
        <p:spPr bwMode="auto">
          <a:xfrm>
            <a:off x="428625" y="3714750"/>
            <a:ext cx="2000250" cy="347663"/>
          </a:xfrm>
          <a:prstGeom prst="rect">
            <a:avLst/>
          </a:prstGeom>
          <a:solidFill>
            <a:schemeClr val="accent1"/>
          </a:solidFill>
          <a:ln w="12700" algn="ctr">
            <a:noFill/>
            <a:round/>
            <a:headEnd type="none" w="sm" len="sm"/>
            <a:tailEnd type="none" w="sm" len="sm"/>
          </a:ln>
        </p:spPr>
        <p:txBody>
          <a:bodyPr/>
          <a:lstStyle/>
          <a:p>
            <a:r>
              <a:rPr lang="de-CH" sz="1400" b="1"/>
              <a:t>Ausgangslage</a:t>
            </a:r>
          </a:p>
        </p:txBody>
      </p:sp>
      <p:sp>
        <p:nvSpPr>
          <p:cNvPr id="18437" name="Rechteck 124"/>
          <p:cNvSpPr>
            <a:spLocks noChangeArrowheads="1"/>
          </p:cNvSpPr>
          <p:nvPr/>
        </p:nvSpPr>
        <p:spPr bwMode="auto">
          <a:xfrm>
            <a:off x="428625" y="4572000"/>
            <a:ext cx="2000250" cy="500063"/>
          </a:xfrm>
          <a:prstGeom prst="rect">
            <a:avLst/>
          </a:prstGeom>
          <a:solidFill>
            <a:schemeClr val="accent1"/>
          </a:solidFill>
          <a:ln w="12700" algn="ctr">
            <a:noFill/>
            <a:round/>
            <a:headEnd type="none" w="sm" len="sm"/>
            <a:tailEnd type="none" w="sm" len="sm"/>
          </a:ln>
        </p:spPr>
        <p:txBody>
          <a:bodyPr/>
          <a:lstStyle/>
          <a:p>
            <a:r>
              <a:rPr lang="de-CH" sz="1400" b="1"/>
              <a:t>Zielsetzung </a:t>
            </a:r>
          </a:p>
          <a:p>
            <a:r>
              <a:rPr lang="de-CH" sz="1400" b="1"/>
              <a:t>Architektur</a:t>
            </a:r>
          </a:p>
        </p:txBody>
      </p:sp>
      <p:sp>
        <p:nvSpPr>
          <p:cNvPr id="18438" name="Rechteck 125"/>
          <p:cNvSpPr>
            <a:spLocks noChangeArrowheads="1"/>
          </p:cNvSpPr>
          <p:nvPr/>
        </p:nvSpPr>
        <p:spPr bwMode="auto">
          <a:xfrm>
            <a:off x="2000250" y="5500688"/>
            <a:ext cx="5929313" cy="642937"/>
          </a:xfrm>
          <a:prstGeom prst="rect">
            <a:avLst/>
          </a:prstGeom>
          <a:solidFill>
            <a:schemeClr val="bg1">
              <a:alpha val="50195"/>
            </a:schemeClr>
          </a:solidFill>
          <a:ln w="12700" algn="ctr">
            <a:noFill/>
            <a:round/>
            <a:headEnd type="none" w="sm" len="sm"/>
            <a:tailEnd type="none" w="sm" len="sm"/>
          </a:ln>
        </p:spPr>
        <p:txBody>
          <a:bodyPr/>
          <a:lstStyle/>
          <a:p>
            <a:pPr marL="628650" indent="-180975">
              <a:buFont typeface="Arial" charset="0"/>
              <a:buChar char="•"/>
            </a:pPr>
            <a:r>
              <a:rPr lang="de-CH" sz="1600"/>
              <a:t>PoC für Machbarkeit und </a:t>
            </a:r>
            <a:r>
              <a:rPr lang="de-CH" sz="1600" smtClean="0"/>
              <a:t>Skill-Aufbau </a:t>
            </a:r>
            <a:r>
              <a:rPr lang="de-CH" sz="1600"/>
              <a:t>durchgeführt</a:t>
            </a:r>
          </a:p>
          <a:p>
            <a:pPr marL="628650" indent="-180975">
              <a:buFont typeface="Arial" charset="0"/>
              <a:buChar char="•"/>
            </a:pPr>
            <a:r>
              <a:rPr lang="de-CH" sz="1600"/>
              <a:t>BO-Suite </a:t>
            </a:r>
            <a:r>
              <a:rPr lang="de-CH" sz="1600" smtClean="0"/>
              <a:t>XI 3.1 neu </a:t>
            </a:r>
            <a:r>
              <a:rPr lang="de-CH" sz="1600"/>
              <a:t>im Standard aufgenommen</a:t>
            </a:r>
          </a:p>
          <a:p>
            <a:pPr marL="628650" indent="-180975">
              <a:buFont typeface="Arial" charset="0"/>
              <a:buChar char="•"/>
            </a:pPr>
            <a:endParaRPr lang="de-CH" sz="1600"/>
          </a:p>
        </p:txBody>
      </p:sp>
      <p:sp>
        <p:nvSpPr>
          <p:cNvPr id="18439" name="Rechteck 124"/>
          <p:cNvSpPr>
            <a:spLocks noChangeArrowheads="1"/>
          </p:cNvSpPr>
          <p:nvPr/>
        </p:nvSpPr>
        <p:spPr bwMode="auto">
          <a:xfrm>
            <a:off x="428625" y="5572125"/>
            <a:ext cx="2000250" cy="500063"/>
          </a:xfrm>
          <a:prstGeom prst="rect">
            <a:avLst/>
          </a:prstGeom>
          <a:solidFill>
            <a:schemeClr val="accent1"/>
          </a:solidFill>
          <a:ln w="12700" algn="ctr">
            <a:noFill/>
            <a:round/>
            <a:headEnd type="none" w="sm" len="sm"/>
            <a:tailEnd type="none" w="sm" len="sm"/>
          </a:ln>
        </p:spPr>
        <p:txBody>
          <a:bodyPr/>
          <a:lstStyle/>
          <a:p>
            <a:r>
              <a:rPr lang="de-CH" sz="1400" b="1"/>
              <a:t>Richtungsweisung</a:t>
            </a:r>
          </a:p>
          <a:p>
            <a:r>
              <a:rPr lang="de-CH" sz="1400" b="1"/>
              <a:t>Architektur</a:t>
            </a:r>
          </a:p>
        </p:txBody>
      </p:sp>
      <p:pic>
        <p:nvPicPr>
          <p:cNvPr id="1844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2875" y="1357313"/>
            <a:ext cx="4176713" cy="17526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</p:pic>
      <p:pic>
        <p:nvPicPr>
          <p:cNvPr id="18441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714875" y="1143000"/>
            <a:ext cx="3571875" cy="240188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</p:pic>
      <p:sp>
        <p:nvSpPr>
          <p:cNvPr id="11" name="Rectangle 2"/>
          <p:cNvSpPr txBox="1">
            <a:spLocks noChangeArrowheads="1"/>
          </p:cNvSpPr>
          <p:nvPr/>
        </p:nvSpPr>
        <p:spPr bwMode="auto">
          <a:xfrm>
            <a:off x="571500" y="357188"/>
            <a:ext cx="7558088" cy="487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/>
          <a:lstStyle/>
          <a:p>
            <a:pPr>
              <a:spcBef>
                <a:spcPct val="20000"/>
              </a:spcBef>
              <a:defRPr/>
            </a:pPr>
            <a:r>
              <a:rPr lang="de-CH" b="1" kern="0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5. Festlegung geeigneter Produkte-Standards zur Umsetzung</a:t>
            </a:r>
            <a:br>
              <a:rPr lang="de-CH" b="1" kern="0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</a:br>
            <a:r>
              <a:rPr lang="de-CH" b="1" kern="0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    </a:t>
            </a:r>
            <a:r>
              <a:rPr lang="de-CH" b="1" kern="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Ergänzung 2010</a:t>
            </a:r>
            <a:endParaRPr lang="de-CH" b="1" kern="0" dirty="0">
              <a:solidFill>
                <a:schemeClr val="accent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2" name="Rechteck 11"/>
          <p:cNvSpPr/>
          <p:nvPr/>
        </p:nvSpPr>
        <p:spPr bwMode="auto">
          <a:xfrm>
            <a:off x="4793571" y="3357562"/>
            <a:ext cx="1928826" cy="142876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20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8" name="Picture 3"/>
          <p:cNvPicPr>
            <a:picLocks noChangeAspect="1" noChangeArrowheads="1"/>
          </p:cNvPicPr>
          <p:nvPr/>
        </p:nvPicPr>
        <p:blipFill>
          <a:blip r:embed="rId3" cstate="print"/>
          <a:srcRect t="15625" b="67708"/>
          <a:stretch>
            <a:fillRect/>
          </a:stretch>
        </p:blipFill>
        <p:spPr bwMode="auto">
          <a:xfrm>
            <a:off x="0" y="1071563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9459" name="Rectangle 6"/>
          <p:cNvSpPr>
            <a:spLocks noChangeArrowheads="1"/>
          </p:cNvSpPr>
          <p:nvPr/>
        </p:nvSpPr>
        <p:spPr bwMode="auto">
          <a:xfrm>
            <a:off x="282575" y="4711224"/>
            <a:ext cx="7745413" cy="381000"/>
          </a:xfrm>
          <a:prstGeom prst="rect">
            <a:avLst/>
          </a:prstGeom>
          <a:solidFill>
            <a:srgbClr val="DDDDDD"/>
          </a:solidFill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>
              <a:lnSpc>
                <a:spcPts val="2200"/>
              </a:lnSpc>
              <a:spcBef>
                <a:spcPct val="20000"/>
              </a:spcBef>
            </a:pPr>
            <a:r>
              <a:rPr lang="de-CH" sz="1600" b="1"/>
              <a:t>5. Festlegung geeigneter Produkte-Standards zur Umsetzung</a:t>
            </a:r>
            <a:endParaRPr lang="en-GB" sz="1600" b="1"/>
          </a:p>
        </p:txBody>
      </p:sp>
      <p:sp>
        <p:nvSpPr>
          <p:cNvPr id="19460" name="Rectangle 7"/>
          <p:cNvSpPr>
            <a:spLocks noChangeArrowheads="1"/>
          </p:cNvSpPr>
          <p:nvPr/>
        </p:nvSpPr>
        <p:spPr bwMode="auto">
          <a:xfrm>
            <a:off x="279400" y="5878037"/>
            <a:ext cx="7745413" cy="381000"/>
          </a:xfrm>
          <a:prstGeom prst="rect">
            <a:avLst/>
          </a:prstGeom>
          <a:solidFill>
            <a:srgbClr val="DDDDDD"/>
          </a:solidFill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>
              <a:lnSpc>
                <a:spcPts val="2200"/>
              </a:lnSpc>
              <a:spcBef>
                <a:spcPct val="20000"/>
              </a:spcBef>
            </a:pPr>
            <a:r>
              <a:rPr lang="de-CH" sz="1600" b="1"/>
              <a:t>7. Der Blick nach vorn </a:t>
            </a:r>
            <a:endParaRPr lang="en-GB" sz="1600" b="1"/>
          </a:p>
        </p:txBody>
      </p:sp>
      <p:sp>
        <p:nvSpPr>
          <p:cNvPr id="19461" name="Rectangle 9"/>
          <p:cNvSpPr>
            <a:spLocks noChangeArrowheads="1"/>
          </p:cNvSpPr>
          <p:nvPr/>
        </p:nvSpPr>
        <p:spPr bwMode="auto">
          <a:xfrm>
            <a:off x="285750" y="2996724"/>
            <a:ext cx="7745413" cy="381000"/>
          </a:xfrm>
          <a:prstGeom prst="rect">
            <a:avLst/>
          </a:prstGeom>
          <a:solidFill>
            <a:srgbClr val="DDDDDD"/>
          </a:solidFill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>
              <a:lnSpc>
                <a:spcPts val="2200"/>
              </a:lnSpc>
              <a:spcBef>
                <a:spcPct val="20000"/>
              </a:spcBef>
            </a:pPr>
            <a:r>
              <a:rPr lang="de-CH" sz="1600" b="1"/>
              <a:t>2. Stand der Implementierung Business Intelligence in der BKW</a:t>
            </a:r>
            <a:endParaRPr lang="en-GB" sz="1600" b="1"/>
          </a:p>
        </p:txBody>
      </p:sp>
      <p:sp>
        <p:nvSpPr>
          <p:cNvPr id="19462" name="Rectangle 10"/>
          <p:cNvSpPr>
            <a:spLocks noChangeArrowheads="1"/>
          </p:cNvSpPr>
          <p:nvPr/>
        </p:nvSpPr>
        <p:spPr bwMode="auto">
          <a:xfrm>
            <a:off x="282575" y="4139724"/>
            <a:ext cx="7745413" cy="381000"/>
          </a:xfrm>
          <a:prstGeom prst="rect">
            <a:avLst/>
          </a:prstGeom>
          <a:solidFill>
            <a:srgbClr val="DDDDDD"/>
          </a:solidFill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>
              <a:lnSpc>
                <a:spcPts val="2200"/>
              </a:lnSpc>
              <a:spcBef>
                <a:spcPct val="20000"/>
              </a:spcBef>
            </a:pPr>
            <a:r>
              <a:rPr lang="de-CH" sz="1600" b="1"/>
              <a:t>4. Festlegung einer </a:t>
            </a:r>
            <a:r>
              <a:rPr lang="de-CH" sz="1600" b="1" smtClean="0"/>
              <a:t>Architektur, </a:t>
            </a:r>
            <a:r>
              <a:rPr lang="de-CH" sz="1600" b="1"/>
              <a:t>die den Anforderungen gerecht wird</a:t>
            </a:r>
            <a:endParaRPr lang="en-GB" sz="1600" b="1"/>
          </a:p>
        </p:txBody>
      </p:sp>
      <p:sp>
        <p:nvSpPr>
          <p:cNvPr id="4103" name="Rectangle 13"/>
          <p:cNvSpPr>
            <a:spLocks noChangeArrowheads="1"/>
          </p:cNvSpPr>
          <p:nvPr/>
        </p:nvSpPr>
        <p:spPr bwMode="auto">
          <a:xfrm>
            <a:off x="277813" y="5306537"/>
            <a:ext cx="7745412" cy="381000"/>
          </a:xfrm>
          <a:prstGeom prst="rect">
            <a:avLst/>
          </a:prstGeom>
          <a:solidFill>
            <a:schemeClr val="bg1">
              <a:lumMod val="75000"/>
              <a:alpha val="50000"/>
            </a:schemeClr>
          </a:solidFill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>
              <a:lnSpc>
                <a:spcPts val="2200"/>
              </a:lnSpc>
              <a:spcBef>
                <a:spcPct val="20000"/>
              </a:spcBef>
              <a:defRPr/>
            </a:pPr>
            <a:r>
              <a:rPr lang="de-CH" sz="1600" b="1" dirty="0"/>
              <a:t>6. Festlegung einer geeigneten DWH-Organisation</a:t>
            </a:r>
            <a:endParaRPr lang="en-GB" sz="1600" b="1" dirty="0"/>
          </a:p>
        </p:txBody>
      </p:sp>
      <p:sp>
        <p:nvSpPr>
          <p:cNvPr id="9" name="Rectangle 2050"/>
          <p:cNvSpPr txBox="1">
            <a:spLocks noChangeArrowheads="1"/>
          </p:cNvSpPr>
          <p:nvPr/>
        </p:nvSpPr>
        <p:spPr>
          <a:xfrm>
            <a:off x="442913" y="285750"/>
            <a:ext cx="7558087" cy="487363"/>
          </a:xfrm>
          <a:prstGeom prst="rect">
            <a:avLst/>
          </a:prstGeom>
          <a:noFill/>
        </p:spPr>
        <p:txBody>
          <a:bodyPr/>
          <a:lstStyle/>
          <a:p>
            <a:pPr>
              <a:spcBef>
                <a:spcPct val="20000"/>
              </a:spcBef>
              <a:defRPr/>
            </a:pPr>
            <a:r>
              <a:rPr lang="de-CH" b="1" kern="0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Agenda</a:t>
            </a:r>
            <a:endParaRPr lang="en-GB" b="1" kern="0" dirty="0">
              <a:solidFill>
                <a:schemeClr val="accent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9465" name="Rectangle 9"/>
          <p:cNvSpPr>
            <a:spLocks noChangeArrowheads="1"/>
          </p:cNvSpPr>
          <p:nvPr/>
        </p:nvSpPr>
        <p:spPr bwMode="auto">
          <a:xfrm>
            <a:off x="285750" y="3568224"/>
            <a:ext cx="7745413" cy="381000"/>
          </a:xfrm>
          <a:prstGeom prst="rect">
            <a:avLst/>
          </a:prstGeom>
          <a:solidFill>
            <a:srgbClr val="DDDDDD"/>
          </a:solidFill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>
              <a:lnSpc>
                <a:spcPts val="2200"/>
              </a:lnSpc>
              <a:spcBef>
                <a:spcPct val="20000"/>
              </a:spcBef>
            </a:pPr>
            <a:r>
              <a:rPr lang="de-CH" sz="1600" b="1"/>
              <a:t>3. Der Blick zurück </a:t>
            </a:r>
            <a:endParaRPr lang="en-GB" sz="1600" b="1"/>
          </a:p>
        </p:txBody>
      </p:sp>
      <p:sp>
        <p:nvSpPr>
          <p:cNvPr id="19466" name="Rectangle 9"/>
          <p:cNvSpPr>
            <a:spLocks noChangeArrowheads="1"/>
          </p:cNvSpPr>
          <p:nvPr/>
        </p:nvSpPr>
        <p:spPr bwMode="auto">
          <a:xfrm>
            <a:off x="285750" y="2405063"/>
            <a:ext cx="7745413" cy="381000"/>
          </a:xfrm>
          <a:prstGeom prst="rect">
            <a:avLst/>
          </a:prstGeom>
          <a:solidFill>
            <a:srgbClr val="DDDDDD"/>
          </a:solidFill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>
              <a:lnSpc>
                <a:spcPts val="2200"/>
              </a:lnSpc>
              <a:spcBef>
                <a:spcPct val="20000"/>
              </a:spcBef>
            </a:pPr>
            <a:r>
              <a:rPr lang="de-CH" sz="1600" b="1"/>
              <a:t>1. Die Informatik der BKW FMB Energie AG (BKW ICT)</a:t>
            </a:r>
            <a:endParaRPr lang="en-GB" sz="1600" b="1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hteck 125"/>
          <p:cNvSpPr>
            <a:spLocks noChangeArrowheads="1"/>
          </p:cNvSpPr>
          <p:nvPr/>
        </p:nvSpPr>
        <p:spPr bwMode="auto">
          <a:xfrm>
            <a:off x="2000250" y="4500563"/>
            <a:ext cx="5929313" cy="928687"/>
          </a:xfrm>
          <a:prstGeom prst="rect">
            <a:avLst/>
          </a:prstGeom>
          <a:solidFill>
            <a:schemeClr val="bg1">
              <a:alpha val="50195"/>
            </a:schemeClr>
          </a:solidFill>
          <a:ln w="12700" algn="ctr">
            <a:noFill/>
            <a:round/>
            <a:headEnd type="none" w="sm" len="sm"/>
            <a:tailEnd type="none" w="sm" len="sm"/>
          </a:ln>
        </p:spPr>
        <p:txBody>
          <a:bodyPr/>
          <a:lstStyle/>
          <a:p>
            <a:pPr marL="628650" indent="-180975">
              <a:buFont typeface="Arial" charset="0"/>
              <a:buChar char="•"/>
            </a:pPr>
            <a:r>
              <a:rPr lang="de-CH" sz="1600"/>
              <a:t>Implementieren der konzernweiten Datenarchitektur</a:t>
            </a:r>
          </a:p>
          <a:p>
            <a:pPr marL="628650" indent="-180975">
              <a:buFont typeface="Arial" charset="0"/>
              <a:buChar char="•"/>
            </a:pPr>
            <a:r>
              <a:rPr lang="de-CH" sz="1600"/>
              <a:t>Einbinden sämtlicher Stakeholder</a:t>
            </a:r>
          </a:p>
          <a:p>
            <a:pPr marL="628650" indent="-180975">
              <a:buFont typeface="Arial" charset="0"/>
              <a:buChar char="•"/>
            </a:pPr>
            <a:r>
              <a:rPr lang="de-CH" sz="1600"/>
              <a:t>Domänenübergreifender Bedarf abstimmen/koordinieren</a:t>
            </a:r>
          </a:p>
        </p:txBody>
      </p:sp>
      <p:sp>
        <p:nvSpPr>
          <p:cNvPr id="20483" name="Rechteck 121"/>
          <p:cNvSpPr>
            <a:spLocks noChangeArrowheads="1"/>
          </p:cNvSpPr>
          <p:nvPr/>
        </p:nvSpPr>
        <p:spPr bwMode="auto">
          <a:xfrm>
            <a:off x="2000250" y="3286125"/>
            <a:ext cx="5929313" cy="1143000"/>
          </a:xfrm>
          <a:prstGeom prst="rect">
            <a:avLst/>
          </a:prstGeom>
          <a:solidFill>
            <a:schemeClr val="bg1">
              <a:alpha val="50195"/>
            </a:schemeClr>
          </a:solidFill>
          <a:ln w="12700" algn="ctr">
            <a:noFill/>
            <a:round/>
            <a:headEnd type="none" w="sm" len="sm"/>
            <a:tailEnd type="none" w="sm" len="sm"/>
          </a:ln>
        </p:spPr>
        <p:txBody>
          <a:bodyPr/>
          <a:lstStyle/>
          <a:p>
            <a:pPr marL="628650" indent="-180975">
              <a:buFont typeface="Arial" charset="0"/>
              <a:buChar char="•"/>
            </a:pPr>
            <a:r>
              <a:rPr lang="de-CH" sz="1600"/>
              <a:t>Standards Systemarchitektur setzen sich durch </a:t>
            </a:r>
          </a:p>
          <a:p>
            <a:pPr marL="628650" indent="-180975">
              <a:buFont typeface="Arial" charset="0"/>
              <a:buChar char="•"/>
            </a:pPr>
            <a:r>
              <a:rPr lang="de-CH" sz="1600"/>
              <a:t>Kostendruck forciert Synergienutzung</a:t>
            </a:r>
          </a:p>
          <a:p>
            <a:pPr marL="628650" indent="-180975">
              <a:buFont typeface="Arial" charset="0"/>
              <a:buChar char="•"/>
            </a:pPr>
            <a:r>
              <a:rPr lang="de-CH" sz="1600"/>
              <a:t>Auswertungsbedarf domänenübergreifender Informationen nimmt an Bedeutung zu</a:t>
            </a:r>
          </a:p>
          <a:p>
            <a:pPr marL="628650" indent="-180975">
              <a:buFont typeface="Arial" charset="0"/>
              <a:buChar char="•"/>
            </a:pPr>
            <a:endParaRPr lang="de-CH" sz="1600"/>
          </a:p>
        </p:txBody>
      </p:sp>
      <p:sp>
        <p:nvSpPr>
          <p:cNvPr id="20484" name="Rechteck 123"/>
          <p:cNvSpPr>
            <a:spLocks noChangeArrowheads="1"/>
          </p:cNvSpPr>
          <p:nvPr/>
        </p:nvSpPr>
        <p:spPr bwMode="auto">
          <a:xfrm>
            <a:off x="500063" y="3429000"/>
            <a:ext cx="1928812" cy="347663"/>
          </a:xfrm>
          <a:prstGeom prst="rect">
            <a:avLst/>
          </a:prstGeom>
          <a:solidFill>
            <a:schemeClr val="accent1"/>
          </a:solidFill>
          <a:ln w="12700" algn="ctr">
            <a:noFill/>
            <a:round/>
            <a:headEnd type="none" w="sm" len="sm"/>
            <a:tailEnd type="none" w="sm" len="sm"/>
          </a:ln>
        </p:spPr>
        <p:txBody>
          <a:bodyPr/>
          <a:lstStyle/>
          <a:p>
            <a:r>
              <a:rPr lang="de-CH" sz="1400" b="1"/>
              <a:t>Ausgangslage</a:t>
            </a:r>
          </a:p>
        </p:txBody>
      </p:sp>
      <p:sp>
        <p:nvSpPr>
          <p:cNvPr id="20485" name="Rechteck 124"/>
          <p:cNvSpPr>
            <a:spLocks noChangeArrowheads="1"/>
          </p:cNvSpPr>
          <p:nvPr/>
        </p:nvSpPr>
        <p:spPr bwMode="auto">
          <a:xfrm>
            <a:off x="500063" y="4572000"/>
            <a:ext cx="1928812" cy="500063"/>
          </a:xfrm>
          <a:prstGeom prst="rect">
            <a:avLst/>
          </a:prstGeom>
          <a:solidFill>
            <a:schemeClr val="accent1"/>
          </a:solidFill>
          <a:ln w="12700" algn="ctr">
            <a:noFill/>
            <a:round/>
            <a:headEnd type="none" w="sm" len="sm"/>
            <a:tailEnd type="none" w="sm" len="sm"/>
          </a:ln>
        </p:spPr>
        <p:txBody>
          <a:bodyPr/>
          <a:lstStyle/>
          <a:p>
            <a:r>
              <a:rPr lang="de-CH" sz="1400" b="1"/>
              <a:t>Zielsetzung </a:t>
            </a:r>
          </a:p>
          <a:p>
            <a:r>
              <a:rPr lang="de-CH" sz="1400" b="1"/>
              <a:t>Architektur</a:t>
            </a:r>
          </a:p>
        </p:txBody>
      </p:sp>
      <p:sp>
        <p:nvSpPr>
          <p:cNvPr id="20486" name="Rechteck 125"/>
          <p:cNvSpPr>
            <a:spLocks noChangeArrowheads="1"/>
          </p:cNvSpPr>
          <p:nvPr/>
        </p:nvSpPr>
        <p:spPr bwMode="auto">
          <a:xfrm>
            <a:off x="2000250" y="5500688"/>
            <a:ext cx="5929313" cy="857250"/>
          </a:xfrm>
          <a:prstGeom prst="rect">
            <a:avLst/>
          </a:prstGeom>
          <a:solidFill>
            <a:schemeClr val="bg1">
              <a:alpha val="50195"/>
            </a:schemeClr>
          </a:solidFill>
          <a:ln w="12700" algn="ctr">
            <a:noFill/>
            <a:round/>
            <a:headEnd type="none" w="sm" len="sm"/>
            <a:tailEnd type="none" w="sm" len="sm"/>
          </a:ln>
        </p:spPr>
        <p:txBody>
          <a:bodyPr/>
          <a:lstStyle/>
          <a:p>
            <a:pPr marL="628650" indent="-180975">
              <a:buFont typeface="Arial" charset="0"/>
              <a:buChar char="•"/>
            </a:pPr>
            <a:r>
              <a:rPr lang="de-CH" sz="1600"/>
              <a:t>Bereitstellen von Prozessen und Abstimmgremien zur gesteuerten Weiterentwicklung der DWH-Architektur</a:t>
            </a:r>
          </a:p>
          <a:p>
            <a:pPr marL="628650" indent="-180975">
              <a:buFont typeface="Arial" charset="0"/>
              <a:buChar char="•"/>
            </a:pPr>
            <a:r>
              <a:rPr lang="de-CH" sz="1600"/>
              <a:t>Klärung der Aufgabenteilung Fachbereich und ICT</a:t>
            </a:r>
          </a:p>
          <a:p>
            <a:pPr marL="628650" indent="-180975">
              <a:buFont typeface="Arial" charset="0"/>
              <a:buChar char="•"/>
            </a:pPr>
            <a:endParaRPr lang="de-CH" sz="1600"/>
          </a:p>
        </p:txBody>
      </p:sp>
      <p:sp>
        <p:nvSpPr>
          <p:cNvPr id="20487" name="Rechteck 124"/>
          <p:cNvSpPr>
            <a:spLocks noChangeArrowheads="1"/>
          </p:cNvSpPr>
          <p:nvPr/>
        </p:nvSpPr>
        <p:spPr bwMode="auto">
          <a:xfrm>
            <a:off x="500063" y="5572125"/>
            <a:ext cx="1928812" cy="500063"/>
          </a:xfrm>
          <a:prstGeom prst="rect">
            <a:avLst/>
          </a:prstGeom>
          <a:solidFill>
            <a:schemeClr val="accent1"/>
          </a:solidFill>
          <a:ln w="12700" algn="ctr">
            <a:noFill/>
            <a:round/>
            <a:headEnd type="none" w="sm" len="sm"/>
            <a:tailEnd type="none" w="sm" len="sm"/>
          </a:ln>
        </p:spPr>
        <p:txBody>
          <a:bodyPr/>
          <a:lstStyle/>
          <a:p>
            <a:r>
              <a:rPr lang="de-CH" sz="1400" b="1"/>
              <a:t>Richtungsweisung</a:t>
            </a:r>
          </a:p>
          <a:p>
            <a:r>
              <a:rPr lang="de-CH" sz="1400" b="1"/>
              <a:t>Architektur</a:t>
            </a:r>
          </a:p>
        </p:txBody>
      </p:sp>
      <p:pic>
        <p:nvPicPr>
          <p:cNvPr id="2048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71500" y="1214438"/>
            <a:ext cx="3379788" cy="1857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489" name="Picture 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286250" y="1357313"/>
            <a:ext cx="4024313" cy="185737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</p:pic>
      <p:sp>
        <p:nvSpPr>
          <p:cNvPr id="20490" name="Textfeld 14"/>
          <p:cNvSpPr txBox="1">
            <a:spLocks noChangeArrowheads="1"/>
          </p:cNvSpPr>
          <p:nvPr/>
        </p:nvSpPr>
        <p:spPr bwMode="auto">
          <a:xfrm>
            <a:off x="4214813" y="1071563"/>
            <a:ext cx="2409825" cy="2460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de-CH" sz="1000"/>
              <a:t>Abstimmpozess DWH-Datenarchitektur</a:t>
            </a:r>
          </a:p>
        </p:txBody>
      </p:sp>
      <p:sp>
        <p:nvSpPr>
          <p:cNvPr id="12" name="Rectangle 2"/>
          <p:cNvSpPr txBox="1">
            <a:spLocks noChangeArrowheads="1"/>
          </p:cNvSpPr>
          <p:nvPr/>
        </p:nvSpPr>
        <p:spPr bwMode="auto">
          <a:xfrm>
            <a:off x="500063" y="441325"/>
            <a:ext cx="7558087" cy="487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/>
          <a:lstStyle/>
          <a:p>
            <a:pPr>
              <a:spcBef>
                <a:spcPct val="20000"/>
              </a:spcBef>
              <a:defRPr/>
            </a:pPr>
            <a:r>
              <a:rPr lang="de-CH" b="1" kern="0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6. Festlegung einer geeigneten DWH-Organisation</a:t>
            </a:r>
          </a:p>
          <a:p>
            <a:pPr>
              <a:spcBef>
                <a:spcPct val="20000"/>
              </a:spcBef>
              <a:defRPr/>
            </a:pPr>
            <a:r>
              <a:rPr lang="de-CH" b="1" kern="0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    </a:t>
            </a:r>
            <a:r>
              <a:rPr lang="de-CH" b="1" kern="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Ausgangslage / Ziele / Richtungsweisung</a:t>
            </a:r>
          </a:p>
        </p:txBody>
      </p:sp>
      <p:sp>
        <p:nvSpPr>
          <p:cNvPr id="20492" name="Rechteck 12"/>
          <p:cNvSpPr>
            <a:spLocks noChangeArrowheads="1"/>
          </p:cNvSpPr>
          <p:nvPr/>
        </p:nvSpPr>
        <p:spPr bwMode="auto">
          <a:xfrm>
            <a:off x="4214813" y="3071813"/>
            <a:ext cx="642937" cy="142875"/>
          </a:xfrm>
          <a:prstGeom prst="rect">
            <a:avLst/>
          </a:prstGeom>
          <a:solidFill>
            <a:srgbClr val="FFFFFF"/>
          </a:solidFill>
          <a:ln w="12700" algn="ctr">
            <a:solidFill>
              <a:srgbClr val="FFFFFF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de-DE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2"/>
          <p:cNvSpPr txBox="1">
            <a:spLocks noChangeArrowheads="1"/>
          </p:cNvSpPr>
          <p:nvPr/>
        </p:nvSpPr>
        <p:spPr bwMode="auto">
          <a:xfrm>
            <a:off x="500063" y="441325"/>
            <a:ext cx="7558087" cy="487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/>
          <a:lstStyle/>
          <a:p>
            <a:pPr>
              <a:spcBef>
                <a:spcPct val="20000"/>
              </a:spcBef>
              <a:defRPr/>
            </a:pPr>
            <a:r>
              <a:rPr lang="de-CH" b="1" kern="0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6. Festlegung einer geeigneten DWH-Organisation</a:t>
            </a:r>
          </a:p>
          <a:p>
            <a:pPr>
              <a:spcBef>
                <a:spcPct val="20000"/>
              </a:spcBef>
              <a:defRPr/>
            </a:pPr>
            <a:r>
              <a:rPr lang="de-CH" b="1" kern="0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    </a:t>
            </a:r>
            <a:r>
              <a:rPr lang="de-CH" b="1" kern="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Aufgabenabgrenzung Fachbereich / BKW ICT</a:t>
            </a:r>
          </a:p>
        </p:txBody>
      </p:sp>
      <p:grpSp>
        <p:nvGrpSpPr>
          <p:cNvPr id="21507" name="Group 4"/>
          <p:cNvGrpSpPr>
            <a:grpSpLocks noChangeAspect="1"/>
          </p:cNvGrpSpPr>
          <p:nvPr/>
        </p:nvGrpSpPr>
        <p:grpSpPr bwMode="auto">
          <a:xfrm>
            <a:off x="285750" y="1500188"/>
            <a:ext cx="6326031" cy="3128962"/>
            <a:chOff x="180" y="945"/>
            <a:chExt cx="3369" cy="1971"/>
          </a:xfrm>
        </p:grpSpPr>
        <p:sp>
          <p:nvSpPr>
            <p:cNvPr id="21510" name="AutoShape 3"/>
            <p:cNvSpPr>
              <a:spLocks noChangeAspect="1" noChangeArrowheads="1" noTextEdit="1"/>
            </p:cNvSpPr>
            <p:nvPr/>
          </p:nvSpPr>
          <p:spPr bwMode="auto">
            <a:xfrm>
              <a:off x="180" y="945"/>
              <a:ext cx="3369" cy="197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de-CH"/>
            </a:p>
          </p:txBody>
        </p:sp>
        <p:grpSp>
          <p:nvGrpSpPr>
            <p:cNvPr id="21511" name="Group 11"/>
            <p:cNvGrpSpPr>
              <a:grpSpLocks/>
            </p:cNvGrpSpPr>
            <p:nvPr/>
          </p:nvGrpSpPr>
          <p:grpSpPr bwMode="auto">
            <a:xfrm>
              <a:off x="310" y="1129"/>
              <a:ext cx="390" cy="367"/>
              <a:chOff x="310" y="1129"/>
              <a:chExt cx="390" cy="367"/>
            </a:xfrm>
          </p:grpSpPr>
          <p:sp>
            <p:nvSpPr>
              <p:cNvPr id="21752" name="Freeform 5"/>
              <p:cNvSpPr>
                <a:spLocks/>
              </p:cNvSpPr>
              <p:nvPr/>
            </p:nvSpPr>
            <p:spPr bwMode="auto">
              <a:xfrm>
                <a:off x="310" y="1129"/>
                <a:ext cx="390" cy="367"/>
              </a:xfrm>
              <a:custGeom>
                <a:avLst/>
                <a:gdLst>
                  <a:gd name="T0" fmla="*/ 6 w 779"/>
                  <a:gd name="T1" fmla="*/ 0 h 735"/>
                  <a:gd name="T2" fmla="*/ 0 w 779"/>
                  <a:gd name="T3" fmla="*/ 5 h 735"/>
                  <a:gd name="T4" fmla="*/ 0 w 779"/>
                  <a:gd name="T5" fmla="*/ 22 h 735"/>
                  <a:gd name="T6" fmla="*/ 19 w 779"/>
                  <a:gd name="T7" fmla="*/ 22 h 735"/>
                  <a:gd name="T8" fmla="*/ 25 w 779"/>
                  <a:gd name="T9" fmla="*/ 17 h 735"/>
                  <a:gd name="T10" fmla="*/ 25 w 779"/>
                  <a:gd name="T11" fmla="*/ 0 h 735"/>
                  <a:gd name="T12" fmla="*/ 6 w 779"/>
                  <a:gd name="T13" fmla="*/ 0 h 735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779"/>
                  <a:gd name="T22" fmla="*/ 0 h 735"/>
                  <a:gd name="T23" fmla="*/ 779 w 779"/>
                  <a:gd name="T24" fmla="*/ 735 h 735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779" h="735">
                    <a:moveTo>
                      <a:pt x="183" y="0"/>
                    </a:moveTo>
                    <a:lnTo>
                      <a:pt x="0" y="184"/>
                    </a:lnTo>
                    <a:lnTo>
                      <a:pt x="0" y="735"/>
                    </a:lnTo>
                    <a:lnTo>
                      <a:pt x="596" y="735"/>
                    </a:lnTo>
                    <a:lnTo>
                      <a:pt x="779" y="551"/>
                    </a:lnTo>
                    <a:lnTo>
                      <a:pt x="779" y="0"/>
                    </a:lnTo>
                    <a:lnTo>
                      <a:pt x="183" y="0"/>
                    </a:lnTo>
                    <a:close/>
                  </a:path>
                </a:pathLst>
              </a:custGeom>
              <a:solidFill>
                <a:srgbClr val="EAEAEA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de-CH"/>
              </a:p>
            </p:txBody>
          </p:sp>
          <p:sp>
            <p:nvSpPr>
              <p:cNvPr id="21753" name="Freeform 6"/>
              <p:cNvSpPr>
                <a:spLocks/>
              </p:cNvSpPr>
              <p:nvPr/>
            </p:nvSpPr>
            <p:spPr bwMode="auto">
              <a:xfrm>
                <a:off x="310" y="1129"/>
                <a:ext cx="390" cy="91"/>
              </a:xfrm>
              <a:custGeom>
                <a:avLst/>
                <a:gdLst>
                  <a:gd name="T0" fmla="*/ 0 w 779"/>
                  <a:gd name="T1" fmla="*/ 5 h 184"/>
                  <a:gd name="T2" fmla="*/ 19 w 779"/>
                  <a:gd name="T3" fmla="*/ 5 h 184"/>
                  <a:gd name="T4" fmla="*/ 25 w 779"/>
                  <a:gd name="T5" fmla="*/ 0 h 184"/>
                  <a:gd name="T6" fmla="*/ 6 w 779"/>
                  <a:gd name="T7" fmla="*/ 0 h 184"/>
                  <a:gd name="T8" fmla="*/ 0 w 779"/>
                  <a:gd name="T9" fmla="*/ 5 h 18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79"/>
                  <a:gd name="T16" fmla="*/ 0 h 184"/>
                  <a:gd name="T17" fmla="*/ 779 w 779"/>
                  <a:gd name="T18" fmla="*/ 184 h 18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79" h="184">
                    <a:moveTo>
                      <a:pt x="0" y="184"/>
                    </a:moveTo>
                    <a:lnTo>
                      <a:pt x="596" y="184"/>
                    </a:lnTo>
                    <a:lnTo>
                      <a:pt x="779" y="0"/>
                    </a:lnTo>
                    <a:lnTo>
                      <a:pt x="183" y="0"/>
                    </a:lnTo>
                    <a:lnTo>
                      <a:pt x="0" y="184"/>
                    </a:lnTo>
                    <a:close/>
                  </a:path>
                </a:pathLst>
              </a:custGeom>
              <a:solidFill>
                <a:srgbClr val="EFEFE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de-CH"/>
              </a:p>
            </p:txBody>
          </p:sp>
          <p:sp>
            <p:nvSpPr>
              <p:cNvPr id="21754" name="Freeform 7"/>
              <p:cNvSpPr>
                <a:spLocks/>
              </p:cNvSpPr>
              <p:nvPr/>
            </p:nvSpPr>
            <p:spPr bwMode="auto">
              <a:xfrm>
                <a:off x="608" y="1129"/>
                <a:ext cx="92" cy="367"/>
              </a:xfrm>
              <a:custGeom>
                <a:avLst/>
                <a:gdLst>
                  <a:gd name="T0" fmla="*/ 0 w 183"/>
                  <a:gd name="T1" fmla="*/ 5 h 735"/>
                  <a:gd name="T2" fmla="*/ 6 w 183"/>
                  <a:gd name="T3" fmla="*/ 0 h 735"/>
                  <a:gd name="T4" fmla="*/ 6 w 183"/>
                  <a:gd name="T5" fmla="*/ 17 h 735"/>
                  <a:gd name="T6" fmla="*/ 0 w 183"/>
                  <a:gd name="T7" fmla="*/ 22 h 735"/>
                  <a:gd name="T8" fmla="*/ 0 w 183"/>
                  <a:gd name="T9" fmla="*/ 5 h 73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83"/>
                  <a:gd name="T16" fmla="*/ 0 h 735"/>
                  <a:gd name="T17" fmla="*/ 183 w 183"/>
                  <a:gd name="T18" fmla="*/ 735 h 73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83" h="735">
                    <a:moveTo>
                      <a:pt x="0" y="184"/>
                    </a:moveTo>
                    <a:lnTo>
                      <a:pt x="183" y="0"/>
                    </a:lnTo>
                    <a:lnTo>
                      <a:pt x="183" y="551"/>
                    </a:lnTo>
                    <a:lnTo>
                      <a:pt x="0" y="735"/>
                    </a:lnTo>
                    <a:lnTo>
                      <a:pt x="0" y="184"/>
                    </a:lnTo>
                    <a:close/>
                  </a:path>
                </a:pathLst>
              </a:custGeom>
              <a:solidFill>
                <a:srgbClr val="BCBCBC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de-CH"/>
              </a:p>
            </p:txBody>
          </p:sp>
          <p:sp>
            <p:nvSpPr>
              <p:cNvPr id="21755" name="Freeform 8"/>
              <p:cNvSpPr>
                <a:spLocks/>
              </p:cNvSpPr>
              <p:nvPr/>
            </p:nvSpPr>
            <p:spPr bwMode="auto">
              <a:xfrm>
                <a:off x="310" y="1129"/>
                <a:ext cx="390" cy="367"/>
              </a:xfrm>
              <a:custGeom>
                <a:avLst/>
                <a:gdLst>
                  <a:gd name="T0" fmla="*/ 6 w 779"/>
                  <a:gd name="T1" fmla="*/ 0 h 735"/>
                  <a:gd name="T2" fmla="*/ 0 w 779"/>
                  <a:gd name="T3" fmla="*/ 5 h 735"/>
                  <a:gd name="T4" fmla="*/ 0 w 779"/>
                  <a:gd name="T5" fmla="*/ 22 h 735"/>
                  <a:gd name="T6" fmla="*/ 19 w 779"/>
                  <a:gd name="T7" fmla="*/ 22 h 735"/>
                  <a:gd name="T8" fmla="*/ 25 w 779"/>
                  <a:gd name="T9" fmla="*/ 17 h 735"/>
                  <a:gd name="T10" fmla="*/ 25 w 779"/>
                  <a:gd name="T11" fmla="*/ 0 h 735"/>
                  <a:gd name="T12" fmla="*/ 6 w 779"/>
                  <a:gd name="T13" fmla="*/ 0 h 735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779"/>
                  <a:gd name="T22" fmla="*/ 0 h 735"/>
                  <a:gd name="T23" fmla="*/ 779 w 779"/>
                  <a:gd name="T24" fmla="*/ 735 h 735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779" h="735">
                    <a:moveTo>
                      <a:pt x="183" y="0"/>
                    </a:moveTo>
                    <a:lnTo>
                      <a:pt x="0" y="184"/>
                    </a:lnTo>
                    <a:lnTo>
                      <a:pt x="0" y="735"/>
                    </a:lnTo>
                    <a:lnTo>
                      <a:pt x="596" y="735"/>
                    </a:lnTo>
                    <a:lnTo>
                      <a:pt x="779" y="551"/>
                    </a:lnTo>
                    <a:lnTo>
                      <a:pt x="779" y="0"/>
                    </a:lnTo>
                    <a:lnTo>
                      <a:pt x="183" y="0"/>
                    </a:lnTo>
                    <a:close/>
                  </a:path>
                </a:pathLst>
              </a:custGeom>
              <a:noFill/>
              <a:ln w="5">
                <a:solidFill>
                  <a:srgbClr val="DDDDDD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de-CH"/>
              </a:p>
            </p:txBody>
          </p:sp>
          <p:sp>
            <p:nvSpPr>
              <p:cNvPr id="21756" name="Freeform 9"/>
              <p:cNvSpPr>
                <a:spLocks/>
              </p:cNvSpPr>
              <p:nvPr/>
            </p:nvSpPr>
            <p:spPr bwMode="auto">
              <a:xfrm>
                <a:off x="310" y="1129"/>
                <a:ext cx="390" cy="91"/>
              </a:xfrm>
              <a:custGeom>
                <a:avLst/>
                <a:gdLst>
                  <a:gd name="T0" fmla="*/ 0 w 779"/>
                  <a:gd name="T1" fmla="*/ 5 h 184"/>
                  <a:gd name="T2" fmla="*/ 19 w 779"/>
                  <a:gd name="T3" fmla="*/ 5 h 184"/>
                  <a:gd name="T4" fmla="*/ 25 w 779"/>
                  <a:gd name="T5" fmla="*/ 0 h 184"/>
                  <a:gd name="T6" fmla="*/ 0 60000 65536"/>
                  <a:gd name="T7" fmla="*/ 0 60000 65536"/>
                  <a:gd name="T8" fmla="*/ 0 60000 65536"/>
                  <a:gd name="T9" fmla="*/ 0 w 779"/>
                  <a:gd name="T10" fmla="*/ 0 h 184"/>
                  <a:gd name="T11" fmla="*/ 779 w 779"/>
                  <a:gd name="T12" fmla="*/ 184 h 184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779" h="184">
                    <a:moveTo>
                      <a:pt x="0" y="184"/>
                    </a:moveTo>
                    <a:lnTo>
                      <a:pt x="596" y="184"/>
                    </a:lnTo>
                    <a:lnTo>
                      <a:pt x="779" y="0"/>
                    </a:lnTo>
                  </a:path>
                </a:pathLst>
              </a:custGeom>
              <a:noFill/>
              <a:ln w="5">
                <a:solidFill>
                  <a:srgbClr val="DDDDDD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de-CH"/>
              </a:p>
            </p:txBody>
          </p:sp>
          <p:sp>
            <p:nvSpPr>
              <p:cNvPr id="21757" name="Line 10"/>
              <p:cNvSpPr>
                <a:spLocks noChangeShapeType="1"/>
              </p:cNvSpPr>
              <p:nvPr/>
            </p:nvSpPr>
            <p:spPr bwMode="auto">
              <a:xfrm>
                <a:off x="608" y="1220"/>
                <a:ext cx="1" cy="276"/>
              </a:xfrm>
              <a:prstGeom prst="line">
                <a:avLst/>
              </a:prstGeom>
              <a:noFill/>
              <a:ln w="5">
                <a:solidFill>
                  <a:srgbClr val="DDDDDD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de-CH"/>
              </a:p>
            </p:txBody>
          </p:sp>
        </p:grpSp>
        <p:grpSp>
          <p:nvGrpSpPr>
            <p:cNvPr id="21512" name="Group 18"/>
            <p:cNvGrpSpPr>
              <a:grpSpLocks/>
            </p:cNvGrpSpPr>
            <p:nvPr/>
          </p:nvGrpSpPr>
          <p:grpSpPr bwMode="auto">
            <a:xfrm>
              <a:off x="310" y="1159"/>
              <a:ext cx="390" cy="368"/>
              <a:chOff x="310" y="1159"/>
              <a:chExt cx="390" cy="368"/>
            </a:xfrm>
          </p:grpSpPr>
          <p:sp>
            <p:nvSpPr>
              <p:cNvPr id="21746" name="Freeform 12"/>
              <p:cNvSpPr>
                <a:spLocks/>
              </p:cNvSpPr>
              <p:nvPr/>
            </p:nvSpPr>
            <p:spPr bwMode="auto">
              <a:xfrm>
                <a:off x="310" y="1159"/>
                <a:ext cx="390" cy="368"/>
              </a:xfrm>
              <a:custGeom>
                <a:avLst/>
                <a:gdLst>
                  <a:gd name="T0" fmla="*/ 6 w 779"/>
                  <a:gd name="T1" fmla="*/ 0 h 734"/>
                  <a:gd name="T2" fmla="*/ 0 w 779"/>
                  <a:gd name="T3" fmla="*/ 6 h 734"/>
                  <a:gd name="T4" fmla="*/ 0 w 779"/>
                  <a:gd name="T5" fmla="*/ 24 h 734"/>
                  <a:gd name="T6" fmla="*/ 19 w 779"/>
                  <a:gd name="T7" fmla="*/ 24 h 734"/>
                  <a:gd name="T8" fmla="*/ 25 w 779"/>
                  <a:gd name="T9" fmla="*/ 18 h 734"/>
                  <a:gd name="T10" fmla="*/ 25 w 779"/>
                  <a:gd name="T11" fmla="*/ 0 h 734"/>
                  <a:gd name="T12" fmla="*/ 6 w 779"/>
                  <a:gd name="T13" fmla="*/ 0 h 734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779"/>
                  <a:gd name="T22" fmla="*/ 0 h 734"/>
                  <a:gd name="T23" fmla="*/ 779 w 779"/>
                  <a:gd name="T24" fmla="*/ 734 h 734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779" h="734">
                    <a:moveTo>
                      <a:pt x="183" y="0"/>
                    </a:moveTo>
                    <a:lnTo>
                      <a:pt x="0" y="183"/>
                    </a:lnTo>
                    <a:lnTo>
                      <a:pt x="0" y="734"/>
                    </a:lnTo>
                    <a:lnTo>
                      <a:pt x="596" y="734"/>
                    </a:lnTo>
                    <a:lnTo>
                      <a:pt x="779" y="550"/>
                    </a:lnTo>
                    <a:lnTo>
                      <a:pt x="779" y="0"/>
                    </a:lnTo>
                    <a:lnTo>
                      <a:pt x="183" y="0"/>
                    </a:lnTo>
                    <a:close/>
                  </a:path>
                </a:pathLst>
              </a:custGeom>
              <a:solidFill>
                <a:srgbClr val="EAEAEA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de-CH"/>
              </a:p>
            </p:txBody>
          </p:sp>
          <p:sp>
            <p:nvSpPr>
              <p:cNvPr id="21747" name="Freeform 13"/>
              <p:cNvSpPr>
                <a:spLocks/>
              </p:cNvSpPr>
              <p:nvPr/>
            </p:nvSpPr>
            <p:spPr bwMode="auto">
              <a:xfrm>
                <a:off x="310" y="1159"/>
                <a:ext cx="390" cy="92"/>
              </a:xfrm>
              <a:custGeom>
                <a:avLst/>
                <a:gdLst>
                  <a:gd name="T0" fmla="*/ 0 w 779"/>
                  <a:gd name="T1" fmla="*/ 6 h 183"/>
                  <a:gd name="T2" fmla="*/ 19 w 779"/>
                  <a:gd name="T3" fmla="*/ 6 h 183"/>
                  <a:gd name="T4" fmla="*/ 25 w 779"/>
                  <a:gd name="T5" fmla="*/ 0 h 183"/>
                  <a:gd name="T6" fmla="*/ 6 w 779"/>
                  <a:gd name="T7" fmla="*/ 0 h 183"/>
                  <a:gd name="T8" fmla="*/ 0 w 779"/>
                  <a:gd name="T9" fmla="*/ 6 h 18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79"/>
                  <a:gd name="T16" fmla="*/ 0 h 183"/>
                  <a:gd name="T17" fmla="*/ 779 w 779"/>
                  <a:gd name="T18" fmla="*/ 183 h 18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79" h="183">
                    <a:moveTo>
                      <a:pt x="0" y="183"/>
                    </a:moveTo>
                    <a:lnTo>
                      <a:pt x="596" y="183"/>
                    </a:lnTo>
                    <a:lnTo>
                      <a:pt x="779" y="0"/>
                    </a:lnTo>
                    <a:lnTo>
                      <a:pt x="183" y="0"/>
                    </a:lnTo>
                    <a:lnTo>
                      <a:pt x="0" y="183"/>
                    </a:lnTo>
                    <a:close/>
                  </a:path>
                </a:pathLst>
              </a:custGeom>
              <a:solidFill>
                <a:srgbClr val="EFEFE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de-CH"/>
              </a:p>
            </p:txBody>
          </p:sp>
          <p:sp>
            <p:nvSpPr>
              <p:cNvPr id="21748" name="Freeform 14"/>
              <p:cNvSpPr>
                <a:spLocks/>
              </p:cNvSpPr>
              <p:nvPr/>
            </p:nvSpPr>
            <p:spPr bwMode="auto">
              <a:xfrm>
                <a:off x="608" y="1159"/>
                <a:ext cx="92" cy="368"/>
              </a:xfrm>
              <a:custGeom>
                <a:avLst/>
                <a:gdLst>
                  <a:gd name="T0" fmla="*/ 0 w 183"/>
                  <a:gd name="T1" fmla="*/ 6 h 734"/>
                  <a:gd name="T2" fmla="*/ 6 w 183"/>
                  <a:gd name="T3" fmla="*/ 0 h 734"/>
                  <a:gd name="T4" fmla="*/ 6 w 183"/>
                  <a:gd name="T5" fmla="*/ 18 h 734"/>
                  <a:gd name="T6" fmla="*/ 0 w 183"/>
                  <a:gd name="T7" fmla="*/ 24 h 734"/>
                  <a:gd name="T8" fmla="*/ 0 w 183"/>
                  <a:gd name="T9" fmla="*/ 6 h 73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83"/>
                  <a:gd name="T16" fmla="*/ 0 h 734"/>
                  <a:gd name="T17" fmla="*/ 183 w 183"/>
                  <a:gd name="T18" fmla="*/ 734 h 73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83" h="734">
                    <a:moveTo>
                      <a:pt x="0" y="183"/>
                    </a:moveTo>
                    <a:lnTo>
                      <a:pt x="183" y="0"/>
                    </a:lnTo>
                    <a:lnTo>
                      <a:pt x="183" y="550"/>
                    </a:lnTo>
                    <a:lnTo>
                      <a:pt x="0" y="734"/>
                    </a:lnTo>
                    <a:lnTo>
                      <a:pt x="0" y="183"/>
                    </a:lnTo>
                    <a:close/>
                  </a:path>
                </a:pathLst>
              </a:custGeom>
              <a:solidFill>
                <a:srgbClr val="BCBCBC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de-CH"/>
              </a:p>
            </p:txBody>
          </p:sp>
          <p:sp>
            <p:nvSpPr>
              <p:cNvPr id="21749" name="Freeform 15"/>
              <p:cNvSpPr>
                <a:spLocks/>
              </p:cNvSpPr>
              <p:nvPr/>
            </p:nvSpPr>
            <p:spPr bwMode="auto">
              <a:xfrm>
                <a:off x="310" y="1159"/>
                <a:ext cx="390" cy="368"/>
              </a:xfrm>
              <a:custGeom>
                <a:avLst/>
                <a:gdLst>
                  <a:gd name="T0" fmla="*/ 6 w 779"/>
                  <a:gd name="T1" fmla="*/ 0 h 734"/>
                  <a:gd name="T2" fmla="*/ 0 w 779"/>
                  <a:gd name="T3" fmla="*/ 6 h 734"/>
                  <a:gd name="T4" fmla="*/ 0 w 779"/>
                  <a:gd name="T5" fmla="*/ 24 h 734"/>
                  <a:gd name="T6" fmla="*/ 19 w 779"/>
                  <a:gd name="T7" fmla="*/ 24 h 734"/>
                  <a:gd name="T8" fmla="*/ 25 w 779"/>
                  <a:gd name="T9" fmla="*/ 18 h 734"/>
                  <a:gd name="T10" fmla="*/ 25 w 779"/>
                  <a:gd name="T11" fmla="*/ 0 h 734"/>
                  <a:gd name="T12" fmla="*/ 6 w 779"/>
                  <a:gd name="T13" fmla="*/ 0 h 734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779"/>
                  <a:gd name="T22" fmla="*/ 0 h 734"/>
                  <a:gd name="T23" fmla="*/ 779 w 779"/>
                  <a:gd name="T24" fmla="*/ 734 h 734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779" h="734">
                    <a:moveTo>
                      <a:pt x="183" y="0"/>
                    </a:moveTo>
                    <a:lnTo>
                      <a:pt x="0" y="183"/>
                    </a:lnTo>
                    <a:lnTo>
                      <a:pt x="0" y="734"/>
                    </a:lnTo>
                    <a:lnTo>
                      <a:pt x="596" y="734"/>
                    </a:lnTo>
                    <a:lnTo>
                      <a:pt x="779" y="550"/>
                    </a:lnTo>
                    <a:lnTo>
                      <a:pt x="779" y="0"/>
                    </a:lnTo>
                    <a:lnTo>
                      <a:pt x="183" y="0"/>
                    </a:lnTo>
                    <a:close/>
                  </a:path>
                </a:pathLst>
              </a:custGeom>
              <a:noFill/>
              <a:ln w="5">
                <a:solidFill>
                  <a:srgbClr val="DDDDDD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de-CH"/>
              </a:p>
            </p:txBody>
          </p:sp>
          <p:sp>
            <p:nvSpPr>
              <p:cNvPr id="21750" name="Freeform 16"/>
              <p:cNvSpPr>
                <a:spLocks/>
              </p:cNvSpPr>
              <p:nvPr/>
            </p:nvSpPr>
            <p:spPr bwMode="auto">
              <a:xfrm>
                <a:off x="310" y="1159"/>
                <a:ext cx="390" cy="92"/>
              </a:xfrm>
              <a:custGeom>
                <a:avLst/>
                <a:gdLst>
                  <a:gd name="T0" fmla="*/ 0 w 779"/>
                  <a:gd name="T1" fmla="*/ 6 h 183"/>
                  <a:gd name="T2" fmla="*/ 19 w 779"/>
                  <a:gd name="T3" fmla="*/ 6 h 183"/>
                  <a:gd name="T4" fmla="*/ 25 w 779"/>
                  <a:gd name="T5" fmla="*/ 0 h 183"/>
                  <a:gd name="T6" fmla="*/ 0 60000 65536"/>
                  <a:gd name="T7" fmla="*/ 0 60000 65536"/>
                  <a:gd name="T8" fmla="*/ 0 60000 65536"/>
                  <a:gd name="T9" fmla="*/ 0 w 779"/>
                  <a:gd name="T10" fmla="*/ 0 h 183"/>
                  <a:gd name="T11" fmla="*/ 779 w 779"/>
                  <a:gd name="T12" fmla="*/ 183 h 183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779" h="183">
                    <a:moveTo>
                      <a:pt x="0" y="183"/>
                    </a:moveTo>
                    <a:lnTo>
                      <a:pt x="596" y="183"/>
                    </a:lnTo>
                    <a:lnTo>
                      <a:pt x="779" y="0"/>
                    </a:lnTo>
                  </a:path>
                </a:pathLst>
              </a:custGeom>
              <a:noFill/>
              <a:ln w="5">
                <a:solidFill>
                  <a:srgbClr val="DDDDDD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de-CH"/>
              </a:p>
            </p:txBody>
          </p:sp>
          <p:sp>
            <p:nvSpPr>
              <p:cNvPr id="21751" name="Line 17"/>
              <p:cNvSpPr>
                <a:spLocks noChangeShapeType="1"/>
              </p:cNvSpPr>
              <p:nvPr/>
            </p:nvSpPr>
            <p:spPr bwMode="auto">
              <a:xfrm>
                <a:off x="608" y="1251"/>
                <a:ext cx="1" cy="276"/>
              </a:xfrm>
              <a:prstGeom prst="line">
                <a:avLst/>
              </a:prstGeom>
              <a:noFill/>
              <a:ln w="5">
                <a:solidFill>
                  <a:srgbClr val="DDDDDD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de-CH"/>
              </a:p>
            </p:txBody>
          </p:sp>
        </p:grpSp>
        <p:grpSp>
          <p:nvGrpSpPr>
            <p:cNvPr id="21513" name="Group 22"/>
            <p:cNvGrpSpPr>
              <a:grpSpLocks/>
            </p:cNvGrpSpPr>
            <p:nvPr/>
          </p:nvGrpSpPr>
          <p:grpSpPr bwMode="auto">
            <a:xfrm>
              <a:off x="202" y="1833"/>
              <a:ext cx="606" cy="398"/>
              <a:chOff x="202" y="1833"/>
              <a:chExt cx="606" cy="398"/>
            </a:xfrm>
          </p:grpSpPr>
          <p:sp>
            <p:nvSpPr>
              <p:cNvPr id="21743" name="Freeform 19"/>
              <p:cNvSpPr>
                <a:spLocks/>
              </p:cNvSpPr>
              <p:nvPr/>
            </p:nvSpPr>
            <p:spPr bwMode="auto">
              <a:xfrm>
                <a:off x="202" y="1833"/>
                <a:ext cx="606" cy="398"/>
              </a:xfrm>
              <a:custGeom>
                <a:avLst/>
                <a:gdLst>
                  <a:gd name="T0" fmla="*/ 17 w 1211"/>
                  <a:gd name="T1" fmla="*/ 1 h 796"/>
                  <a:gd name="T2" fmla="*/ 14 w 1211"/>
                  <a:gd name="T3" fmla="*/ 1 h 796"/>
                  <a:gd name="T4" fmla="*/ 10 w 1211"/>
                  <a:gd name="T5" fmla="*/ 1 h 796"/>
                  <a:gd name="T6" fmla="*/ 7 w 1211"/>
                  <a:gd name="T7" fmla="*/ 1 h 796"/>
                  <a:gd name="T8" fmla="*/ 5 w 1211"/>
                  <a:gd name="T9" fmla="*/ 2 h 796"/>
                  <a:gd name="T10" fmla="*/ 3 w 1211"/>
                  <a:gd name="T11" fmla="*/ 3 h 796"/>
                  <a:gd name="T12" fmla="*/ 2 w 1211"/>
                  <a:gd name="T13" fmla="*/ 3 h 796"/>
                  <a:gd name="T14" fmla="*/ 1 w 1211"/>
                  <a:gd name="T15" fmla="*/ 3 h 796"/>
                  <a:gd name="T16" fmla="*/ 1 w 1211"/>
                  <a:gd name="T17" fmla="*/ 3 h 796"/>
                  <a:gd name="T18" fmla="*/ 1 w 1211"/>
                  <a:gd name="T19" fmla="*/ 3 h 796"/>
                  <a:gd name="T20" fmla="*/ 0 w 1211"/>
                  <a:gd name="T21" fmla="*/ 3 h 796"/>
                  <a:gd name="T22" fmla="*/ 1 w 1211"/>
                  <a:gd name="T23" fmla="*/ 22 h 796"/>
                  <a:gd name="T24" fmla="*/ 1 w 1211"/>
                  <a:gd name="T25" fmla="*/ 22 h 796"/>
                  <a:gd name="T26" fmla="*/ 1 w 1211"/>
                  <a:gd name="T27" fmla="*/ 22 h 796"/>
                  <a:gd name="T28" fmla="*/ 2 w 1211"/>
                  <a:gd name="T29" fmla="*/ 23 h 796"/>
                  <a:gd name="T30" fmla="*/ 2 w 1211"/>
                  <a:gd name="T31" fmla="*/ 23 h 796"/>
                  <a:gd name="T32" fmla="*/ 4 w 1211"/>
                  <a:gd name="T33" fmla="*/ 24 h 796"/>
                  <a:gd name="T34" fmla="*/ 6 w 1211"/>
                  <a:gd name="T35" fmla="*/ 24 h 796"/>
                  <a:gd name="T36" fmla="*/ 9 w 1211"/>
                  <a:gd name="T37" fmla="*/ 25 h 796"/>
                  <a:gd name="T38" fmla="*/ 12 w 1211"/>
                  <a:gd name="T39" fmla="*/ 25 h 796"/>
                  <a:gd name="T40" fmla="*/ 16 w 1211"/>
                  <a:gd name="T41" fmla="*/ 25 h 796"/>
                  <a:gd name="T42" fmla="*/ 19 w 1211"/>
                  <a:gd name="T43" fmla="*/ 25 h 796"/>
                  <a:gd name="T44" fmla="*/ 23 w 1211"/>
                  <a:gd name="T45" fmla="*/ 25 h 796"/>
                  <a:gd name="T46" fmla="*/ 27 w 1211"/>
                  <a:gd name="T47" fmla="*/ 25 h 796"/>
                  <a:gd name="T48" fmla="*/ 30 w 1211"/>
                  <a:gd name="T49" fmla="*/ 25 h 796"/>
                  <a:gd name="T50" fmla="*/ 33 w 1211"/>
                  <a:gd name="T51" fmla="*/ 24 h 796"/>
                  <a:gd name="T52" fmla="*/ 35 w 1211"/>
                  <a:gd name="T53" fmla="*/ 24 h 796"/>
                  <a:gd name="T54" fmla="*/ 36 w 1211"/>
                  <a:gd name="T55" fmla="*/ 23 h 796"/>
                  <a:gd name="T56" fmla="*/ 37 w 1211"/>
                  <a:gd name="T57" fmla="*/ 23 h 796"/>
                  <a:gd name="T58" fmla="*/ 38 w 1211"/>
                  <a:gd name="T59" fmla="*/ 22 h 796"/>
                  <a:gd name="T60" fmla="*/ 38 w 1211"/>
                  <a:gd name="T61" fmla="*/ 22 h 796"/>
                  <a:gd name="T62" fmla="*/ 38 w 1211"/>
                  <a:gd name="T63" fmla="*/ 22 h 796"/>
                  <a:gd name="T64" fmla="*/ 38 w 1211"/>
                  <a:gd name="T65" fmla="*/ 3 h 796"/>
                  <a:gd name="T66" fmla="*/ 38 w 1211"/>
                  <a:gd name="T67" fmla="*/ 3 h 796"/>
                  <a:gd name="T68" fmla="*/ 38 w 1211"/>
                  <a:gd name="T69" fmla="*/ 3 h 796"/>
                  <a:gd name="T70" fmla="*/ 37 w 1211"/>
                  <a:gd name="T71" fmla="*/ 3 h 796"/>
                  <a:gd name="T72" fmla="*/ 37 w 1211"/>
                  <a:gd name="T73" fmla="*/ 3 h 796"/>
                  <a:gd name="T74" fmla="*/ 36 w 1211"/>
                  <a:gd name="T75" fmla="*/ 3 h 796"/>
                  <a:gd name="T76" fmla="*/ 34 w 1211"/>
                  <a:gd name="T77" fmla="*/ 2 h 796"/>
                  <a:gd name="T78" fmla="*/ 31 w 1211"/>
                  <a:gd name="T79" fmla="*/ 1 h 796"/>
                  <a:gd name="T80" fmla="*/ 28 w 1211"/>
                  <a:gd name="T81" fmla="*/ 1 h 796"/>
                  <a:gd name="T82" fmla="*/ 25 w 1211"/>
                  <a:gd name="T83" fmla="*/ 1 h 796"/>
                  <a:gd name="T84" fmla="*/ 21 w 1211"/>
                  <a:gd name="T85" fmla="*/ 1 h 79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w 1211"/>
                  <a:gd name="T130" fmla="*/ 0 h 796"/>
                  <a:gd name="T131" fmla="*/ 1211 w 1211"/>
                  <a:gd name="T132" fmla="*/ 796 h 796"/>
                </a:gdLst>
                <a:ahLst/>
                <a:cxnLst>
                  <a:cxn ang="T86">
                    <a:pos x="T0" y="T1"/>
                  </a:cxn>
                  <a:cxn ang="T87">
                    <a:pos x="T2" y="T3"/>
                  </a:cxn>
                  <a:cxn ang="T88">
                    <a:pos x="T4" y="T5"/>
                  </a:cxn>
                  <a:cxn ang="T89">
                    <a:pos x="T6" y="T7"/>
                  </a:cxn>
                  <a:cxn ang="T90">
                    <a:pos x="T8" y="T9"/>
                  </a:cxn>
                  <a:cxn ang="T91">
                    <a:pos x="T10" y="T11"/>
                  </a:cxn>
                  <a:cxn ang="T92">
                    <a:pos x="T12" y="T13"/>
                  </a:cxn>
                  <a:cxn ang="T93">
                    <a:pos x="T14" y="T15"/>
                  </a:cxn>
                  <a:cxn ang="T94">
                    <a:pos x="T16" y="T17"/>
                  </a:cxn>
                  <a:cxn ang="T95">
                    <a:pos x="T18" y="T19"/>
                  </a:cxn>
                  <a:cxn ang="T96">
                    <a:pos x="T20" y="T21"/>
                  </a:cxn>
                  <a:cxn ang="T97">
                    <a:pos x="T22" y="T23"/>
                  </a:cxn>
                  <a:cxn ang="T98">
                    <a:pos x="T24" y="T25"/>
                  </a:cxn>
                  <a:cxn ang="T99">
                    <a:pos x="T26" y="T27"/>
                  </a:cxn>
                  <a:cxn ang="T100">
                    <a:pos x="T28" y="T29"/>
                  </a:cxn>
                  <a:cxn ang="T101">
                    <a:pos x="T30" y="T31"/>
                  </a:cxn>
                  <a:cxn ang="T102">
                    <a:pos x="T32" y="T33"/>
                  </a:cxn>
                  <a:cxn ang="T103">
                    <a:pos x="T34" y="T35"/>
                  </a:cxn>
                  <a:cxn ang="T104">
                    <a:pos x="T36" y="T37"/>
                  </a:cxn>
                  <a:cxn ang="T105">
                    <a:pos x="T38" y="T39"/>
                  </a:cxn>
                  <a:cxn ang="T106">
                    <a:pos x="T40" y="T41"/>
                  </a:cxn>
                  <a:cxn ang="T107">
                    <a:pos x="T42" y="T43"/>
                  </a:cxn>
                  <a:cxn ang="T108">
                    <a:pos x="T44" y="T45"/>
                  </a:cxn>
                  <a:cxn ang="T109">
                    <a:pos x="T46" y="T47"/>
                  </a:cxn>
                  <a:cxn ang="T110">
                    <a:pos x="T48" y="T49"/>
                  </a:cxn>
                  <a:cxn ang="T111">
                    <a:pos x="T50" y="T51"/>
                  </a:cxn>
                  <a:cxn ang="T112">
                    <a:pos x="T52" y="T53"/>
                  </a:cxn>
                  <a:cxn ang="T113">
                    <a:pos x="T54" y="T55"/>
                  </a:cxn>
                  <a:cxn ang="T114">
                    <a:pos x="T56" y="T57"/>
                  </a:cxn>
                  <a:cxn ang="T115">
                    <a:pos x="T58" y="T59"/>
                  </a:cxn>
                  <a:cxn ang="T116">
                    <a:pos x="T60" y="T61"/>
                  </a:cxn>
                  <a:cxn ang="T117">
                    <a:pos x="T62" y="T63"/>
                  </a:cxn>
                  <a:cxn ang="T118">
                    <a:pos x="T64" y="T65"/>
                  </a:cxn>
                  <a:cxn ang="T119">
                    <a:pos x="T66" y="T67"/>
                  </a:cxn>
                  <a:cxn ang="T120">
                    <a:pos x="T68" y="T69"/>
                  </a:cxn>
                  <a:cxn ang="T121">
                    <a:pos x="T70" y="T71"/>
                  </a:cxn>
                  <a:cxn ang="T122">
                    <a:pos x="T72" y="T73"/>
                  </a:cxn>
                  <a:cxn ang="T123">
                    <a:pos x="T74" y="T75"/>
                  </a:cxn>
                  <a:cxn ang="T124">
                    <a:pos x="T76" y="T77"/>
                  </a:cxn>
                  <a:cxn ang="T125">
                    <a:pos x="T78" y="T79"/>
                  </a:cxn>
                  <a:cxn ang="T126">
                    <a:pos x="T80" y="T81"/>
                  </a:cxn>
                  <a:cxn ang="T127">
                    <a:pos x="T82" y="T83"/>
                  </a:cxn>
                  <a:cxn ang="T128">
                    <a:pos x="T84" y="T85"/>
                  </a:cxn>
                </a:cxnLst>
                <a:rect l="T129" t="T130" r="T131" b="T132"/>
                <a:pathLst>
                  <a:path w="1211" h="796">
                    <a:moveTo>
                      <a:pt x="605" y="0"/>
                    </a:moveTo>
                    <a:lnTo>
                      <a:pt x="543" y="2"/>
                    </a:lnTo>
                    <a:lnTo>
                      <a:pt x="483" y="3"/>
                    </a:lnTo>
                    <a:lnTo>
                      <a:pt x="425" y="5"/>
                    </a:lnTo>
                    <a:lnTo>
                      <a:pt x="370" y="10"/>
                    </a:lnTo>
                    <a:lnTo>
                      <a:pt x="316" y="16"/>
                    </a:lnTo>
                    <a:lnTo>
                      <a:pt x="267" y="22"/>
                    </a:lnTo>
                    <a:lnTo>
                      <a:pt x="220" y="28"/>
                    </a:lnTo>
                    <a:lnTo>
                      <a:pt x="176" y="37"/>
                    </a:lnTo>
                    <a:lnTo>
                      <a:pt x="138" y="46"/>
                    </a:lnTo>
                    <a:lnTo>
                      <a:pt x="103" y="55"/>
                    </a:lnTo>
                    <a:lnTo>
                      <a:pt x="72" y="65"/>
                    </a:lnTo>
                    <a:lnTo>
                      <a:pt x="59" y="72"/>
                    </a:lnTo>
                    <a:lnTo>
                      <a:pt x="47" y="77"/>
                    </a:lnTo>
                    <a:lnTo>
                      <a:pt x="36" y="82"/>
                    </a:lnTo>
                    <a:lnTo>
                      <a:pt x="26" y="88"/>
                    </a:lnTo>
                    <a:lnTo>
                      <a:pt x="19" y="95"/>
                    </a:lnTo>
                    <a:lnTo>
                      <a:pt x="12" y="100"/>
                    </a:lnTo>
                    <a:lnTo>
                      <a:pt x="7" y="106"/>
                    </a:lnTo>
                    <a:lnTo>
                      <a:pt x="2" y="112"/>
                    </a:lnTo>
                    <a:lnTo>
                      <a:pt x="1" y="119"/>
                    </a:lnTo>
                    <a:lnTo>
                      <a:pt x="0" y="125"/>
                    </a:lnTo>
                    <a:lnTo>
                      <a:pt x="0" y="671"/>
                    </a:lnTo>
                    <a:lnTo>
                      <a:pt x="1" y="677"/>
                    </a:lnTo>
                    <a:lnTo>
                      <a:pt x="2" y="684"/>
                    </a:lnTo>
                    <a:lnTo>
                      <a:pt x="7" y="690"/>
                    </a:lnTo>
                    <a:lnTo>
                      <a:pt x="12" y="697"/>
                    </a:lnTo>
                    <a:lnTo>
                      <a:pt x="19" y="702"/>
                    </a:lnTo>
                    <a:lnTo>
                      <a:pt x="26" y="708"/>
                    </a:lnTo>
                    <a:lnTo>
                      <a:pt x="36" y="714"/>
                    </a:lnTo>
                    <a:lnTo>
                      <a:pt x="47" y="720"/>
                    </a:lnTo>
                    <a:lnTo>
                      <a:pt x="59" y="725"/>
                    </a:lnTo>
                    <a:lnTo>
                      <a:pt x="72" y="731"/>
                    </a:lnTo>
                    <a:lnTo>
                      <a:pt x="103" y="741"/>
                    </a:lnTo>
                    <a:lnTo>
                      <a:pt x="138" y="750"/>
                    </a:lnTo>
                    <a:lnTo>
                      <a:pt x="176" y="759"/>
                    </a:lnTo>
                    <a:lnTo>
                      <a:pt x="220" y="768"/>
                    </a:lnTo>
                    <a:lnTo>
                      <a:pt x="267" y="774"/>
                    </a:lnTo>
                    <a:lnTo>
                      <a:pt x="316" y="781"/>
                    </a:lnTo>
                    <a:lnTo>
                      <a:pt x="370" y="786"/>
                    </a:lnTo>
                    <a:lnTo>
                      <a:pt x="425" y="791"/>
                    </a:lnTo>
                    <a:lnTo>
                      <a:pt x="483" y="793"/>
                    </a:lnTo>
                    <a:lnTo>
                      <a:pt x="543" y="796"/>
                    </a:lnTo>
                    <a:lnTo>
                      <a:pt x="605" y="796"/>
                    </a:lnTo>
                    <a:lnTo>
                      <a:pt x="668" y="796"/>
                    </a:lnTo>
                    <a:lnTo>
                      <a:pt x="728" y="793"/>
                    </a:lnTo>
                    <a:lnTo>
                      <a:pt x="786" y="791"/>
                    </a:lnTo>
                    <a:lnTo>
                      <a:pt x="841" y="786"/>
                    </a:lnTo>
                    <a:lnTo>
                      <a:pt x="894" y="781"/>
                    </a:lnTo>
                    <a:lnTo>
                      <a:pt x="944" y="774"/>
                    </a:lnTo>
                    <a:lnTo>
                      <a:pt x="991" y="768"/>
                    </a:lnTo>
                    <a:lnTo>
                      <a:pt x="1034" y="759"/>
                    </a:lnTo>
                    <a:lnTo>
                      <a:pt x="1072" y="750"/>
                    </a:lnTo>
                    <a:lnTo>
                      <a:pt x="1108" y="741"/>
                    </a:lnTo>
                    <a:lnTo>
                      <a:pt x="1139" y="731"/>
                    </a:lnTo>
                    <a:lnTo>
                      <a:pt x="1151" y="725"/>
                    </a:lnTo>
                    <a:lnTo>
                      <a:pt x="1164" y="720"/>
                    </a:lnTo>
                    <a:lnTo>
                      <a:pt x="1174" y="714"/>
                    </a:lnTo>
                    <a:lnTo>
                      <a:pt x="1184" y="708"/>
                    </a:lnTo>
                    <a:lnTo>
                      <a:pt x="1192" y="702"/>
                    </a:lnTo>
                    <a:lnTo>
                      <a:pt x="1198" y="697"/>
                    </a:lnTo>
                    <a:lnTo>
                      <a:pt x="1205" y="690"/>
                    </a:lnTo>
                    <a:lnTo>
                      <a:pt x="1209" y="684"/>
                    </a:lnTo>
                    <a:lnTo>
                      <a:pt x="1210" y="677"/>
                    </a:lnTo>
                    <a:lnTo>
                      <a:pt x="1211" y="671"/>
                    </a:lnTo>
                    <a:lnTo>
                      <a:pt x="1211" y="125"/>
                    </a:lnTo>
                    <a:lnTo>
                      <a:pt x="1210" y="119"/>
                    </a:lnTo>
                    <a:lnTo>
                      <a:pt x="1209" y="112"/>
                    </a:lnTo>
                    <a:lnTo>
                      <a:pt x="1205" y="106"/>
                    </a:lnTo>
                    <a:lnTo>
                      <a:pt x="1198" y="100"/>
                    </a:lnTo>
                    <a:lnTo>
                      <a:pt x="1192" y="95"/>
                    </a:lnTo>
                    <a:lnTo>
                      <a:pt x="1184" y="88"/>
                    </a:lnTo>
                    <a:lnTo>
                      <a:pt x="1174" y="82"/>
                    </a:lnTo>
                    <a:lnTo>
                      <a:pt x="1164" y="77"/>
                    </a:lnTo>
                    <a:lnTo>
                      <a:pt x="1151" y="72"/>
                    </a:lnTo>
                    <a:lnTo>
                      <a:pt x="1139" y="65"/>
                    </a:lnTo>
                    <a:lnTo>
                      <a:pt x="1108" y="55"/>
                    </a:lnTo>
                    <a:lnTo>
                      <a:pt x="1072" y="46"/>
                    </a:lnTo>
                    <a:lnTo>
                      <a:pt x="1034" y="37"/>
                    </a:lnTo>
                    <a:lnTo>
                      <a:pt x="991" y="28"/>
                    </a:lnTo>
                    <a:lnTo>
                      <a:pt x="944" y="22"/>
                    </a:lnTo>
                    <a:lnTo>
                      <a:pt x="894" y="16"/>
                    </a:lnTo>
                    <a:lnTo>
                      <a:pt x="841" y="10"/>
                    </a:lnTo>
                    <a:lnTo>
                      <a:pt x="786" y="5"/>
                    </a:lnTo>
                    <a:lnTo>
                      <a:pt x="728" y="3"/>
                    </a:lnTo>
                    <a:lnTo>
                      <a:pt x="668" y="2"/>
                    </a:lnTo>
                    <a:lnTo>
                      <a:pt x="605" y="0"/>
                    </a:lnTo>
                    <a:close/>
                  </a:path>
                </a:pathLst>
              </a:custGeom>
              <a:solidFill>
                <a:srgbClr val="EAEAEA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de-CH"/>
              </a:p>
            </p:txBody>
          </p:sp>
          <p:sp>
            <p:nvSpPr>
              <p:cNvPr id="21744" name="Freeform 20"/>
              <p:cNvSpPr>
                <a:spLocks/>
              </p:cNvSpPr>
              <p:nvPr/>
            </p:nvSpPr>
            <p:spPr bwMode="auto">
              <a:xfrm>
                <a:off x="202" y="1833"/>
                <a:ext cx="606" cy="398"/>
              </a:xfrm>
              <a:custGeom>
                <a:avLst/>
                <a:gdLst>
                  <a:gd name="T0" fmla="*/ 17 w 1211"/>
                  <a:gd name="T1" fmla="*/ 1 h 796"/>
                  <a:gd name="T2" fmla="*/ 14 w 1211"/>
                  <a:gd name="T3" fmla="*/ 1 h 796"/>
                  <a:gd name="T4" fmla="*/ 10 w 1211"/>
                  <a:gd name="T5" fmla="*/ 1 h 796"/>
                  <a:gd name="T6" fmla="*/ 7 w 1211"/>
                  <a:gd name="T7" fmla="*/ 1 h 796"/>
                  <a:gd name="T8" fmla="*/ 5 w 1211"/>
                  <a:gd name="T9" fmla="*/ 2 h 796"/>
                  <a:gd name="T10" fmla="*/ 3 w 1211"/>
                  <a:gd name="T11" fmla="*/ 3 h 796"/>
                  <a:gd name="T12" fmla="*/ 2 w 1211"/>
                  <a:gd name="T13" fmla="*/ 3 h 796"/>
                  <a:gd name="T14" fmla="*/ 1 w 1211"/>
                  <a:gd name="T15" fmla="*/ 3 h 796"/>
                  <a:gd name="T16" fmla="*/ 1 w 1211"/>
                  <a:gd name="T17" fmla="*/ 3 h 796"/>
                  <a:gd name="T18" fmla="*/ 1 w 1211"/>
                  <a:gd name="T19" fmla="*/ 3 h 796"/>
                  <a:gd name="T20" fmla="*/ 0 w 1211"/>
                  <a:gd name="T21" fmla="*/ 3 h 796"/>
                  <a:gd name="T22" fmla="*/ 1 w 1211"/>
                  <a:gd name="T23" fmla="*/ 22 h 796"/>
                  <a:gd name="T24" fmla="*/ 1 w 1211"/>
                  <a:gd name="T25" fmla="*/ 22 h 796"/>
                  <a:gd name="T26" fmla="*/ 1 w 1211"/>
                  <a:gd name="T27" fmla="*/ 22 h 796"/>
                  <a:gd name="T28" fmla="*/ 2 w 1211"/>
                  <a:gd name="T29" fmla="*/ 23 h 796"/>
                  <a:gd name="T30" fmla="*/ 2 w 1211"/>
                  <a:gd name="T31" fmla="*/ 23 h 796"/>
                  <a:gd name="T32" fmla="*/ 4 w 1211"/>
                  <a:gd name="T33" fmla="*/ 24 h 796"/>
                  <a:gd name="T34" fmla="*/ 6 w 1211"/>
                  <a:gd name="T35" fmla="*/ 24 h 796"/>
                  <a:gd name="T36" fmla="*/ 9 w 1211"/>
                  <a:gd name="T37" fmla="*/ 25 h 796"/>
                  <a:gd name="T38" fmla="*/ 12 w 1211"/>
                  <a:gd name="T39" fmla="*/ 25 h 796"/>
                  <a:gd name="T40" fmla="*/ 16 w 1211"/>
                  <a:gd name="T41" fmla="*/ 25 h 796"/>
                  <a:gd name="T42" fmla="*/ 19 w 1211"/>
                  <a:gd name="T43" fmla="*/ 25 h 796"/>
                  <a:gd name="T44" fmla="*/ 23 w 1211"/>
                  <a:gd name="T45" fmla="*/ 25 h 796"/>
                  <a:gd name="T46" fmla="*/ 27 w 1211"/>
                  <a:gd name="T47" fmla="*/ 25 h 796"/>
                  <a:gd name="T48" fmla="*/ 30 w 1211"/>
                  <a:gd name="T49" fmla="*/ 25 h 796"/>
                  <a:gd name="T50" fmla="*/ 33 w 1211"/>
                  <a:gd name="T51" fmla="*/ 24 h 796"/>
                  <a:gd name="T52" fmla="*/ 35 w 1211"/>
                  <a:gd name="T53" fmla="*/ 24 h 796"/>
                  <a:gd name="T54" fmla="*/ 36 w 1211"/>
                  <a:gd name="T55" fmla="*/ 23 h 796"/>
                  <a:gd name="T56" fmla="*/ 37 w 1211"/>
                  <a:gd name="T57" fmla="*/ 23 h 796"/>
                  <a:gd name="T58" fmla="*/ 38 w 1211"/>
                  <a:gd name="T59" fmla="*/ 22 h 796"/>
                  <a:gd name="T60" fmla="*/ 38 w 1211"/>
                  <a:gd name="T61" fmla="*/ 22 h 796"/>
                  <a:gd name="T62" fmla="*/ 38 w 1211"/>
                  <a:gd name="T63" fmla="*/ 22 h 796"/>
                  <a:gd name="T64" fmla="*/ 38 w 1211"/>
                  <a:gd name="T65" fmla="*/ 3 h 796"/>
                  <a:gd name="T66" fmla="*/ 38 w 1211"/>
                  <a:gd name="T67" fmla="*/ 3 h 796"/>
                  <a:gd name="T68" fmla="*/ 38 w 1211"/>
                  <a:gd name="T69" fmla="*/ 3 h 796"/>
                  <a:gd name="T70" fmla="*/ 37 w 1211"/>
                  <a:gd name="T71" fmla="*/ 3 h 796"/>
                  <a:gd name="T72" fmla="*/ 37 w 1211"/>
                  <a:gd name="T73" fmla="*/ 3 h 796"/>
                  <a:gd name="T74" fmla="*/ 36 w 1211"/>
                  <a:gd name="T75" fmla="*/ 3 h 796"/>
                  <a:gd name="T76" fmla="*/ 34 w 1211"/>
                  <a:gd name="T77" fmla="*/ 2 h 796"/>
                  <a:gd name="T78" fmla="*/ 31 w 1211"/>
                  <a:gd name="T79" fmla="*/ 1 h 796"/>
                  <a:gd name="T80" fmla="*/ 28 w 1211"/>
                  <a:gd name="T81" fmla="*/ 1 h 796"/>
                  <a:gd name="T82" fmla="*/ 25 w 1211"/>
                  <a:gd name="T83" fmla="*/ 1 h 796"/>
                  <a:gd name="T84" fmla="*/ 21 w 1211"/>
                  <a:gd name="T85" fmla="*/ 1 h 79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w 1211"/>
                  <a:gd name="T130" fmla="*/ 0 h 796"/>
                  <a:gd name="T131" fmla="*/ 1211 w 1211"/>
                  <a:gd name="T132" fmla="*/ 796 h 796"/>
                </a:gdLst>
                <a:ahLst/>
                <a:cxnLst>
                  <a:cxn ang="T86">
                    <a:pos x="T0" y="T1"/>
                  </a:cxn>
                  <a:cxn ang="T87">
                    <a:pos x="T2" y="T3"/>
                  </a:cxn>
                  <a:cxn ang="T88">
                    <a:pos x="T4" y="T5"/>
                  </a:cxn>
                  <a:cxn ang="T89">
                    <a:pos x="T6" y="T7"/>
                  </a:cxn>
                  <a:cxn ang="T90">
                    <a:pos x="T8" y="T9"/>
                  </a:cxn>
                  <a:cxn ang="T91">
                    <a:pos x="T10" y="T11"/>
                  </a:cxn>
                  <a:cxn ang="T92">
                    <a:pos x="T12" y="T13"/>
                  </a:cxn>
                  <a:cxn ang="T93">
                    <a:pos x="T14" y="T15"/>
                  </a:cxn>
                  <a:cxn ang="T94">
                    <a:pos x="T16" y="T17"/>
                  </a:cxn>
                  <a:cxn ang="T95">
                    <a:pos x="T18" y="T19"/>
                  </a:cxn>
                  <a:cxn ang="T96">
                    <a:pos x="T20" y="T21"/>
                  </a:cxn>
                  <a:cxn ang="T97">
                    <a:pos x="T22" y="T23"/>
                  </a:cxn>
                  <a:cxn ang="T98">
                    <a:pos x="T24" y="T25"/>
                  </a:cxn>
                  <a:cxn ang="T99">
                    <a:pos x="T26" y="T27"/>
                  </a:cxn>
                  <a:cxn ang="T100">
                    <a:pos x="T28" y="T29"/>
                  </a:cxn>
                  <a:cxn ang="T101">
                    <a:pos x="T30" y="T31"/>
                  </a:cxn>
                  <a:cxn ang="T102">
                    <a:pos x="T32" y="T33"/>
                  </a:cxn>
                  <a:cxn ang="T103">
                    <a:pos x="T34" y="T35"/>
                  </a:cxn>
                  <a:cxn ang="T104">
                    <a:pos x="T36" y="T37"/>
                  </a:cxn>
                  <a:cxn ang="T105">
                    <a:pos x="T38" y="T39"/>
                  </a:cxn>
                  <a:cxn ang="T106">
                    <a:pos x="T40" y="T41"/>
                  </a:cxn>
                  <a:cxn ang="T107">
                    <a:pos x="T42" y="T43"/>
                  </a:cxn>
                  <a:cxn ang="T108">
                    <a:pos x="T44" y="T45"/>
                  </a:cxn>
                  <a:cxn ang="T109">
                    <a:pos x="T46" y="T47"/>
                  </a:cxn>
                  <a:cxn ang="T110">
                    <a:pos x="T48" y="T49"/>
                  </a:cxn>
                  <a:cxn ang="T111">
                    <a:pos x="T50" y="T51"/>
                  </a:cxn>
                  <a:cxn ang="T112">
                    <a:pos x="T52" y="T53"/>
                  </a:cxn>
                  <a:cxn ang="T113">
                    <a:pos x="T54" y="T55"/>
                  </a:cxn>
                  <a:cxn ang="T114">
                    <a:pos x="T56" y="T57"/>
                  </a:cxn>
                  <a:cxn ang="T115">
                    <a:pos x="T58" y="T59"/>
                  </a:cxn>
                  <a:cxn ang="T116">
                    <a:pos x="T60" y="T61"/>
                  </a:cxn>
                  <a:cxn ang="T117">
                    <a:pos x="T62" y="T63"/>
                  </a:cxn>
                  <a:cxn ang="T118">
                    <a:pos x="T64" y="T65"/>
                  </a:cxn>
                  <a:cxn ang="T119">
                    <a:pos x="T66" y="T67"/>
                  </a:cxn>
                  <a:cxn ang="T120">
                    <a:pos x="T68" y="T69"/>
                  </a:cxn>
                  <a:cxn ang="T121">
                    <a:pos x="T70" y="T71"/>
                  </a:cxn>
                  <a:cxn ang="T122">
                    <a:pos x="T72" y="T73"/>
                  </a:cxn>
                  <a:cxn ang="T123">
                    <a:pos x="T74" y="T75"/>
                  </a:cxn>
                  <a:cxn ang="T124">
                    <a:pos x="T76" y="T77"/>
                  </a:cxn>
                  <a:cxn ang="T125">
                    <a:pos x="T78" y="T79"/>
                  </a:cxn>
                  <a:cxn ang="T126">
                    <a:pos x="T80" y="T81"/>
                  </a:cxn>
                  <a:cxn ang="T127">
                    <a:pos x="T82" y="T83"/>
                  </a:cxn>
                  <a:cxn ang="T128">
                    <a:pos x="T84" y="T85"/>
                  </a:cxn>
                </a:cxnLst>
                <a:rect l="T129" t="T130" r="T131" b="T132"/>
                <a:pathLst>
                  <a:path w="1211" h="796">
                    <a:moveTo>
                      <a:pt x="605" y="0"/>
                    </a:moveTo>
                    <a:lnTo>
                      <a:pt x="543" y="2"/>
                    </a:lnTo>
                    <a:lnTo>
                      <a:pt x="483" y="3"/>
                    </a:lnTo>
                    <a:lnTo>
                      <a:pt x="425" y="5"/>
                    </a:lnTo>
                    <a:lnTo>
                      <a:pt x="370" y="10"/>
                    </a:lnTo>
                    <a:lnTo>
                      <a:pt x="316" y="16"/>
                    </a:lnTo>
                    <a:lnTo>
                      <a:pt x="267" y="22"/>
                    </a:lnTo>
                    <a:lnTo>
                      <a:pt x="220" y="28"/>
                    </a:lnTo>
                    <a:lnTo>
                      <a:pt x="176" y="37"/>
                    </a:lnTo>
                    <a:lnTo>
                      <a:pt x="138" y="46"/>
                    </a:lnTo>
                    <a:lnTo>
                      <a:pt x="103" y="55"/>
                    </a:lnTo>
                    <a:lnTo>
                      <a:pt x="72" y="65"/>
                    </a:lnTo>
                    <a:lnTo>
                      <a:pt x="59" y="72"/>
                    </a:lnTo>
                    <a:lnTo>
                      <a:pt x="47" y="77"/>
                    </a:lnTo>
                    <a:lnTo>
                      <a:pt x="36" y="82"/>
                    </a:lnTo>
                    <a:lnTo>
                      <a:pt x="26" y="88"/>
                    </a:lnTo>
                    <a:lnTo>
                      <a:pt x="19" y="95"/>
                    </a:lnTo>
                    <a:lnTo>
                      <a:pt x="12" y="100"/>
                    </a:lnTo>
                    <a:lnTo>
                      <a:pt x="7" y="106"/>
                    </a:lnTo>
                    <a:lnTo>
                      <a:pt x="2" y="112"/>
                    </a:lnTo>
                    <a:lnTo>
                      <a:pt x="1" y="119"/>
                    </a:lnTo>
                    <a:lnTo>
                      <a:pt x="0" y="125"/>
                    </a:lnTo>
                    <a:lnTo>
                      <a:pt x="0" y="671"/>
                    </a:lnTo>
                    <a:lnTo>
                      <a:pt x="1" y="677"/>
                    </a:lnTo>
                    <a:lnTo>
                      <a:pt x="2" y="684"/>
                    </a:lnTo>
                    <a:lnTo>
                      <a:pt x="7" y="690"/>
                    </a:lnTo>
                    <a:lnTo>
                      <a:pt x="12" y="697"/>
                    </a:lnTo>
                    <a:lnTo>
                      <a:pt x="19" y="702"/>
                    </a:lnTo>
                    <a:lnTo>
                      <a:pt x="26" y="708"/>
                    </a:lnTo>
                    <a:lnTo>
                      <a:pt x="36" y="714"/>
                    </a:lnTo>
                    <a:lnTo>
                      <a:pt x="47" y="720"/>
                    </a:lnTo>
                    <a:lnTo>
                      <a:pt x="59" y="725"/>
                    </a:lnTo>
                    <a:lnTo>
                      <a:pt x="72" y="731"/>
                    </a:lnTo>
                    <a:lnTo>
                      <a:pt x="103" y="741"/>
                    </a:lnTo>
                    <a:lnTo>
                      <a:pt x="138" y="750"/>
                    </a:lnTo>
                    <a:lnTo>
                      <a:pt x="176" y="759"/>
                    </a:lnTo>
                    <a:lnTo>
                      <a:pt x="220" y="768"/>
                    </a:lnTo>
                    <a:lnTo>
                      <a:pt x="267" y="774"/>
                    </a:lnTo>
                    <a:lnTo>
                      <a:pt x="316" y="781"/>
                    </a:lnTo>
                    <a:lnTo>
                      <a:pt x="370" y="786"/>
                    </a:lnTo>
                    <a:lnTo>
                      <a:pt x="425" y="791"/>
                    </a:lnTo>
                    <a:lnTo>
                      <a:pt x="483" y="793"/>
                    </a:lnTo>
                    <a:lnTo>
                      <a:pt x="543" y="796"/>
                    </a:lnTo>
                    <a:lnTo>
                      <a:pt x="605" y="796"/>
                    </a:lnTo>
                    <a:lnTo>
                      <a:pt x="668" y="796"/>
                    </a:lnTo>
                    <a:lnTo>
                      <a:pt x="728" y="793"/>
                    </a:lnTo>
                    <a:lnTo>
                      <a:pt x="786" y="791"/>
                    </a:lnTo>
                    <a:lnTo>
                      <a:pt x="841" y="786"/>
                    </a:lnTo>
                    <a:lnTo>
                      <a:pt x="894" y="781"/>
                    </a:lnTo>
                    <a:lnTo>
                      <a:pt x="944" y="774"/>
                    </a:lnTo>
                    <a:lnTo>
                      <a:pt x="991" y="768"/>
                    </a:lnTo>
                    <a:lnTo>
                      <a:pt x="1034" y="759"/>
                    </a:lnTo>
                    <a:lnTo>
                      <a:pt x="1072" y="750"/>
                    </a:lnTo>
                    <a:lnTo>
                      <a:pt x="1108" y="741"/>
                    </a:lnTo>
                    <a:lnTo>
                      <a:pt x="1139" y="731"/>
                    </a:lnTo>
                    <a:lnTo>
                      <a:pt x="1151" y="725"/>
                    </a:lnTo>
                    <a:lnTo>
                      <a:pt x="1164" y="720"/>
                    </a:lnTo>
                    <a:lnTo>
                      <a:pt x="1174" y="714"/>
                    </a:lnTo>
                    <a:lnTo>
                      <a:pt x="1184" y="708"/>
                    </a:lnTo>
                    <a:lnTo>
                      <a:pt x="1192" y="702"/>
                    </a:lnTo>
                    <a:lnTo>
                      <a:pt x="1198" y="697"/>
                    </a:lnTo>
                    <a:lnTo>
                      <a:pt x="1205" y="690"/>
                    </a:lnTo>
                    <a:lnTo>
                      <a:pt x="1209" y="684"/>
                    </a:lnTo>
                    <a:lnTo>
                      <a:pt x="1210" y="677"/>
                    </a:lnTo>
                    <a:lnTo>
                      <a:pt x="1211" y="671"/>
                    </a:lnTo>
                    <a:lnTo>
                      <a:pt x="1211" y="125"/>
                    </a:lnTo>
                    <a:lnTo>
                      <a:pt x="1210" y="119"/>
                    </a:lnTo>
                    <a:lnTo>
                      <a:pt x="1209" y="112"/>
                    </a:lnTo>
                    <a:lnTo>
                      <a:pt x="1205" y="106"/>
                    </a:lnTo>
                    <a:lnTo>
                      <a:pt x="1198" y="100"/>
                    </a:lnTo>
                    <a:lnTo>
                      <a:pt x="1192" y="95"/>
                    </a:lnTo>
                    <a:lnTo>
                      <a:pt x="1184" y="88"/>
                    </a:lnTo>
                    <a:lnTo>
                      <a:pt x="1174" y="82"/>
                    </a:lnTo>
                    <a:lnTo>
                      <a:pt x="1164" y="77"/>
                    </a:lnTo>
                    <a:lnTo>
                      <a:pt x="1151" y="72"/>
                    </a:lnTo>
                    <a:lnTo>
                      <a:pt x="1139" y="65"/>
                    </a:lnTo>
                    <a:lnTo>
                      <a:pt x="1108" y="55"/>
                    </a:lnTo>
                    <a:lnTo>
                      <a:pt x="1072" y="46"/>
                    </a:lnTo>
                    <a:lnTo>
                      <a:pt x="1034" y="37"/>
                    </a:lnTo>
                    <a:lnTo>
                      <a:pt x="991" y="28"/>
                    </a:lnTo>
                    <a:lnTo>
                      <a:pt x="944" y="22"/>
                    </a:lnTo>
                    <a:lnTo>
                      <a:pt x="894" y="16"/>
                    </a:lnTo>
                    <a:lnTo>
                      <a:pt x="841" y="10"/>
                    </a:lnTo>
                    <a:lnTo>
                      <a:pt x="786" y="5"/>
                    </a:lnTo>
                    <a:lnTo>
                      <a:pt x="728" y="3"/>
                    </a:lnTo>
                    <a:lnTo>
                      <a:pt x="668" y="2"/>
                    </a:lnTo>
                    <a:lnTo>
                      <a:pt x="605" y="0"/>
                    </a:lnTo>
                    <a:close/>
                  </a:path>
                </a:pathLst>
              </a:custGeom>
              <a:noFill/>
              <a:ln w="5">
                <a:solidFill>
                  <a:srgbClr val="DDDDDD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de-CH"/>
              </a:p>
            </p:txBody>
          </p:sp>
          <p:sp>
            <p:nvSpPr>
              <p:cNvPr id="21745" name="Freeform 21"/>
              <p:cNvSpPr>
                <a:spLocks/>
              </p:cNvSpPr>
              <p:nvPr/>
            </p:nvSpPr>
            <p:spPr bwMode="auto">
              <a:xfrm>
                <a:off x="202" y="1895"/>
                <a:ext cx="606" cy="63"/>
              </a:xfrm>
              <a:custGeom>
                <a:avLst/>
                <a:gdLst>
                  <a:gd name="T0" fmla="*/ 0 w 1211"/>
                  <a:gd name="T1" fmla="*/ 0 h 125"/>
                  <a:gd name="T2" fmla="*/ 1 w 1211"/>
                  <a:gd name="T3" fmla="*/ 1 h 125"/>
                  <a:gd name="T4" fmla="*/ 1 w 1211"/>
                  <a:gd name="T5" fmla="*/ 1 h 125"/>
                  <a:gd name="T6" fmla="*/ 1 w 1211"/>
                  <a:gd name="T7" fmla="*/ 1 h 125"/>
                  <a:gd name="T8" fmla="*/ 1 w 1211"/>
                  <a:gd name="T9" fmla="*/ 1 h 125"/>
                  <a:gd name="T10" fmla="*/ 1 w 1211"/>
                  <a:gd name="T11" fmla="*/ 1 h 125"/>
                  <a:gd name="T12" fmla="*/ 1 w 1211"/>
                  <a:gd name="T13" fmla="*/ 2 h 125"/>
                  <a:gd name="T14" fmla="*/ 2 w 1211"/>
                  <a:gd name="T15" fmla="*/ 2 h 125"/>
                  <a:gd name="T16" fmla="*/ 2 w 1211"/>
                  <a:gd name="T17" fmla="*/ 2 h 125"/>
                  <a:gd name="T18" fmla="*/ 2 w 1211"/>
                  <a:gd name="T19" fmla="*/ 2 h 125"/>
                  <a:gd name="T20" fmla="*/ 3 w 1211"/>
                  <a:gd name="T21" fmla="*/ 2 h 125"/>
                  <a:gd name="T22" fmla="*/ 4 w 1211"/>
                  <a:gd name="T23" fmla="*/ 3 h 125"/>
                  <a:gd name="T24" fmla="*/ 5 w 1211"/>
                  <a:gd name="T25" fmla="*/ 3 h 125"/>
                  <a:gd name="T26" fmla="*/ 6 w 1211"/>
                  <a:gd name="T27" fmla="*/ 3 h 125"/>
                  <a:gd name="T28" fmla="*/ 7 w 1211"/>
                  <a:gd name="T29" fmla="*/ 4 h 125"/>
                  <a:gd name="T30" fmla="*/ 9 w 1211"/>
                  <a:gd name="T31" fmla="*/ 4 h 125"/>
                  <a:gd name="T32" fmla="*/ 10 w 1211"/>
                  <a:gd name="T33" fmla="*/ 4 h 125"/>
                  <a:gd name="T34" fmla="*/ 12 w 1211"/>
                  <a:gd name="T35" fmla="*/ 4 h 125"/>
                  <a:gd name="T36" fmla="*/ 14 w 1211"/>
                  <a:gd name="T37" fmla="*/ 4 h 125"/>
                  <a:gd name="T38" fmla="*/ 16 w 1211"/>
                  <a:gd name="T39" fmla="*/ 4 h 125"/>
                  <a:gd name="T40" fmla="*/ 17 w 1211"/>
                  <a:gd name="T41" fmla="*/ 4 h 125"/>
                  <a:gd name="T42" fmla="*/ 19 w 1211"/>
                  <a:gd name="T43" fmla="*/ 4 h 125"/>
                  <a:gd name="T44" fmla="*/ 21 w 1211"/>
                  <a:gd name="T45" fmla="*/ 4 h 125"/>
                  <a:gd name="T46" fmla="*/ 23 w 1211"/>
                  <a:gd name="T47" fmla="*/ 4 h 125"/>
                  <a:gd name="T48" fmla="*/ 25 w 1211"/>
                  <a:gd name="T49" fmla="*/ 4 h 125"/>
                  <a:gd name="T50" fmla="*/ 27 w 1211"/>
                  <a:gd name="T51" fmla="*/ 4 h 125"/>
                  <a:gd name="T52" fmla="*/ 28 w 1211"/>
                  <a:gd name="T53" fmla="*/ 4 h 125"/>
                  <a:gd name="T54" fmla="*/ 30 w 1211"/>
                  <a:gd name="T55" fmla="*/ 4 h 125"/>
                  <a:gd name="T56" fmla="*/ 31 w 1211"/>
                  <a:gd name="T57" fmla="*/ 4 h 125"/>
                  <a:gd name="T58" fmla="*/ 33 w 1211"/>
                  <a:gd name="T59" fmla="*/ 3 h 125"/>
                  <a:gd name="T60" fmla="*/ 34 w 1211"/>
                  <a:gd name="T61" fmla="*/ 3 h 125"/>
                  <a:gd name="T62" fmla="*/ 35 w 1211"/>
                  <a:gd name="T63" fmla="*/ 3 h 125"/>
                  <a:gd name="T64" fmla="*/ 36 w 1211"/>
                  <a:gd name="T65" fmla="*/ 2 h 125"/>
                  <a:gd name="T66" fmla="*/ 36 w 1211"/>
                  <a:gd name="T67" fmla="*/ 2 h 125"/>
                  <a:gd name="T68" fmla="*/ 37 w 1211"/>
                  <a:gd name="T69" fmla="*/ 2 h 125"/>
                  <a:gd name="T70" fmla="*/ 37 w 1211"/>
                  <a:gd name="T71" fmla="*/ 2 h 125"/>
                  <a:gd name="T72" fmla="*/ 37 w 1211"/>
                  <a:gd name="T73" fmla="*/ 2 h 125"/>
                  <a:gd name="T74" fmla="*/ 38 w 1211"/>
                  <a:gd name="T75" fmla="*/ 1 h 125"/>
                  <a:gd name="T76" fmla="*/ 38 w 1211"/>
                  <a:gd name="T77" fmla="*/ 1 h 125"/>
                  <a:gd name="T78" fmla="*/ 38 w 1211"/>
                  <a:gd name="T79" fmla="*/ 1 h 125"/>
                  <a:gd name="T80" fmla="*/ 38 w 1211"/>
                  <a:gd name="T81" fmla="*/ 1 h 125"/>
                  <a:gd name="T82" fmla="*/ 38 w 1211"/>
                  <a:gd name="T83" fmla="*/ 1 h 125"/>
                  <a:gd name="T84" fmla="*/ 38 w 1211"/>
                  <a:gd name="T85" fmla="*/ 0 h 125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w 1211"/>
                  <a:gd name="T130" fmla="*/ 0 h 125"/>
                  <a:gd name="T131" fmla="*/ 1211 w 1211"/>
                  <a:gd name="T132" fmla="*/ 125 h 125"/>
                </a:gdLst>
                <a:ahLst/>
                <a:cxnLst>
                  <a:cxn ang="T86">
                    <a:pos x="T0" y="T1"/>
                  </a:cxn>
                  <a:cxn ang="T87">
                    <a:pos x="T2" y="T3"/>
                  </a:cxn>
                  <a:cxn ang="T88">
                    <a:pos x="T4" y="T5"/>
                  </a:cxn>
                  <a:cxn ang="T89">
                    <a:pos x="T6" y="T7"/>
                  </a:cxn>
                  <a:cxn ang="T90">
                    <a:pos x="T8" y="T9"/>
                  </a:cxn>
                  <a:cxn ang="T91">
                    <a:pos x="T10" y="T11"/>
                  </a:cxn>
                  <a:cxn ang="T92">
                    <a:pos x="T12" y="T13"/>
                  </a:cxn>
                  <a:cxn ang="T93">
                    <a:pos x="T14" y="T15"/>
                  </a:cxn>
                  <a:cxn ang="T94">
                    <a:pos x="T16" y="T17"/>
                  </a:cxn>
                  <a:cxn ang="T95">
                    <a:pos x="T18" y="T19"/>
                  </a:cxn>
                  <a:cxn ang="T96">
                    <a:pos x="T20" y="T21"/>
                  </a:cxn>
                  <a:cxn ang="T97">
                    <a:pos x="T22" y="T23"/>
                  </a:cxn>
                  <a:cxn ang="T98">
                    <a:pos x="T24" y="T25"/>
                  </a:cxn>
                  <a:cxn ang="T99">
                    <a:pos x="T26" y="T27"/>
                  </a:cxn>
                  <a:cxn ang="T100">
                    <a:pos x="T28" y="T29"/>
                  </a:cxn>
                  <a:cxn ang="T101">
                    <a:pos x="T30" y="T31"/>
                  </a:cxn>
                  <a:cxn ang="T102">
                    <a:pos x="T32" y="T33"/>
                  </a:cxn>
                  <a:cxn ang="T103">
                    <a:pos x="T34" y="T35"/>
                  </a:cxn>
                  <a:cxn ang="T104">
                    <a:pos x="T36" y="T37"/>
                  </a:cxn>
                  <a:cxn ang="T105">
                    <a:pos x="T38" y="T39"/>
                  </a:cxn>
                  <a:cxn ang="T106">
                    <a:pos x="T40" y="T41"/>
                  </a:cxn>
                  <a:cxn ang="T107">
                    <a:pos x="T42" y="T43"/>
                  </a:cxn>
                  <a:cxn ang="T108">
                    <a:pos x="T44" y="T45"/>
                  </a:cxn>
                  <a:cxn ang="T109">
                    <a:pos x="T46" y="T47"/>
                  </a:cxn>
                  <a:cxn ang="T110">
                    <a:pos x="T48" y="T49"/>
                  </a:cxn>
                  <a:cxn ang="T111">
                    <a:pos x="T50" y="T51"/>
                  </a:cxn>
                  <a:cxn ang="T112">
                    <a:pos x="T52" y="T53"/>
                  </a:cxn>
                  <a:cxn ang="T113">
                    <a:pos x="T54" y="T55"/>
                  </a:cxn>
                  <a:cxn ang="T114">
                    <a:pos x="T56" y="T57"/>
                  </a:cxn>
                  <a:cxn ang="T115">
                    <a:pos x="T58" y="T59"/>
                  </a:cxn>
                  <a:cxn ang="T116">
                    <a:pos x="T60" y="T61"/>
                  </a:cxn>
                  <a:cxn ang="T117">
                    <a:pos x="T62" y="T63"/>
                  </a:cxn>
                  <a:cxn ang="T118">
                    <a:pos x="T64" y="T65"/>
                  </a:cxn>
                  <a:cxn ang="T119">
                    <a:pos x="T66" y="T67"/>
                  </a:cxn>
                  <a:cxn ang="T120">
                    <a:pos x="T68" y="T69"/>
                  </a:cxn>
                  <a:cxn ang="T121">
                    <a:pos x="T70" y="T71"/>
                  </a:cxn>
                  <a:cxn ang="T122">
                    <a:pos x="T72" y="T73"/>
                  </a:cxn>
                  <a:cxn ang="T123">
                    <a:pos x="T74" y="T75"/>
                  </a:cxn>
                  <a:cxn ang="T124">
                    <a:pos x="T76" y="T77"/>
                  </a:cxn>
                  <a:cxn ang="T125">
                    <a:pos x="T78" y="T79"/>
                  </a:cxn>
                  <a:cxn ang="T126">
                    <a:pos x="T80" y="T81"/>
                  </a:cxn>
                  <a:cxn ang="T127">
                    <a:pos x="T82" y="T83"/>
                  </a:cxn>
                  <a:cxn ang="T128">
                    <a:pos x="T84" y="T85"/>
                  </a:cxn>
                </a:cxnLst>
                <a:rect l="T129" t="T130" r="T131" b="T132"/>
                <a:pathLst>
                  <a:path w="1211" h="125">
                    <a:moveTo>
                      <a:pt x="0" y="0"/>
                    </a:moveTo>
                    <a:lnTo>
                      <a:pt x="1" y="7"/>
                    </a:lnTo>
                    <a:lnTo>
                      <a:pt x="2" y="13"/>
                    </a:lnTo>
                    <a:lnTo>
                      <a:pt x="7" y="19"/>
                    </a:lnTo>
                    <a:lnTo>
                      <a:pt x="12" y="26"/>
                    </a:lnTo>
                    <a:lnTo>
                      <a:pt x="19" y="31"/>
                    </a:lnTo>
                    <a:lnTo>
                      <a:pt x="26" y="37"/>
                    </a:lnTo>
                    <a:lnTo>
                      <a:pt x="36" y="44"/>
                    </a:lnTo>
                    <a:lnTo>
                      <a:pt x="47" y="49"/>
                    </a:lnTo>
                    <a:lnTo>
                      <a:pt x="59" y="54"/>
                    </a:lnTo>
                    <a:lnTo>
                      <a:pt x="72" y="60"/>
                    </a:lnTo>
                    <a:lnTo>
                      <a:pt x="103" y="70"/>
                    </a:lnTo>
                    <a:lnTo>
                      <a:pt x="138" y="79"/>
                    </a:lnTo>
                    <a:lnTo>
                      <a:pt x="176" y="88"/>
                    </a:lnTo>
                    <a:lnTo>
                      <a:pt x="220" y="97"/>
                    </a:lnTo>
                    <a:lnTo>
                      <a:pt x="267" y="104"/>
                    </a:lnTo>
                    <a:lnTo>
                      <a:pt x="316" y="110"/>
                    </a:lnTo>
                    <a:lnTo>
                      <a:pt x="370" y="115"/>
                    </a:lnTo>
                    <a:lnTo>
                      <a:pt x="425" y="120"/>
                    </a:lnTo>
                    <a:lnTo>
                      <a:pt x="483" y="123"/>
                    </a:lnTo>
                    <a:lnTo>
                      <a:pt x="543" y="125"/>
                    </a:lnTo>
                    <a:lnTo>
                      <a:pt x="605" y="125"/>
                    </a:lnTo>
                    <a:lnTo>
                      <a:pt x="668" y="125"/>
                    </a:lnTo>
                    <a:lnTo>
                      <a:pt x="728" y="123"/>
                    </a:lnTo>
                    <a:lnTo>
                      <a:pt x="786" y="120"/>
                    </a:lnTo>
                    <a:lnTo>
                      <a:pt x="841" y="115"/>
                    </a:lnTo>
                    <a:lnTo>
                      <a:pt x="894" y="110"/>
                    </a:lnTo>
                    <a:lnTo>
                      <a:pt x="944" y="104"/>
                    </a:lnTo>
                    <a:lnTo>
                      <a:pt x="991" y="97"/>
                    </a:lnTo>
                    <a:lnTo>
                      <a:pt x="1034" y="88"/>
                    </a:lnTo>
                    <a:lnTo>
                      <a:pt x="1072" y="79"/>
                    </a:lnTo>
                    <a:lnTo>
                      <a:pt x="1108" y="70"/>
                    </a:lnTo>
                    <a:lnTo>
                      <a:pt x="1139" y="60"/>
                    </a:lnTo>
                    <a:lnTo>
                      <a:pt x="1151" y="54"/>
                    </a:lnTo>
                    <a:lnTo>
                      <a:pt x="1164" y="49"/>
                    </a:lnTo>
                    <a:lnTo>
                      <a:pt x="1174" y="44"/>
                    </a:lnTo>
                    <a:lnTo>
                      <a:pt x="1184" y="37"/>
                    </a:lnTo>
                    <a:lnTo>
                      <a:pt x="1192" y="31"/>
                    </a:lnTo>
                    <a:lnTo>
                      <a:pt x="1198" y="26"/>
                    </a:lnTo>
                    <a:lnTo>
                      <a:pt x="1205" y="19"/>
                    </a:lnTo>
                    <a:lnTo>
                      <a:pt x="1209" y="13"/>
                    </a:lnTo>
                    <a:lnTo>
                      <a:pt x="1210" y="7"/>
                    </a:lnTo>
                    <a:lnTo>
                      <a:pt x="1211" y="0"/>
                    </a:lnTo>
                  </a:path>
                </a:pathLst>
              </a:custGeom>
              <a:noFill/>
              <a:ln w="5">
                <a:solidFill>
                  <a:srgbClr val="DDDDDD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de-CH"/>
              </a:p>
            </p:txBody>
          </p:sp>
        </p:grpSp>
        <p:grpSp>
          <p:nvGrpSpPr>
            <p:cNvPr id="21514" name="Group 254"/>
            <p:cNvGrpSpPr>
              <a:grpSpLocks/>
            </p:cNvGrpSpPr>
            <p:nvPr/>
          </p:nvGrpSpPr>
          <p:grpSpPr bwMode="auto">
            <a:xfrm>
              <a:off x="180" y="945"/>
              <a:ext cx="3360" cy="1960"/>
              <a:chOff x="180" y="945"/>
              <a:chExt cx="3360" cy="1960"/>
            </a:xfrm>
          </p:grpSpPr>
          <p:sp>
            <p:nvSpPr>
              <p:cNvPr id="21515" name="Rectangle 23"/>
              <p:cNvSpPr>
                <a:spLocks noChangeArrowheads="1"/>
              </p:cNvSpPr>
              <p:nvPr/>
            </p:nvSpPr>
            <p:spPr bwMode="auto">
              <a:xfrm>
                <a:off x="275" y="2732"/>
                <a:ext cx="218" cy="142"/>
              </a:xfrm>
              <a:prstGeom prst="rect">
                <a:avLst/>
              </a:prstGeom>
              <a:solidFill>
                <a:srgbClr val="EAEAEA"/>
              </a:solidFill>
              <a:ln w="5">
                <a:solidFill>
                  <a:srgbClr val="DDDDDD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de-DE"/>
              </a:p>
            </p:txBody>
          </p:sp>
          <p:grpSp>
            <p:nvGrpSpPr>
              <p:cNvPr id="21516" name="Group 28"/>
              <p:cNvGrpSpPr>
                <a:grpSpLocks/>
              </p:cNvGrpSpPr>
              <p:nvPr/>
            </p:nvGrpSpPr>
            <p:grpSpPr bwMode="auto">
              <a:xfrm>
                <a:off x="288" y="2609"/>
                <a:ext cx="192" cy="104"/>
                <a:chOff x="288" y="2609"/>
                <a:chExt cx="192" cy="104"/>
              </a:xfrm>
            </p:grpSpPr>
            <p:sp>
              <p:nvSpPr>
                <p:cNvPr id="21739" name="Freeform 24"/>
                <p:cNvSpPr>
                  <a:spLocks/>
                </p:cNvSpPr>
                <p:nvPr/>
              </p:nvSpPr>
              <p:spPr bwMode="auto">
                <a:xfrm>
                  <a:off x="288" y="2609"/>
                  <a:ext cx="192" cy="104"/>
                </a:xfrm>
                <a:custGeom>
                  <a:avLst/>
                  <a:gdLst>
                    <a:gd name="T0" fmla="*/ 6 w 384"/>
                    <a:gd name="T1" fmla="*/ 0 h 207"/>
                    <a:gd name="T2" fmla="*/ 5 w 384"/>
                    <a:gd name="T3" fmla="*/ 0 h 207"/>
                    <a:gd name="T4" fmla="*/ 3 w 384"/>
                    <a:gd name="T5" fmla="*/ 1 h 207"/>
                    <a:gd name="T6" fmla="*/ 3 w 384"/>
                    <a:gd name="T7" fmla="*/ 1 h 207"/>
                    <a:gd name="T8" fmla="*/ 2 w 384"/>
                    <a:gd name="T9" fmla="*/ 1 h 207"/>
                    <a:gd name="T10" fmla="*/ 2 w 384"/>
                    <a:gd name="T11" fmla="*/ 1 h 207"/>
                    <a:gd name="T12" fmla="*/ 2 w 384"/>
                    <a:gd name="T13" fmla="*/ 1 h 207"/>
                    <a:gd name="T14" fmla="*/ 1 w 384"/>
                    <a:gd name="T15" fmla="*/ 1 h 207"/>
                    <a:gd name="T16" fmla="*/ 1 w 384"/>
                    <a:gd name="T17" fmla="*/ 1 h 207"/>
                    <a:gd name="T18" fmla="*/ 1 w 384"/>
                    <a:gd name="T19" fmla="*/ 1 h 207"/>
                    <a:gd name="T20" fmla="*/ 1 w 384"/>
                    <a:gd name="T21" fmla="*/ 1 h 207"/>
                    <a:gd name="T22" fmla="*/ 1 w 384"/>
                    <a:gd name="T23" fmla="*/ 1 h 207"/>
                    <a:gd name="T24" fmla="*/ 0 w 384"/>
                    <a:gd name="T25" fmla="*/ 1 h 207"/>
                    <a:gd name="T26" fmla="*/ 0 w 384"/>
                    <a:gd name="T27" fmla="*/ 6 h 207"/>
                    <a:gd name="T28" fmla="*/ 1 w 384"/>
                    <a:gd name="T29" fmla="*/ 6 h 207"/>
                    <a:gd name="T30" fmla="*/ 1 w 384"/>
                    <a:gd name="T31" fmla="*/ 6 h 207"/>
                    <a:gd name="T32" fmla="*/ 1 w 384"/>
                    <a:gd name="T33" fmla="*/ 6 h 207"/>
                    <a:gd name="T34" fmla="*/ 1 w 384"/>
                    <a:gd name="T35" fmla="*/ 6 h 207"/>
                    <a:gd name="T36" fmla="*/ 1 w 384"/>
                    <a:gd name="T37" fmla="*/ 7 h 207"/>
                    <a:gd name="T38" fmla="*/ 2 w 384"/>
                    <a:gd name="T39" fmla="*/ 7 h 207"/>
                    <a:gd name="T40" fmla="*/ 2 w 384"/>
                    <a:gd name="T41" fmla="*/ 7 h 207"/>
                    <a:gd name="T42" fmla="*/ 2 w 384"/>
                    <a:gd name="T43" fmla="*/ 7 h 207"/>
                    <a:gd name="T44" fmla="*/ 3 w 384"/>
                    <a:gd name="T45" fmla="*/ 7 h 207"/>
                    <a:gd name="T46" fmla="*/ 3 w 384"/>
                    <a:gd name="T47" fmla="*/ 7 h 207"/>
                    <a:gd name="T48" fmla="*/ 5 w 384"/>
                    <a:gd name="T49" fmla="*/ 7 h 207"/>
                    <a:gd name="T50" fmla="*/ 6 w 384"/>
                    <a:gd name="T51" fmla="*/ 7 h 207"/>
                    <a:gd name="T52" fmla="*/ 7 w 384"/>
                    <a:gd name="T53" fmla="*/ 7 h 207"/>
                    <a:gd name="T54" fmla="*/ 9 w 384"/>
                    <a:gd name="T55" fmla="*/ 7 h 207"/>
                    <a:gd name="T56" fmla="*/ 10 w 384"/>
                    <a:gd name="T57" fmla="*/ 7 h 207"/>
                    <a:gd name="T58" fmla="*/ 11 w 384"/>
                    <a:gd name="T59" fmla="*/ 7 h 207"/>
                    <a:gd name="T60" fmla="*/ 11 w 384"/>
                    <a:gd name="T61" fmla="*/ 7 h 207"/>
                    <a:gd name="T62" fmla="*/ 11 w 384"/>
                    <a:gd name="T63" fmla="*/ 7 h 207"/>
                    <a:gd name="T64" fmla="*/ 12 w 384"/>
                    <a:gd name="T65" fmla="*/ 7 h 207"/>
                    <a:gd name="T66" fmla="*/ 12 w 384"/>
                    <a:gd name="T67" fmla="*/ 6 h 207"/>
                    <a:gd name="T68" fmla="*/ 12 w 384"/>
                    <a:gd name="T69" fmla="*/ 6 h 207"/>
                    <a:gd name="T70" fmla="*/ 12 w 384"/>
                    <a:gd name="T71" fmla="*/ 6 h 207"/>
                    <a:gd name="T72" fmla="*/ 12 w 384"/>
                    <a:gd name="T73" fmla="*/ 6 h 207"/>
                    <a:gd name="T74" fmla="*/ 12 w 384"/>
                    <a:gd name="T75" fmla="*/ 6 h 207"/>
                    <a:gd name="T76" fmla="*/ 12 w 384"/>
                    <a:gd name="T77" fmla="*/ 1 h 207"/>
                    <a:gd name="T78" fmla="*/ 12 w 384"/>
                    <a:gd name="T79" fmla="*/ 1 h 207"/>
                    <a:gd name="T80" fmla="*/ 12 w 384"/>
                    <a:gd name="T81" fmla="*/ 1 h 207"/>
                    <a:gd name="T82" fmla="*/ 12 w 384"/>
                    <a:gd name="T83" fmla="*/ 1 h 207"/>
                    <a:gd name="T84" fmla="*/ 12 w 384"/>
                    <a:gd name="T85" fmla="*/ 1 h 207"/>
                    <a:gd name="T86" fmla="*/ 12 w 384"/>
                    <a:gd name="T87" fmla="*/ 1 h 207"/>
                    <a:gd name="T88" fmla="*/ 11 w 384"/>
                    <a:gd name="T89" fmla="*/ 1 h 207"/>
                    <a:gd name="T90" fmla="*/ 11 w 384"/>
                    <a:gd name="T91" fmla="*/ 1 h 207"/>
                    <a:gd name="T92" fmla="*/ 11 w 384"/>
                    <a:gd name="T93" fmla="*/ 1 h 207"/>
                    <a:gd name="T94" fmla="*/ 10 w 384"/>
                    <a:gd name="T95" fmla="*/ 1 h 207"/>
                    <a:gd name="T96" fmla="*/ 9 w 384"/>
                    <a:gd name="T97" fmla="*/ 1 h 207"/>
                    <a:gd name="T98" fmla="*/ 7 w 384"/>
                    <a:gd name="T99" fmla="*/ 0 h 207"/>
                    <a:gd name="T100" fmla="*/ 6 w 384"/>
                    <a:gd name="T101" fmla="*/ 0 h 207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w 384"/>
                    <a:gd name="T154" fmla="*/ 0 h 207"/>
                    <a:gd name="T155" fmla="*/ 384 w 384"/>
                    <a:gd name="T156" fmla="*/ 207 h 207"/>
                  </a:gdLst>
                  <a:ahLst/>
                  <a:cxnLst>
                    <a:cxn ang="T102">
                      <a:pos x="T0" y="T1"/>
                    </a:cxn>
                    <a:cxn ang="T103">
                      <a:pos x="T2" y="T3"/>
                    </a:cxn>
                    <a:cxn ang="T104">
                      <a:pos x="T4" y="T5"/>
                    </a:cxn>
                    <a:cxn ang="T105">
                      <a:pos x="T6" y="T7"/>
                    </a:cxn>
                    <a:cxn ang="T106">
                      <a:pos x="T8" y="T9"/>
                    </a:cxn>
                    <a:cxn ang="T107">
                      <a:pos x="T10" y="T11"/>
                    </a:cxn>
                    <a:cxn ang="T108">
                      <a:pos x="T12" y="T13"/>
                    </a:cxn>
                    <a:cxn ang="T109">
                      <a:pos x="T14" y="T15"/>
                    </a:cxn>
                    <a:cxn ang="T110">
                      <a:pos x="T16" y="T17"/>
                    </a:cxn>
                    <a:cxn ang="T111">
                      <a:pos x="T18" y="T19"/>
                    </a:cxn>
                    <a:cxn ang="T112">
                      <a:pos x="T20" y="T21"/>
                    </a:cxn>
                    <a:cxn ang="T113">
                      <a:pos x="T22" y="T23"/>
                    </a:cxn>
                    <a:cxn ang="T114">
                      <a:pos x="T24" y="T25"/>
                    </a:cxn>
                    <a:cxn ang="T115">
                      <a:pos x="T26" y="T27"/>
                    </a:cxn>
                    <a:cxn ang="T116">
                      <a:pos x="T28" y="T29"/>
                    </a:cxn>
                    <a:cxn ang="T117">
                      <a:pos x="T30" y="T31"/>
                    </a:cxn>
                    <a:cxn ang="T118">
                      <a:pos x="T32" y="T33"/>
                    </a:cxn>
                    <a:cxn ang="T119">
                      <a:pos x="T34" y="T35"/>
                    </a:cxn>
                    <a:cxn ang="T120">
                      <a:pos x="T36" y="T37"/>
                    </a:cxn>
                    <a:cxn ang="T121">
                      <a:pos x="T38" y="T39"/>
                    </a:cxn>
                    <a:cxn ang="T122">
                      <a:pos x="T40" y="T41"/>
                    </a:cxn>
                    <a:cxn ang="T123">
                      <a:pos x="T42" y="T43"/>
                    </a:cxn>
                    <a:cxn ang="T124">
                      <a:pos x="T44" y="T45"/>
                    </a:cxn>
                    <a:cxn ang="T125">
                      <a:pos x="T46" y="T47"/>
                    </a:cxn>
                    <a:cxn ang="T126">
                      <a:pos x="T48" y="T49"/>
                    </a:cxn>
                    <a:cxn ang="T127">
                      <a:pos x="T50" y="T51"/>
                    </a:cxn>
                    <a:cxn ang="T128">
                      <a:pos x="T52" y="T53"/>
                    </a:cxn>
                    <a:cxn ang="T129">
                      <a:pos x="T54" y="T55"/>
                    </a:cxn>
                    <a:cxn ang="T130">
                      <a:pos x="T56" y="T57"/>
                    </a:cxn>
                    <a:cxn ang="T131">
                      <a:pos x="T58" y="T59"/>
                    </a:cxn>
                    <a:cxn ang="T132">
                      <a:pos x="T60" y="T61"/>
                    </a:cxn>
                    <a:cxn ang="T133">
                      <a:pos x="T62" y="T63"/>
                    </a:cxn>
                    <a:cxn ang="T134">
                      <a:pos x="T64" y="T65"/>
                    </a:cxn>
                    <a:cxn ang="T135">
                      <a:pos x="T66" y="T67"/>
                    </a:cxn>
                    <a:cxn ang="T136">
                      <a:pos x="T68" y="T69"/>
                    </a:cxn>
                    <a:cxn ang="T137">
                      <a:pos x="T70" y="T71"/>
                    </a:cxn>
                    <a:cxn ang="T138">
                      <a:pos x="T72" y="T73"/>
                    </a:cxn>
                    <a:cxn ang="T139">
                      <a:pos x="T74" y="T75"/>
                    </a:cxn>
                    <a:cxn ang="T140">
                      <a:pos x="T76" y="T77"/>
                    </a:cxn>
                    <a:cxn ang="T141">
                      <a:pos x="T78" y="T79"/>
                    </a:cxn>
                    <a:cxn ang="T142">
                      <a:pos x="T80" y="T81"/>
                    </a:cxn>
                    <a:cxn ang="T143">
                      <a:pos x="T82" y="T83"/>
                    </a:cxn>
                    <a:cxn ang="T144">
                      <a:pos x="T84" y="T85"/>
                    </a:cxn>
                    <a:cxn ang="T145">
                      <a:pos x="T86" y="T87"/>
                    </a:cxn>
                    <a:cxn ang="T146">
                      <a:pos x="T88" y="T89"/>
                    </a:cxn>
                    <a:cxn ang="T147">
                      <a:pos x="T90" y="T91"/>
                    </a:cxn>
                    <a:cxn ang="T148">
                      <a:pos x="T92" y="T93"/>
                    </a:cxn>
                    <a:cxn ang="T149">
                      <a:pos x="T94" y="T95"/>
                    </a:cxn>
                    <a:cxn ang="T150">
                      <a:pos x="T96" y="T97"/>
                    </a:cxn>
                    <a:cxn ang="T151">
                      <a:pos x="T98" y="T99"/>
                    </a:cxn>
                    <a:cxn ang="T152">
                      <a:pos x="T100" y="T101"/>
                    </a:cxn>
                  </a:cxnLst>
                  <a:rect l="T153" t="T154" r="T155" b="T156"/>
                  <a:pathLst>
                    <a:path w="384" h="207">
                      <a:moveTo>
                        <a:pt x="192" y="0"/>
                      </a:moveTo>
                      <a:lnTo>
                        <a:pt x="154" y="0"/>
                      </a:lnTo>
                      <a:lnTo>
                        <a:pt x="117" y="2"/>
                      </a:lnTo>
                      <a:lnTo>
                        <a:pt x="85" y="3"/>
                      </a:lnTo>
                      <a:lnTo>
                        <a:pt x="56" y="7"/>
                      </a:lnTo>
                      <a:lnTo>
                        <a:pt x="45" y="9"/>
                      </a:lnTo>
                      <a:lnTo>
                        <a:pt x="33" y="11"/>
                      </a:lnTo>
                      <a:lnTo>
                        <a:pt x="23" y="14"/>
                      </a:lnTo>
                      <a:lnTo>
                        <a:pt x="15" y="15"/>
                      </a:lnTo>
                      <a:lnTo>
                        <a:pt x="9" y="17"/>
                      </a:lnTo>
                      <a:lnTo>
                        <a:pt x="4" y="20"/>
                      </a:lnTo>
                      <a:lnTo>
                        <a:pt x="1" y="23"/>
                      </a:lnTo>
                      <a:lnTo>
                        <a:pt x="0" y="25"/>
                      </a:lnTo>
                      <a:lnTo>
                        <a:pt x="0" y="182"/>
                      </a:lnTo>
                      <a:lnTo>
                        <a:pt x="1" y="184"/>
                      </a:lnTo>
                      <a:lnTo>
                        <a:pt x="4" y="187"/>
                      </a:lnTo>
                      <a:lnTo>
                        <a:pt x="9" y="190"/>
                      </a:lnTo>
                      <a:lnTo>
                        <a:pt x="15" y="192"/>
                      </a:lnTo>
                      <a:lnTo>
                        <a:pt x="23" y="195"/>
                      </a:lnTo>
                      <a:lnTo>
                        <a:pt x="33" y="196"/>
                      </a:lnTo>
                      <a:lnTo>
                        <a:pt x="45" y="199"/>
                      </a:lnTo>
                      <a:lnTo>
                        <a:pt x="56" y="200"/>
                      </a:lnTo>
                      <a:lnTo>
                        <a:pt x="85" y="204"/>
                      </a:lnTo>
                      <a:lnTo>
                        <a:pt x="117" y="205"/>
                      </a:lnTo>
                      <a:lnTo>
                        <a:pt x="154" y="207"/>
                      </a:lnTo>
                      <a:lnTo>
                        <a:pt x="192" y="207"/>
                      </a:lnTo>
                      <a:lnTo>
                        <a:pt x="230" y="207"/>
                      </a:lnTo>
                      <a:lnTo>
                        <a:pt x="267" y="205"/>
                      </a:lnTo>
                      <a:lnTo>
                        <a:pt x="299" y="204"/>
                      </a:lnTo>
                      <a:lnTo>
                        <a:pt x="328" y="200"/>
                      </a:lnTo>
                      <a:lnTo>
                        <a:pt x="340" y="199"/>
                      </a:lnTo>
                      <a:lnTo>
                        <a:pt x="351" y="196"/>
                      </a:lnTo>
                      <a:lnTo>
                        <a:pt x="362" y="195"/>
                      </a:lnTo>
                      <a:lnTo>
                        <a:pt x="369" y="192"/>
                      </a:lnTo>
                      <a:lnTo>
                        <a:pt x="376" y="190"/>
                      </a:lnTo>
                      <a:lnTo>
                        <a:pt x="381" y="187"/>
                      </a:lnTo>
                      <a:lnTo>
                        <a:pt x="383" y="184"/>
                      </a:lnTo>
                      <a:lnTo>
                        <a:pt x="384" y="182"/>
                      </a:lnTo>
                      <a:lnTo>
                        <a:pt x="384" y="25"/>
                      </a:lnTo>
                      <a:lnTo>
                        <a:pt x="383" y="23"/>
                      </a:lnTo>
                      <a:lnTo>
                        <a:pt x="381" y="20"/>
                      </a:lnTo>
                      <a:lnTo>
                        <a:pt x="376" y="17"/>
                      </a:lnTo>
                      <a:lnTo>
                        <a:pt x="369" y="15"/>
                      </a:lnTo>
                      <a:lnTo>
                        <a:pt x="362" y="14"/>
                      </a:lnTo>
                      <a:lnTo>
                        <a:pt x="351" y="11"/>
                      </a:lnTo>
                      <a:lnTo>
                        <a:pt x="340" y="9"/>
                      </a:lnTo>
                      <a:lnTo>
                        <a:pt x="328" y="7"/>
                      </a:lnTo>
                      <a:lnTo>
                        <a:pt x="299" y="3"/>
                      </a:lnTo>
                      <a:lnTo>
                        <a:pt x="267" y="2"/>
                      </a:lnTo>
                      <a:lnTo>
                        <a:pt x="230" y="0"/>
                      </a:lnTo>
                      <a:lnTo>
                        <a:pt x="192" y="0"/>
                      </a:lnTo>
                      <a:close/>
                    </a:path>
                  </a:pathLst>
                </a:custGeom>
                <a:solidFill>
                  <a:srgbClr val="EAEAEA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de-CH"/>
                </a:p>
              </p:txBody>
            </p:sp>
            <p:sp>
              <p:nvSpPr>
                <p:cNvPr id="21740" name="Freeform 25"/>
                <p:cNvSpPr>
                  <a:spLocks/>
                </p:cNvSpPr>
                <p:nvPr/>
              </p:nvSpPr>
              <p:spPr bwMode="auto">
                <a:xfrm>
                  <a:off x="288" y="2609"/>
                  <a:ext cx="192" cy="26"/>
                </a:xfrm>
                <a:custGeom>
                  <a:avLst/>
                  <a:gdLst>
                    <a:gd name="T0" fmla="*/ 0 w 384"/>
                    <a:gd name="T1" fmla="*/ 1 h 52"/>
                    <a:gd name="T2" fmla="*/ 1 w 384"/>
                    <a:gd name="T3" fmla="*/ 1 h 52"/>
                    <a:gd name="T4" fmla="*/ 1 w 384"/>
                    <a:gd name="T5" fmla="*/ 1 h 52"/>
                    <a:gd name="T6" fmla="*/ 1 w 384"/>
                    <a:gd name="T7" fmla="*/ 2 h 52"/>
                    <a:gd name="T8" fmla="*/ 1 w 384"/>
                    <a:gd name="T9" fmla="*/ 2 h 52"/>
                    <a:gd name="T10" fmla="*/ 1 w 384"/>
                    <a:gd name="T11" fmla="*/ 2 h 52"/>
                    <a:gd name="T12" fmla="*/ 2 w 384"/>
                    <a:gd name="T13" fmla="*/ 2 h 52"/>
                    <a:gd name="T14" fmla="*/ 2 w 384"/>
                    <a:gd name="T15" fmla="*/ 2 h 52"/>
                    <a:gd name="T16" fmla="*/ 2 w 384"/>
                    <a:gd name="T17" fmla="*/ 2 h 52"/>
                    <a:gd name="T18" fmla="*/ 3 w 384"/>
                    <a:gd name="T19" fmla="*/ 2 h 52"/>
                    <a:gd name="T20" fmla="*/ 3 w 384"/>
                    <a:gd name="T21" fmla="*/ 2 h 52"/>
                    <a:gd name="T22" fmla="*/ 5 w 384"/>
                    <a:gd name="T23" fmla="*/ 2 h 52"/>
                    <a:gd name="T24" fmla="*/ 6 w 384"/>
                    <a:gd name="T25" fmla="*/ 2 h 52"/>
                    <a:gd name="T26" fmla="*/ 7 w 384"/>
                    <a:gd name="T27" fmla="*/ 2 h 52"/>
                    <a:gd name="T28" fmla="*/ 9 w 384"/>
                    <a:gd name="T29" fmla="*/ 2 h 52"/>
                    <a:gd name="T30" fmla="*/ 10 w 384"/>
                    <a:gd name="T31" fmla="*/ 2 h 52"/>
                    <a:gd name="T32" fmla="*/ 11 w 384"/>
                    <a:gd name="T33" fmla="*/ 2 h 52"/>
                    <a:gd name="T34" fmla="*/ 11 w 384"/>
                    <a:gd name="T35" fmla="*/ 2 h 52"/>
                    <a:gd name="T36" fmla="*/ 11 w 384"/>
                    <a:gd name="T37" fmla="*/ 2 h 52"/>
                    <a:gd name="T38" fmla="*/ 12 w 384"/>
                    <a:gd name="T39" fmla="*/ 2 h 52"/>
                    <a:gd name="T40" fmla="*/ 12 w 384"/>
                    <a:gd name="T41" fmla="*/ 2 h 52"/>
                    <a:gd name="T42" fmla="*/ 12 w 384"/>
                    <a:gd name="T43" fmla="*/ 2 h 52"/>
                    <a:gd name="T44" fmla="*/ 12 w 384"/>
                    <a:gd name="T45" fmla="*/ 1 h 52"/>
                    <a:gd name="T46" fmla="*/ 12 w 384"/>
                    <a:gd name="T47" fmla="*/ 1 h 52"/>
                    <a:gd name="T48" fmla="*/ 12 w 384"/>
                    <a:gd name="T49" fmla="*/ 1 h 52"/>
                    <a:gd name="T50" fmla="*/ 12 w 384"/>
                    <a:gd name="T51" fmla="*/ 1 h 52"/>
                    <a:gd name="T52" fmla="*/ 12 w 384"/>
                    <a:gd name="T53" fmla="*/ 1 h 52"/>
                    <a:gd name="T54" fmla="*/ 12 w 384"/>
                    <a:gd name="T55" fmla="*/ 1 h 52"/>
                    <a:gd name="T56" fmla="*/ 12 w 384"/>
                    <a:gd name="T57" fmla="*/ 1 h 52"/>
                    <a:gd name="T58" fmla="*/ 12 w 384"/>
                    <a:gd name="T59" fmla="*/ 1 h 52"/>
                    <a:gd name="T60" fmla="*/ 11 w 384"/>
                    <a:gd name="T61" fmla="*/ 1 h 52"/>
                    <a:gd name="T62" fmla="*/ 11 w 384"/>
                    <a:gd name="T63" fmla="*/ 1 h 52"/>
                    <a:gd name="T64" fmla="*/ 11 w 384"/>
                    <a:gd name="T65" fmla="*/ 1 h 52"/>
                    <a:gd name="T66" fmla="*/ 10 w 384"/>
                    <a:gd name="T67" fmla="*/ 1 h 52"/>
                    <a:gd name="T68" fmla="*/ 9 w 384"/>
                    <a:gd name="T69" fmla="*/ 1 h 52"/>
                    <a:gd name="T70" fmla="*/ 7 w 384"/>
                    <a:gd name="T71" fmla="*/ 0 h 52"/>
                    <a:gd name="T72" fmla="*/ 6 w 384"/>
                    <a:gd name="T73" fmla="*/ 0 h 52"/>
                    <a:gd name="T74" fmla="*/ 5 w 384"/>
                    <a:gd name="T75" fmla="*/ 0 h 52"/>
                    <a:gd name="T76" fmla="*/ 3 w 384"/>
                    <a:gd name="T77" fmla="*/ 1 h 52"/>
                    <a:gd name="T78" fmla="*/ 3 w 384"/>
                    <a:gd name="T79" fmla="*/ 1 h 52"/>
                    <a:gd name="T80" fmla="*/ 2 w 384"/>
                    <a:gd name="T81" fmla="*/ 1 h 52"/>
                    <a:gd name="T82" fmla="*/ 2 w 384"/>
                    <a:gd name="T83" fmla="*/ 1 h 52"/>
                    <a:gd name="T84" fmla="*/ 2 w 384"/>
                    <a:gd name="T85" fmla="*/ 1 h 52"/>
                    <a:gd name="T86" fmla="*/ 1 w 384"/>
                    <a:gd name="T87" fmla="*/ 1 h 52"/>
                    <a:gd name="T88" fmla="*/ 1 w 384"/>
                    <a:gd name="T89" fmla="*/ 1 h 52"/>
                    <a:gd name="T90" fmla="*/ 1 w 384"/>
                    <a:gd name="T91" fmla="*/ 1 h 52"/>
                    <a:gd name="T92" fmla="*/ 1 w 384"/>
                    <a:gd name="T93" fmla="*/ 1 h 52"/>
                    <a:gd name="T94" fmla="*/ 1 w 384"/>
                    <a:gd name="T95" fmla="*/ 1 h 52"/>
                    <a:gd name="T96" fmla="*/ 0 w 384"/>
                    <a:gd name="T97" fmla="*/ 1 h 52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w 384"/>
                    <a:gd name="T148" fmla="*/ 0 h 52"/>
                    <a:gd name="T149" fmla="*/ 384 w 384"/>
                    <a:gd name="T150" fmla="*/ 52 h 52"/>
                  </a:gdLst>
                  <a:ahLst/>
                  <a:cxnLst>
                    <a:cxn ang="T98">
                      <a:pos x="T0" y="T1"/>
                    </a:cxn>
                    <a:cxn ang="T99">
                      <a:pos x="T2" y="T3"/>
                    </a:cxn>
                    <a:cxn ang="T100">
                      <a:pos x="T4" y="T5"/>
                    </a:cxn>
                    <a:cxn ang="T101">
                      <a:pos x="T6" y="T7"/>
                    </a:cxn>
                    <a:cxn ang="T102">
                      <a:pos x="T8" y="T9"/>
                    </a:cxn>
                    <a:cxn ang="T103">
                      <a:pos x="T10" y="T11"/>
                    </a:cxn>
                    <a:cxn ang="T104">
                      <a:pos x="T12" y="T13"/>
                    </a:cxn>
                    <a:cxn ang="T105">
                      <a:pos x="T14" y="T15"/>
                    </a:cxn>
                    <a:cxn ang="T106">
                      <a:pos x="T16" y="T17"/>
                    </a:cxn>
                    <a:cxn ang="T107">
                      <a:pos x="T18" y="T19"/>
                    </a:cxn>
                    <a:cxn ang="T108">
                      <a:pos x="T20" y="T21"/>
                    </a:cxn>
                    <a:cxn ang="T109">
                      <a:pos x="T22" y="T23"/>
                    </a:cxn>
                    <a:cxn ang="T110">
                      <a:pos x="T24" y="T25"/>
                    </a:cxn>
                    <a:cxn ang="T111">
                      <a:pos x="T26" y="T27"/>
                    </a:cxn>
                    <a:cxn ang="T112">
                      <a:pos x="T28" y="T29"/>
                    </a:cxn>
                    <a:cxn ang="T113">
                      <a:pos x="T30" y="T31"/>
                    </a:cxn>
                    <a:cxn ang="T114">
                      <a:pos x="T32" y="T33"/>
                    </a:cxn>
                    <a:cxn ang="T115">
                      <a:pos x="T34" y="T35"/>
                    </a:cxn>
                    <a:cxn ang="T116">
                      <a:pos x="T36" y="T37"/>
                    </a:cxn>
                    <a:cxn ang="T117">
                      <a:pos x="T38" y="T39"/>
                    </a:cxn>
                    <a:cxn ang="T118">
                      <a:pos x="T40" y="T41"/>
                    </a:cxn>
                    <a:cxn ang="T119">
                      <a:pos x="T42" y="T43"/>
                    </a:cxn>
                    <a:cxn ang="T120">
                      <a:pos x="T44" y="T45"/>
                    </a:cxn>
                    <a:cxn ang="T121">
                      <a:pos x="T46" y="T47"/>
                    </a:cxn>
                    <a:cxn ang="T122">
                      <a:pos x="T48" y="T49"/>
                    </a:cxn>
                    <a:cxn ang="T123">
                      <a:pos x="T50" y="T51"/>
                    </a:cxn>
                    <a:cxn ang="T124">
                      <a:pos x="T52" y="T53"/>
                    </a:cxn>
                    <a:cxn ang="T125">
                      <a:pos x="T54" y="T55"/>
                    </a:cxn>
                    <a:cxn ang="T126">
                      <a:pos x="T56" y="T57"/>
                    </a:cxn>
                    <a:cxn ang="T127">
                      <a:pos x="T58" y="T59"/>
                    </a:cxn>
                    <a:cxn ang="T128">
                      <a:pos x="T60" y="T61"/>
                    </a:cxn>
                    <a:cxn ang="T129">
                      <a:pos x="T62" y="T63"/>
                    </a:cxn>
                    <a:cxn ang="T130">
                      <a:pos x="T64" y="T65"/>
                    </a:cxn>
                    <a:cxn ang="T131">
                      <a:pos x="T66" y="T67"/>
                    </a:cxn>
                    <a:cxn ang="T132">
                      <a:pos x="T68" y="T69"/>
                    </a:cxn>
                    <a:cxn ang="T133">
                      <a:pos x="T70" y="T71"/>
                    </a:cxn>
                    <a:cxn ang="T134">
                      <a:pos x="T72" y="T73"/>
                    </a:cxn>
                    <a:cxn ang="T135">
                      <a:pos x="T74" y="T75"/>
                    </a:cxn>
                    <a:cxn ang="T136">
                      <a:pos x="T76" y="T77"/>
                    </a:cxn>
                    <a:cxn ang="T137">
                      <a:pos x="T78" y="T79"/>
                    </a:cxn>
                    <a:cxn ang="T138">
                      <a:pos x="T80" y="T81"/>
                    </a:cxn>
                    <a:cxn ang="T139">
                      <a:pos x="T82" y="T83"/>
                    </a:cxn>
                    <a:cxn ang="T140">
                      <a:pos x="T84" y="T85"/>
                    </a:cxn>
                    <a:cxn ang="T141">
                      <a:pos x="T86" y="T87"/>
                    </a:cxn>
                    <a:cxn ang="T142">
                      <a:pos x="T88" y="T89"/>
                    </a:cxn>
                    <a:cxn ang="T143">
                      <a:pos x="T90" y="T91"/>
                    </a:cxn>
                    <a:cxn ang="T144">
                      <a:pos x="T92" y="T93"/>
                    </a:cxn>
                    <a:cxn ang="T145">
                      <a:pos x="T94" y="T95"/>
                    </a:cxn>
                    <a:cxn ang="T146">
                      <a:pos x="T96" y="T97"/>
                    </a:cxn>
                  </a:cxnLst>
                  <a:rect l="T147" t="T148" r="T149" b="T150"/>
                  <a:pathLst>
                    <a:path w="384" h="52">
                      <a:moveTo>
                        <a:pt x="0" y="25"/>
                      </a:moveTo>
                      <a:lnTo>
                        <a:pt x="1" y="28"/>
                      </a:lnTo>
                      <a:lnTo>
                        <a:pt x="4" y="30"/>
                      </a:lnTo>
                      <a:lnTo>
                        <a:pt x="9" y="33"/>
                      </a:lnTo>
                      <a:lnTo>
                        <a:pt x="15" y="35"/>
                      </a:lnTo>
                      <a:lnTo>
                        <a:pt x="23" y="38"/>
                      </a:lnTo>
                      <a:lnTo>
                        <a:pt x="33" y="40"/>
                      </a:lnTo>
                      <a:lnTo>
                        <a:pt x="45" y="43"/>
                      </a:lnTo>
                      <a:lnTo>
                        <a:pt x="56" y="44"/>
                      </a:lnTo>
                      <a:lnTo>
                        <a:pt x="85" y="48"/>
                      </a:lnTo>
                      <a:lnTo>
                        <a:pt x="117" y="49"/>
                      </a:lnTo>
                      <a:lnTo>
                        <a:pt x="154" y="52"/>
                      </a:lnTo>
                      <a:lnTo>
                        <a:pt x="192" y="52"/>
                      </a:lnTo>
                      <a:lnTo>
                        <a:pt x="230" y="52"/>
                      </a:lnTo>
                      <a:lnTo>
                        <a:pt x="267" y="49"/>
                      </a:lnTo>
                      <a:lnTo>
                        <a:pt x="299" y="48"/>
                      </a:lnTo>
                      <a:lnTo>
                        <a:pt x="328" y="44"/>
                      </a:lnTo>
                      <a:lnTo>
                        <a:pt x="340" y="43"/>
                      </a:lnTo>
                      <a:lnTo>
                        <a:pt x="351" y="40"/>
                      </a:lnTo>
                      <a:lnTo>
                        <a:pt x="362" y="38"/>
                      </a:lnTo>
                      <a:lnTo>
                        <a:pt x="369" y="35"/>
                      </a:lnTo>
                      <a:lnTo>
                        <a:pt x="376" y="33"/>
                      </a:lnTo>
                      <a:lnTo>
                        <a:pt x="381" y="30"/>
                      </a:lnTo>
                      <a:lnTo>
                        <a:pt x="383" y="28"/>
                      </a:lnTo>
                      <a:lnTo>
                        <a:pt x="384" y="25"/>
                      </a:lnTo>
                      <a:lnTo>
                        <a:pt x="383" y="23"/>
                      </a:lnTo>
                      <a:lnTo>
                        <a:pt x="381" y="20"/>
                      </a:lnTo>
                      <a:lnTo>
                        <a:pt x="376" y="17"/>
                      </a:lnTo>
                      <a:lnTo>
                        <a:pt x="369" y="15"/>
                      </a:lnTo>
                      <a:lnTo>
                        <a:pt x="362" y="14"/>
                      </a:lnTo>
                      <a:lnTo>
                        <a:pt x="351" y="11"/>
                      </a:lnTo>
                      <a:lnTo>
                        <a:pt x="340" y="9"/>
                      </a:lnTo>
                      <a:lnTo>
                        <a:pt x="328" y="7"/>
                      </a:lnTo>
                      <a:lnTo>
                        <a:pt x="299" y="3"/>
                      </a:lnTo>
                      <a:lnTo>
                        <a:pt x="267" y="2"/>
                      </a:lnTo>
                      <a:lnTo>
                        <a:pt x="230" y="0"/>
                      </a:lnTo>
                      <a:lnTo>
                        <a:pt x="192" y="0"/>
                      </a:lnTo>
                      <a:lnTo>
                        <a:pt x="154" y="0"/>
                      </a:lnTo>
                      <a:lnTo>
                        <a:pt x="117" y="2"/>
                      </a:lnTo>
                      <a:lnTo>
                        <a:pt x="85" y="3"/>
                      </a:lnTo>
                      <a:lnTo>
                        <a:pt x="56" y="7"/>
                      </a:lnTo>
                      <a:lnTo>
                        <a:pt x="45" y="9"/>
                      </a:lnTo>
                      <a:lnTo>
                        <a:pt x="33" y="11"/>
                      </a:lnTo>
                      <a:lnTo>
                        <a:pt x="23" y="14"/>
                      </a:lnTo>
                      <a:lnTo>
                        <a:pt x="15" y="15"/>
                      </a:lnTo>
                      <a:lnTo>
                        <a:pt x="9" y="17"/>
                      </a:lnTo>
                      <a:lnTo>
                        <a:pt x="4" y="20"/>
                      </a:lnTo>
                      <a:lnTo>
                        <a:pt x="1" y="23"/>
                      </a:lnTo>
                      <a:lnTo>
                        <a:pt x="0" y="25"/>
                      </a:lnTo>
                      <a:close/>
                    </a:path>
                  </a:pathLst>
                </a:custGeom>
                <a:solidFill>
                  <a:srgbClr val="EFEFE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de-CH"/>
                </a:p>
              </p:txBody>
            </p:sp>
            <p:sp>
              <p:nvSpPr>
                <p:cNvPr id="21741" name="Freeform 26"/>
                <p:cNvSpPr>
                  <a:spLocks/>
                </p:cNvSpPr>
                <p:nvPr/>
              </p:nvSpPr>
              <p:spPr bwMode="auto">
                <a:xfrm>
                  <a:off x="288" y="2609"/>
                  <a:ext cx="192" cy="104"/>
                </a:xfrm>
                <a:custGeom>
                  <a:avLst/>
                  <a:gdLst>
                    <a:gd name="T0" fmla="*/ 6 w 384"/>
                    <a:gd name="T1" fmla="*/ 0 h 207"/>
                    <a:gd name="T2" fmla="*/ 5 w 384"/>
                    <a:gd name="T3" fmla="*/ 0 h 207"/>
                    <a:gd name="T4" fmla="*/ 3 w 384"/>
                    <a:gd name="T5" fmla="*/ 1 h 207"/>
                    <a:gd name="T6" fmla="*/ 3 w 384"/>
                    <a:gd name="T7" fmla="*/ 1 h 207"/>
                    <a:gd name="T8" fmla="*/ 2 w 384"/>
                    <a:gd name="T9" fmla="*/ 1 h 207"/>
                    <a:gd name="T10" fmla="*/ 2 w 384"/>
                    <a:gd name="T11" fmla="*/ 1 h 207"/>
                    <a:gd name="T12" fmla="*/ 2 w 384"/>
                    <a:gd name="T13" fmla="*/ 1 h 207"/>
                    <a:gd name="T14" fmla="*/ 1 w 384"/>
                    <a:gd name="T15" fmla="*/ 1 h 207"/>
                    <a:gd name="T16" fmla="*/ 1 w 384"/>
                    <a:gd name="T17" fmla="*/ 1 h 207"/>
                    <a:gd name="T18" fmla="*/ 1 w 384"/>
                    <a:gd name="T19" fmla="*/ 1 h 207"/>
                    <a:gd name="T20" fmla="*/ 1 w 384"/>
                    <a:gd name="T21" fmla="*/ 1 h 207"/>
                    <a:gd name="T22" fmla="*/ 1 w 384"/>
                    <a:gd name="T23" fmla="*/ 1 h 207"/>
                    <a:gd name="T24" fmla="*/ 0 w 384"/>
                    <a:gd name="T25" fmla="*/ 1 h 207"/>
                    <a:gd name="T26" fmla="*/ 0 w 384"/>
                    <a:gd name="T27" fmla="*/ 6 h 207"/>
                    <a:gd name="T28" fmla="*/ 1 w 384"/>
                    <a:gd name="T29" fmla="*/ 6 h 207"/>
                    <a:gd name="T30" fmla="*/ 1 w 384"/>
                    <a:gd name="T31" fmla="*/ 6 h 207"/>
                    <a:gd name="T32" fmla="*/ 1 w 384"/>
                    <a:gd name="T33" fmla="*/ 6 h 207"/>
                    <a:gd name="T34" fmla="*/ 1 w 384"/>
                    <a:gd name="T35" fmla="*/ 6 h 207"/>
                    <a:gd name="T36" fmla="*/ 1 w 384"/>
                    <a:gd name="T37" fmla="*/ 7 h 207"/>
                    <a:gd name="T38" fmla="*/ 2 w 384"/>
                    <a:gd name="T39" fmla="*/ 7 h 207"/>
                    <a:gd name="T40" fmla="*/ 2 w 384"/>
                    <a:gd name="T41" fmla="*/ 7 h 207"/>
                    <a:gd name="T42" fmla="*/ 2 w 384"/>
                    <a:gd name="T43" fmla="*/ 7 h 207"/>
                    <a:gd name="T44" fmla="*/ 3 w 384"/>
                    <a:gd name="T45" fmla="*/ 7 h 207"/>
                    <a:gd name="T46" fmla="*/ 3 w 384"/>
                    <a:gd name="T47" fmla="*/ 7 h 207"/>
                    <a:gd name="T48" fmla="*/ 5 w 384"/>
                    <a:gd name="T49" fmla="*/ 7 h 207"/>
                    <a:gd name="T50" fmla="*/ 6 w 384"/>
                    <a:gd name="T51" fmla="*/ 7 h 207"/>
                    <a:gd name="T52" fmla="*/ 7 w 384"/>
                    <a:gd name="T53" fmla="*/ 7 h 207"/>
                    <a:gd name="T54" fmla="*/ 9 w 384"/>
                    <a:gd name="T55" fmla="*/ 7 h 207"/>
                    <a:gd name="T56" fmla="*/ 10 w 384"/>
                    <a:gd name="T57" fmla="*/ 7 h 207"/>
                    <a:gd name="T58" fmla="*/ 11 w 384"/>
                    <a:gd name="T59" fmla="*/ 7 h 207"/>
                    <a:gd name="T60" fmla="*/ 11 w 384"/>
                    <a:gd name="T61" fmla="*/ 7 h 207"/>
                    <a:gd name="T62" fmla="*/ 11 w 384"/>
                    <a:gd name="T63" fmla="*/ 7 h 207"/>
                    <a:gd name="T64" fmla="*/ 12 w 384"/>
                    <a:gd name="T65" fmla="*/ 7 h 207"/>
                    <a:gd name="T66" fmla="*/ 12 w 384"/>
                    <a:gd name="T67" fmla="*/ 6 h 207"/>
                    <a:gd name="T68" fmla="*/ 12 w 384"/>
                    <a:gd name="T69" fmla="*/ 6 h 207"/>
                    <a:gd name="T70" fmla="*/ 12 w 384"/>
                    <a:gd name="T71" fmla="*/ 6 h 207"/>
                    <a:gd name="T72" fmla="*/ 12 w 384"/>
                    <a:gd name="T73" fmla="*/ 6 h 207"/>
                    <a:gd name="T74" fmla="*/ 12 w 384"/>
                    <a:gd name="T75" fmla="*/ 6 h 207"/>
                    <a:gd name="T76" fmla="*/ 12 w 384"/>
                    <a:gd name="T77" fmla="*/ 1 h 207"/>
                    <a:gd name="T78" fmla="*/ 12 w 384"/>
                    <a:gd name="T79" fmla="*/ 1 h 207"/>
                    <a:gd name="T80" fmla="*/ 12 w 384"/>
                    <a:gd name="T81" fmla="*/ 1 h 207"/>
                    <a:gd name="T82" fmla="*/ 12 w 384"/>
                    <a:gd name="T83" fmla="*/ 1 h 207"/>
                    <a:gd name="T84" fmla="*/ 12 w 384"/>
                    <a:gd name="T85" fmla="*/ 1 h 207"/>
                    <a:gd name="T86" fmla="*/ 12 w 384"/>
                    <a:gd name="T87" fmla="*/ 1 h 207"/>
                    <a:gd name="T88" fmla="*/ 11 w 384"/>
                    <a:gd name="T89" fmla="*/ 1 h 207"/>
                    <a:gd name="T90" fmla="*/ 11 w 384"/>
                    <a:gd name="T91" fmla="*/ 1 h 207"/>
                    <a:gd name="T92" fmla="*/ 11 w 384"/>
                    <a:gd name="T93" fmla="*/ 1 h 207"/>
                    <a:gd name="T94" fmla="*/ 10 w 384"/>
                    <a:gd name="T95" fmla="*/ 1 h 207"/>
                    <a:gd name="T96" fmla="*/ 9 w 384"/>
                    <a:gd name="T97" fmla="*/ 1 h 207"/>
                    <a:gd name="T98" fmla="*/ 7 w 384"/>
                    <a:gd name="T99" fmla="*/ 0 h 207"/>
                    <a:gd name="T100" fmla="*/ 6 w 384"/>
                    <a:gd name="T101" fmla="*/ 0 h 207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w 384"/>
                    <a:gd name="T154" fmla="*/ 0 h 207"/>
                    <a:gd name="T155" fmla="*/ 384 w 384"/>
                    <a:gd name="T156" fmla="*/ 207 h 207"/>
                  </a:gdLst>
                  <a:ahLst/>
                  <a:cxnLst>
                    <a:cxn ang="T102">
                      <a:pos x="T0" y="T1"/>
                    </a:cxn>
                    <a:cxn ang="T103">
                      <a:pos x="T2" y="T3"/>
                    </a:cxn>
                    <a:cxn ang="T104">
                      <a:pos x="T4" y="T5"/>
                    </a:cxn>
                    <a:cxn ang="T105">
                      <a:pos x="T6" y="T7"/>
                    </a:cxn>
                    <a:cxn ang="T106">
                      <a:pos x="T8" y="T9"/>
                    </a:cxn>
                    <a:cxn ang="T107">
                      <a:pos x="T10" y="T11"/>
                    </a:cxn>
                    <a:cxn ang="T108">
                      <a:pos x="T12" y="T13"/>
                    </a:cxn>
                    <a:cxn ang="T109">
                      <a:pos x="T14" y="T15"/>
                    </a:cxn>
                    <a:cxn ang="T110">
                      <a:pos x="T16" y="T17"/>
                    </a:cxn>
                    <a:cxn ang="T111">
                      <a:pos x="T18" y="T19"/>
                    </a:cxn>
                    <a:cxn ang="T112">
                      <a:pos x="T20" y="T21"/>
                    </a:cxn>
                    <a:cxn ang="T113">
                      <a:pos x="T22" y="T23"/>
                    </a:cxn>
                    <a:cxn ang="T114">
                      <a:pos x="T24" y="T25"/>
                    </a:cxn>
                    <a:cxn ang="T115">
                      <a:pos x="T26" y="T27"/>
                    </a:cxn>
                    <a:cxn ang="T116">
                      <a:pos x="T28" y="T29"/>
                    </a:cxn>
                    <a:cxn ang="T117">
                      <a:pos x="T30" y="T31"/>
                    </a:cxn>
                    <a:cxn ang="T118">
                      <a:pos x="T32" y="T33"/>
                    </a:cxn>
                    <a:cxn ang="T119">
                      <a:pos x="T34" y="T35"/>
                    </a:cxn>
                    <a:cxn ang="T120">
                      <a:pos x="T36" y="T37"/>
                    </a:cxn>
                    <a:cxn ang="T121">
                      <a:pos x="T38" y="T39"/>
                    </a:cxn>
                    <a:cxn ang="T122">
                      <a:pos x="T40" y="T41"/>
                    </a:cxn>
                    <a:cxn ang="T123">
                      <a:pos x="T42" y="T43"/>
                    </a:cxn>
                    <a:cxn ang="T124">
                      <a:pos x="T44" y="T45"/>
                    </a:cxn>
                    <a:cxn ang="T125">
                      <a:pos x="T46" y="T47"/>
                    </a:cxn>
                    <a:cxn ang="T126">
                      <a:pos x="T48" y="T49"/>
                    </a:cxn>
                    <a:cxn ang="T127">
                      <a:pos x="T50" y="T51"/>
                    </a:cxn>
                    <a:cxn ang="T128">
                      <a:pos x="T52" y="T53"/>
                    </a:cxn>
                    <a:cxn ang="T129">
                      <a:pos x="T54" y="T55"/>
                    </a:cxn>
                    <a:cxn ang="T130">
                      <a:pos x="T56" y="T57"/>
                    </a:cxn>
                    <a:cxn ang="T131">
                      <a:pos x="T58" y="T59"/>
                    </a:cxn>
                    <a:cxn ang="T132">
                      <a:pos x="T60" y="T61"/>
                    </a:cxn>
                    <a:cxn ang="T133">
                      <a:pos x="T62" y="T63"/>
                    </a:cxn>
                    <a:cxn ang="T134">
                      <a:pos x="T64" y="T65"/>
                    </a:cxn>
                    <a:cxn ang="T135">
                      <a:pos x="T66" y="T67"/>
                    </a:cxn>
                    <a:cxn ang="T136">
                      <a:pos x="T68" y="T69"/>
                    </a:cxn>
                    <a:cxn ang="T137">
                      <a:pos x="T70" y="T71"/>
                    </a:cxn>
                    <a:cxn ang="T138">
                      <a:pos x="T72" y="T73"/>
                    </a:cxn>
                    <a:cxn ang="T139">
                      <a:pos x="T74" y="T75"/>
                    </a:cxn>
                    <a:cxn ang="T140">
                      <a:pos x="T76" y="T77"/>
                    </a:cxn>
                    <a:cxn ang="T141">
                      <a:pos x="T78" y="T79"/>
                    </a:cxn>
                    <a:cxn ang="T142">
                      <a:pos x="T80" y="T81"/>
                    </a:cxn>
                    <a:cxn ang="T143">
                      <a:pos x="T82" y="T83"/>
                    </a:cxn>
                    <a:cxn ang="T144">
                      <a:pos x="T84" y="T85"/>
                    </a:cxn>
                    <a:cxn ang="T145">
                      <a:pos x="T86" y="T87"/>
                    </a:cxn>
                    <a:cxn ang="T146">
                      <a:pos x="T88" y="T89"/>
                    </a:cxn>
                    <a:cxn ang="T147">
                      <a:pos x="T90" y="T91"/>
                    </a:cxn>
                    <a:cxn ang="T148">
                      <a:pos x="T92" y="T93"/>
                    </a:cxn>
                    <a:cxn ang="T149">
                      <a:pos x="T94" y="T95"/>
                    </a:cxn>
                    <a:cxn ang="T150">
                      <a:pos x="T96" y="T97"/>
                    </a:cxn>
                    <a:cxn ang="T151">
                      <a:pos x="T98" y="T99"/>
                    </a:cxn>
                    <a:cxn ang="T152">
                      <a:pos x="T100" y="T101"/>
                    </a:cxn>
                  </a:cxnLst>
                  <a:rect l="T153" t="T154" r="T155" b="T156"/>
                  <a:pathLst>
                    <a:path w="384" h="207">
                      <a:moveTo>
                        <a:pt x="192" y="0"/>
                      </a:moveTo>
                      <a:lnTo>
                        <a:pt x="154" y="0"/>
                      </a:lnTo>
                      <a:lnTo>
                        <a:pt x="117" y="2"/>
                      </a:lnTo>
                      <a:lnTo>
                        <a:pt x="85" y="3"/>
                      </a:lnTo>
                      <a:lnTo>
                        <a:pt x="56" y="7"/>
                      </a:lnTo>
                      <a:lnTo>
                        <a:pt x="45" y="9"/>
                      </a:lnTo>
                      <a:lnTo>
                        <a:pt x="33" y="11"/>
                      </a:lnTo>
                      <a:lnTo>
                        <a:pt x="23" y="14"/>
                      </a:lnTo>
                      <a:lnTo>
                        <a:pt x="15" y="15"/>
                      </a:lnTo>
                      <a:lnTo>
                        <a:pt x="9" y="17"/>
                      </a:lnTo>
                      <a:lnTo>
                        <a:pt x="4" y="20"/>
                      </a:lnTo>
                      <a:lnTo>
                        <a:pt x="1" y="23"/>
                      </a:lnTo>
                      <a:lnTo>
                        <a:pt x="0" y="25"/>
                      </a:lnTo>
                      <a:lnTo>
                        <a:pt x="0" y="182"/>
                      </a:lnTo>
                      <a:lnTo>
                        <a:pt x="1" y="184"/>
                      </a:lnTo>
                      <a:lnTo>
                        <a:pt x="4" y="187"/>
                      </a:lnTo>
                      <a:lnTo>
                        <a:pt x="9" y="190"/>
                      </a:lnTo>
                      <a:lnTo>
                        <a:pt x="15" y="192"/>
                      </a:lnTo>
                      <a:lnTo>
                        <a:pt x="23" y="195"/>
                      </a:lnTo>
                      <a:lnTo>
                        <a:pt x="33" y="196"/>
                      </a:lnTo>
                      <a:lnTo>
                        <a:pt x="45" y="199"/>
                      </a:lnTo>
                      <a:lnTo>
                        <a:pt x="56" y="200"/>
                      </a:lnTo>
                      <a:lnTo>
                        <a:pt x="85" y="204"/>
                      </a:lnTo>
                      <a:lnTo>
                        <a:pt x="117" y="205"/>
                      </a:lnTo>
                      <a:lnTo>
                        <a:pt x="154" y="207"/>
                      </a:lnTo>
                      <a:lnTo>
                        <a:pt x="192" y="207"/>
                      </a:lnTo>
                      <a:lnTo>
                        <a:pt x="230" y="207"/>
                      </a:lnTo>
                      <a:lnTo>
                        <a:pt x="267" y="205"/>
                      </a:lnTo>
                      <a:lnTo>
                        <a:pt x="299" y="204"/>
                      </a:lnTo>
                      <a:lnTo>
                        <a:pt x="328" y="200"/>
                      </a:lnTo>
                      <a:lnTo>
                        <a:pt x="340" y="199"/>
                      </a:lnTo>
                      <a:lnTo>
                        <a:pt x="351" y="196"/>
                      </a:lnTo>
                      <a:lnTo>
                        <a:pt x="362" y="195"/>
                      </a:lnTo>
                      <a:lnTo>
                        <a:pt x="369" y="192"/>
                      </a:lnTo>
                      <a:lnTo>
                        <a:pt x="376" y="190"/>
                      </a:lnTo>
                      <a:lnTo>
                        <a:pt x="381" y="187"/>
                      </a:lnTo>
                      <a:lnTo>
                        <a:pt x="383" y="184"/>
                      </a:lnTo>
                      <a:lnTo>
                        <a:pt x="384" y="182"/>
                      </a:lnTo>
                      <a:lnTo>
                        <a:pt x="384" y="25"/>
                      </a:lnTo>
                      <a:lnTo>
                        <a:pt x="383" y="23"/>
                      </a:lnTo>
                      <a:lnTo>
                        <a:pt x="381" y="20"/>
                      </a:lnTo>
                      <a:lnTo>
                        <a:pt x="376" y="17"/>
                      </a:lnTo>
                      <a:lnTo>
                        <a:pt x="369" y="15"/>
                      </a:lnTo>
                      <a:lnTo>
                        <a:pt x="362" y="14"/>
                      </a:lnTo>
                      <a:lnTo>
                        <a:pt x="351" y="11"/>
                      </a:lnTo>
                      <a:lnTo>
                        <a:pt x="340" y="9"/>
                      </a:lnTo>
                      <a:lnTo>
                        <a:pt x="328" y="7"/>
                      </a:lnTo>
                      <a:lnTo>
                        <a:pt x="299" y="3"/>
                      </a:lnTo>
                      <a:lnTo>
                        <a:pt x="267" y="2"/>
                      </a:lnTo>
                      <a:lnTo>
                        <a:pt x="230" y="0"/>
                      </a:lnTo>
                      <a:lnTo>
                        <a:pt x="192" y="0"/>
                      </a:lnTo>
                      <a:close/>
                    </a:path>
                  </a:pathLst>
                </a:custGeom>
                <a:noFill/>
                <a:ln w="5">
                  <a:solidFill>
                    <a:srgbClr val="DDDDDD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de-CH"/>
                </a:p>
              </p:txBody>
            </p:sp>
            <p:sp>
              <p:nvSpPr>
                <p:cNvPr id="21742" name="Freeform 27"/>
                <p:cNvSpPr>
                  <a:spLocks/>
                </p:cNvSpPr>
                <p:nvPr/>
              </p:nvSpPr>
              <p:spPr bwMode="auto">
                <a:xfrm>
                  <a:off x="288" y="2622"/>
                  <a:ext cx="192" cy="13"/>
                </a:xfrm>
                <a:custGeom>
                  <a:avLst/>
                  <a:gdLst>
                    <a:gd name="T0" fmla="*/ 0 w 384"/>
                    <a:gd name="T1" fmla="*/ 0 h 27"/>
                    <a:gd name="T2" fmla="*/ 1 w 384"/>
                    <a:gd name="T3" fmla="*/ 0 h 27"/>
                    <a:gd name="T4" fmla="*/ 1 w 384"/>
                    <a:gd name="T5" fmla="*/ 0 h 27"/>
                    <a:gd name="T6" fmla="*/ 1 w 384"/>
                    <a:gd name="T7" fmla="*/ 0 h 27"/>
                    <a:gd name="T8" fmla="*/ 1 w 384"/>
                    <a:gd name="T9" fmla="*/ 0 h 27"/>
                    <a:gd name="T10" fmla="*/ 1 w 384"/>
                    <a:gd name="T11" fmla="*/ 0 h 27"/>
                    <a:gd name="T12" fmla="*/ 2 w 384"/>
                    <a:gd name="T13" fmla="*/ 0 h 27"/>
                    <a:gd name="T14" fmla="*/ 2 w 384"/>
                    <a:gd name="T15" fmla="*/ 0 h 27"/>
                    <a:gd name="T16" fmla="*/ 2 w 384"/>
                    <a:gd name="T17" fmla="*/ 0 h 27"/>
                    <a:gd name="T18" fmla="*/ 3 w 384"/>
                    <a:gd name="T19" fmla="*/ 0 h 27"/>
                    <a:gd name="T20" fmla="*/ 3 w 384"/>
                    <a:gd name="T21" fmla="*/ 0 h 27"/>
                    <a:gd name="T22" fmla="*/ 5 w 384"/>
                    <a:gd name="T23" fmla="*/ 0 h 27"/>
                    <a:gd name="T24" fmla="*/ 6 w 384"/>
                    <a:gd name="T25" fmla="*/ 0 h 27"/>
                    <a:gd name="T26" fmla="*/ 7 w 384"/>
                    <a:gd name="T27" fmla="*/ 0 h 27"/>
                    <a:gd name="T28" fmla="*/ 9 w 384"/>
                    <a:gd name="T29" fmla="*/ 0 h 27"/>
                    <a:gd name="T30" fmla="*/ 10 w 384"/>
                    <a:gd name="T31" fmla="*/ 0 h 27"/>
                    <a:gd name="T32" fmla="*/ 11 w 384"/>
                    <a:gd name="T33" fmla="*/ 0 h 27"/>
                    <a:gd name="T34" fmla="*/ 11 w 384"/>
                    <a:gd name="T35" fmla="*/ 0 h 27"/>
                    <a:gd name="T36" fmla="*/ 11 w 384"/>
                    <a:gd name="T37" fmla="*/ 0 h 27"/>
                    <a:gd name="T38" fmla="*/ 12 w 384"/>
                    <a:gd name="T39" fmla="*/ 0 h 27"/>
                    <a:gd name="T40" fmla="*/ 12 w 384"/>
                    <a:gd name="T41" fmla="*/ 0 h 27"/>
                    <a:gd name="T42" fmla="*/ 12 w 384"/>
                    <a:gd name="T43" fmla="*/ 0 h 27"/>
                    <a:gd name="T44" fmla="*/ 12 w 384"/>
                    <a:gd name="T45" fmla="*/ 0 h 27"/>
                    <a:gd name="T46" fmla="*/ 12 w 384"/>
                    <a:gd name="T47" fmla="*/ 0 h 27"/>
                    <a:gd name="T48" fmla="*/ 12 w 384"/>
                    <a:gd name="T49" fmla="*/ 0 h 27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w 384"/>
                    <a:gd name="T76" fmla="*/ 0 h 27"/>
                    <a:gd name="T77" fmla="*/ 384 w 384"/>
                    <a:gd name="T78" fmla="*/ 27 h 27"/>
                  </a:gdLst>
                  <a:ahLst/>
                  <a:cxnLst>
                    <a:cxn ang="T50">
                      <a:pos x="T0" y="T1"/>
                    </a:cxn>
                    <a:cxn ang="T51">
                      <a:pos x="T2" y="T3"/>
                    </a:cxn>
                    <a:cxn ang="T52">
                      <a:pos x="T4" y="T5"/>
                    </a:cxn>
                    <a:cxn ang="T53">
                      <a:pos x="T6" y="T7"/>
                    </a:cxn>
                    <a:cxn ang="T54">
                      <a:pos x="T8" y="T9"/>
                    </a:cxn>
                    <a:cxn ang="T55">
                      <a:pos x="T10" y="T11"/>
                    </a:cxn>
                    <a:cxn ang="T56">
                      <a:pos x="T12" y="T13"/>
                    </a:cxn>
                    <a:cxn ang="T57">
                      <a:pos x="T14" y="T15"/>
                    </a:cxn>
                    <a:cxn ang="T58">
                      <a:pos x="T16" y="T17"/>
                    </a:cxn>
                    <a:cxn ang="T59">
                      <a:pos x="T18" y="T19"/>
                    </a:cxn>
                    <a:cxn ang="T60">
                      <a:pos x="T20" y="T21"/>
                    </a:cxn>
                    <a:cxn ang="T61">
                      <a:pos x="T22" y="T23"/>
                    </a:cxn>
                    <a:cxn ang="T62">
                      <a:pos x="T24" y="T25"/>
                    </a:cxn>
                    <a:cxn ang="T63">
                      <a:pos x="T26" y="T27"/>
                    </a:cxn>
                    <a:cxn ang="T64">
                      <a:pos x="T28" y="T29"/>
                    </a:cxn>
                    <a:cxn ang="T65">
                      <a:pos x="T30" y="T31"/>
                    </a:cxn>
                    <a:cxn ang="T66">
                      <a:pos x="T32" y="T33"/>
                    </a:cxn>
                    <a:cxn ang="T67">
                      <a:pos x="T34" y="T35"/>
                    </a:cxn>
                    <a:cxn ang="T68">
                      <a:pos x="T36" y="T37"/>
                    </a:cxn>
                    <a:cxn ang="T69">
                      <a:pos x="T38" y="T39"/>
                    </a:cxn>
                    <a:cxn ang="T70">
                      <a:pos x="T40" y="T41"/>
                    </a:cxn>
                    <a:cxn ang="T71">
                      <a:pos x="T42" y="T43"/>
                    </a:cxn>
                    <a:cxn ang="T72">
                      <a:pos x="T44" y="T45"/>
                    </a:cxn>
                    <a:cxn ang="T73">
                      <a:pos x="T46" y="T47"/>
                    </a:cxn>
                    <a:cxn ang="T74">
                      <a:pos x="T48" y="T49"/>
                    </a:cxn>
                  </a:cxnLst>
                  <a:rect l="T75" t="T76" r="T77" b="T78"/>
                  <a:pathLst>
                    <a:path w="384" h="27">
                      <a:moveTo>
                        <a:pt x="0" y="0"/>
                      </a:moveTo>
                      <a:lnTo>
                        <a:pt x="1" y="3"/>
                      </a:lnTo>
                      <a:lnTo>
                        <a:pt x="4" y="5"/>
                      </a:lnTo>
                      <a:lnTo>
                        <a:pt x="9" y="8"/>
                      </a:lnTo>
                      <a:lnTo>
                        <a:pt x="15" y="10"/>
                      </a:lnTo>
                      <a:lnTo>
                        <a:pt x="23" y="13"/>
                      </a:lnTo>
                      <a:lnTo>
                        <a:pt x="33" y="15"/>
                      </a:lnTo>
                      <a:lnTo>
                        <a:pt x="45" y="18"/>
                      </a:lnTo>
                      <a:lnTo>
                        <a:pt x="56" y="19"/>
                      </a:lnTo>
                      <a:lnTo>
                        <a:pt x="85" y="23"/>
                      </a:lnTo>
                      <a:lnTo>
                        <a:pt x="117" y="24"/>
                      </a:lnTo>
                      <a:lnTo>
                        <a:pt x="154" y="27"/>
                      </a:lnTo>
                      <a:lnTo>
                        <a:pt x="192" y="27"/>
                      </a:lnTo>
                      <a:lnTo>
                        <a:pt x="230" y="27"/>
                      </a:lnTo>
                      <a:lnTo>
                        <a:pt x="267" y="24"/>
                      </a:lnTo>
                      <a:lnTo>
                        <a:pt x="299" y="23"/>
                      </a:lnTo>
                      <a:lnTo>
                        <a:pt x="328" y="19"/>
                      </a:lnTo>
                      <a:lnTo>
                        <a:pt x="340" y="18"/>
                      </a:lnTo>
                      <a:lnTo>
                        <a:pt x="351" y="15"/>
                      </a:lnTo>
                      <a:lnTo>
                        <a:pt x="362" y="13"/>
                      </a:lnTo>
                      <a:lnTo>
                        <a:pt x="369" y="10"/>
                      </a:lnTo>
                      <a:lnTo>
                        <a:pt x="376" y="8"/>
                      </a:lnTo>
                      <a:lnTo>
                        <a:pt x="381" y="5"/>
                      </a:lnTo>
                      <a:lnTo>
                        <a:pt x="383" y="3"/>
                      </a:lnTo>
                      <a:lnTo>
                        <a:pt x="384" y="0"/>
                      </a:lnTo>
                    </a:path>
                  </a:pathLst>
                </a:custGeom>
                <a:noFill/>
                <a:ln w="5">
                  <a:solidFill>
                    <a:srgbClr val="DDDDDD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de-CH"/>
                </a:p>
              </p:txBody>
            </p:sp>
          </p:grpSp>
          <p:sp>
            <p:nvSpPr>
              <p:cNvPr id="21517" name="Rectangle 29"/>
              <p:cNvSpPr>
                <a:spLocks noChangeArrowheads="1"/>
              </p:cNvSpPr>
              <p:nvPr/>
            </p:nvSpPr>
            <p:spPr bwMode="auto">
              <a:xfrm>
                <a:off x="519" y="2732"/>
                <a:ext cx="218" cy="142"/>
              </a:xfrm>
              <a:prstGeom prst="rect">
                <a:avLst/>
              </a:prstGeom>
              <a:solidFill>
                <a:srgbClr val="EAEAEA"/>
              </a:solidFill>
              <a:ln w="5">
                <a:solidFill>
                  <a:srgbClr val="DDDDDD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de-DE"/>
              </a:p>
            </p:txBody>
          </p:sp>
          <p:grpSp>
            <p:nvGrpSpPr>
              <p:cNvPr id="21518" name="Group 34"/>
              <p:cNvGrpSpPr>
                <a:grpSpLocks/>
              </p:cNvGrpSpPr>
              <p:nvPr/>
            </p:nvGrpSpPr>
            <p:grpSpPr bwMode="auto">
              <a:xfrm>
                <a:off x="531" y="2609"/>
                <a:ext cx="192" cy="104"/>
                <a:chOff x="531" y="2609"/>
                <a:chExt cx="192" cy="104"/>
              </a:xfrm>
            </p:grpSpPr>
            <p:sp>
              <p:nvSpPr>
                <p:cNvPr id="21735" name="Freeform 30"/>
                <p:cNvSpPr>
                  <a:spLocks/>
                </p:cNvSpPr>
                <p:nvPr/>
              </p:nvSpPr>
              <p:spPr bwMode="auto">
                <a:xfrm>
                  <a:off x="531" y="2609"/>
                  <a:ext cx="192" cy="104"/>
                </a:xfrm>
                <a:custGeom>
                  <a:avLst/>
                  <a:gdLst>
                    <a:gd name="T0" fmla="*/ 6 w 384"/>
                    <a:gd name="T1" fmla="*/ 0 h 207"/>
                    <a:gd name="T2" fmla="*/ 5 w 384"/>
                    <a:gd name="T3" fmla="*/ 0 h 207"/>
                    <a:gd name="T4" fmla="*/ 3 w 384"/>
                    <a:gd name="T5" fmla="*/ 1 h 207"/>
                    <a:gd name="T6" fmla="*/ 3 w 384"/>
                    <a:gd name="T7" fmla="*/ 1 h 207"/>
                    <a:gd name="T8" fmla="*/ 2 w 384"/>
                    <a:gd name="T9" fmla="*/ 1 h 207"/>
                    <a:gd name="T10" fmla="*/ 2 w 384"/>
                    <a:gd name="T11" fmla="*/ 1 h 207"/>
                    <a:gd name="T12" fmla="*/ 2 w 384"/>
                    <a:gd name="T13" fmla="*/ 1 h 207"/>
                    <a:gd name="T14" fmla="*/ 1 w 384"/>
                    <a:gd name="T15" fmla="*/ 1 h 207"/>
                    <a:gd name="T16" fmla="*/ 1 w 384"/>
                    <a:gd name="T17" fmla="*/ 1 h 207"/>
                    <a:gd name="T18" fmla="*/ 1 w 384"/>
                    <a:gd name="T19" fmla="*/ 1 h 207"/>
                    <a:gd name="T20" fmla="*/ 1 w 384"/>
                    <a:gd name="T21" fmla="*/ 1 h 207"/>
                    <a:gd name="T22" fmla="*/ 1 w 384"/>
                    <a:gd name="T23" fmla="*/ 1 h 207"/>
                    <a:gd name="T24" fmla="*/ 0 w 384"/>
                    <a:gd name="T25" fmla="*/ 1 h 207"/>
                    <a:gd name="T26" fmla="*/ 0 w 384"/>
                    <a:gd name="T27" fmla="*/ 6 h 207"/>
                    <a:gd name="T28" fmla="*/ 1 w 384"/>
                    <a:gd name="T29" fmla="*/ 6 h 207"/>
                    <a:gd name="T30" fmla="*/ 1 w 384"/>
                    <a:gd name="T31" fmla="*/ 6 h 207"/>
                    <a:gd name="T32" fmla="*/ 1 w 384"/>
                    <a:gd name="T33" fmla="*/ 6 h 207"/>
                    <a:gd name="T34" fmla="*/ 1 w 384"/>
                    <a:gd name="T35" fmla="*/ 6 h 207"/>
                    <a:gd name="T36" fmla="*/ 1 w 384"/>
                    <a:gd name="T37" fmla="*/ 7 h 207"/>
                    <a:gd name="T38" fmla="*/ 2 w 384"/>
                    <a:gd name="T39" fmla="*/ 7 h 207"/>
                    <a:gd name="T40" fmla="*/ 2 w 384"/>
                    <a:gd name="T41" fmla="*/ 7 h 207"/>
                    <a:gd name="T42" fmla="*/ 2 w 384"/>
                    <a:gd name="T43" fmla="*/ 7 h 207"/>
                    <a:gd name="T44" fmla="*/ 3 w 384"/>
                    <a:gd name="T45" fmla="*/ 7 h 207"/>
                    <a:gd name="T46" fmla="*/ 3 w 384"/>
                    <a:gd name="T47" fmla="*/ 7 h 207"/>
                    <a:gd name="T48" fmla="*/ 5 w 384"/>
                    <a:gd name="T49" fmla="*/ 7 h 207"/>
                    <a:gd name="T50" fmla="*/ 6 w 384"/>
                    <a:gd name="T51" fmla="*/ 7 h 207"/>
                    <a:gd name="T52" fmla="*/ 7 w 384"/>
                    <a:gd name="T53" fmla="*/ 7 h 207"/>
                    <a:gd name="T54" fmla="*/ 9 w 384"/>
                    <a:gd name="T55" fmla="*/ 7 h 207"/>
                    <a:gd name="T56" fmla="*/ 10 w 384"/>
                    <a:gd name="T57" fmla="*/ 7 h 207"/>
                    <a:gd name="T58" fmla="*/ 11 w 384"/>
                    <a:gd name="T59" fmla="*/ 7 h 207"/>
                    <a:gd name="T60" fmla="*/ 11 w 384"/>
                    <a:gd name="T61" fmla="*/ 7 h 207"/>
                    <a:gd name="T62" fmla="*/ 11 w 384"/>
                    <a:gd name="T63" fmla="*/ 7 h 207"/>
                    <a:gd name="T64" fmla="*/ 12 w 384"/>
                    <a:gd name="T65" fmla="*/ 7 h 207"/>
                    <a:gd name="T66" fmla="*/ 12 w 384"/>
                    <a:gd name="T67" fmla="*/ 6 h 207"/>
                    <a:gd name="T68" fmla="*/ 12 w 384"/>
                    <a:gd name="T69" fmla="*/ 6 h 207"/>
                    <a:gd name="T70" fmla="*/ 12 w 384"/>
                    <a:gd name="T71" fmla="*/ 6 h 207"/>
                    <a:gd name="T72" fmla="*/ 12 w 384"/>
                    <a:gd name="T73" fmla="*/ 6 h 207"/>
                    <a:gd name="T74" fmla="*/ 12 w 384"/>
                    <a:gd name="T75" fmla="*/ 6 h 207"/>
                    <a:gd name="T76" fmla="*/ 12 w 384"/>
                    <a:gd name="T77" fmla="*/ 1 h 207"/>
                    <a:gd name="T78" fmla="*/ 12 w 384"/>
                    <a:gd name="T79" fmla="*/ 1 h 207"/>
                    <a:gd name="T80" fmla="*/ 12 w 384"/>
                    <a:gd name="T81" fmla="*/ 1 h 207"/>
                    <a:gd name="T82" fmla="*/ 12 w 384"/>
                    <a:gd name="T83" fmla="*/ 1 h 207"/>
                    <a:gd name="T84" fmla="*/ 12 w 384"/>
                    <a:gd name="T85" fmla="*/ 1 h 207"/>
                    <a:gd name="T86" fmla="*/ 12 w 384"/>
                    <a:gd name="T87" fmla="*/ 1 h 207"/>
                    <a:gd name="T88" fmla="*/ 11 w 384"/>
                    <a:gd name="T89" fmla="*/ 1 h 207"/>
                    <a:gd name="T90" fmla="*/ 11 w 384"/>
                    <a:gd name="T91" fmla="*/ 1 h 207"/>
                    <a:gd name="T92" fmla="*/ 11 w 384"/>
                    <a:gd name="T93" fmla="*/ 1 h 207"/>
                    <a:gd name="T94" fmla="*/ 10 w 384"/>
                    <a:gd name="T95" fmla="*/ 1 h 207"/>
                    <a:gd name="T96" fmla="*/ 9 w 384"/>
                    <a:gd name="T97" fmla="*/ 1 h 207"/>
                    <a:gd name="T98" fmla="*/ 7 w 384"/>
                    <a:gd name="T99" fmla="*/ 0 h 207"/>
                    <a:gd name="T100" fmla="*/ 6 w 384"/>
                    <a:gd name="T101" fmla="*/ 0 h 207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w 384"/>
                    <a:gd name="T154" fmla="*/ 0 h 207"/>
                    <a:gd name="T155" fmla="*/ 384 w 384"/>
                    <a:gd name="T156" fmla="*/ 207 h 207"/>
                  </a:gdLst>
                  <a:ahLst/>
                  <a:cxnLst>
                    <a:cxn ang="T102">
                      <a:pos x="T0" y="T1"/>
                    </a:cxn>
                    <a:cxn ang="T103">
                      <a:pos x="T2" y="T3"/>
                    </a:cxn>
                    <a:cxn ang="T104">
                      <a:pos x="T4" y="T5"/>
                    </a:cxn>
                    <a:cxn ang="T105">
                      <a:pos x="T6" y="T7"/>
                    </a:cxn>
                    <a:cxn ang="T106">
                      <a:pos x="T8" y="T9"/>
                    </a:cxn>
                    <a:cxn ang="T107">
                      <a:pos x="T10" y="T11"/>
                    </a:cxn>
                    <a:cxn ang="T108">
                      <a:pos x="T12" y="T13"/>
                    </a:cxn>
                    <a:cxn ang="T109">
                      <a:pos x="T14" y="T15"/>
                    </a:cxn>
                    <a:cxn ang="T110">
                      <a:pos x="T16" y="T17"/>
                    </a:cxn>
                    <a:cxn ang="T111">
                      <a:pos x="T18" y="T19"/>
                    </a:cxn>
                    <a:cxn ang="T112">
                      <a:pos x="T20" y="T21"/>
                    </a:cxn>
                    <a:cxn ang="T113">
                      <a:pos x="T22" y="T23"/>
                    </a:cxn>
                    <a:cxn ang="T114">
                      <a:pos x="T24" y="T25"/>
                    </a:cxn>
                    <a:cxn ang="T115">
                      <a:pos x="T26" y="T27"/>
                    </a:cxn>
                    <a:cxn ang="T116">
                      <a:pos x="T28" y="T29"/>
                    </a:cxn>
                    <a:cxn ang="T117">
                      <a:pos x="T30" y="T31"/>
                    </a:cxn>
                    <a:cxn ang="T118">
                      <a:pos x="T32" y="T33"/>
                    </a:cxn>
                    <a:cxn ang="T119">
                      <a:pos x="T34" y="T35"/>
                    </a:cxn>
                    <a:cxn ang="T120">
                      <a:pos x="T36" y="T37"/>
                    </a:cxn>
                    <a:cxn ang="T121">
                      <a:pos x="T38" y="T39"/>
                    </a:cxn>
                    <a:cxn ang="T122">
                      <a:pos x="T40" y="T41"/>
                    </a:cxn>
                    <a:cxn ang="T123">
                      <a:pos x="T42" y="T43"/>
                    </a:cxn>
                    <a:cxn ang="T124">
                      <a:pos x="T44" y="T45"/>
                    </a:cxn>
                    <a:cxn ang="T125">
                      <a:pos x="T46" y="T47"/>
                    </a:cxn>
                    <a:cxn ang="T126">
                      <a:pos x="T48" y="T49"/>
                    </a:cxn>
                    <a:cxn ang="T127">
                      <a:pos x="T50" y="T51"/>
                    </a:cxn>
                    <a:cxn ang="T128">
                      <a:pos x="T52" y="T53"/>
                    </a:cxn>
                    <a:cxn ang="T129">
                      <a:pos x="T54" y="T55"/>
                    </a:cxn>
                    <a:cxn ang="T130">
                      <a:pos x="T56" y="T57"/>
                    </a:cxn>
                    <a:cxn ang="T131">
                      <a:pos x="T58" y="T59"/>
                    </a:cxn>
                    <a:cxn ang="T132">
                      <a:pos x="T60" y="T61"/>
                    </a:cxn>
                    <a:cxn ang="T133">
                      <a:pos x="T62" y="T63"/>
                    </a:cxn>
                    <a:cxn ang="T134">
                      <a:pos x="T64" y="T65"/>
                    </a:cxn>
                    <a:cxn ang="T135">
                      <a:pos x="T66" y="T67"/>
                    </a:cxn>
                    <a:cxn ang="T136">
                      <a:pos x="T68" y="T69"/>
                    </a:cxn>
                    <a:cxn ang="T137">
                      <a:pos x="T70" y="T71"/>
                    </a:cxn>
                    <a:cxn ang="T138">
                      <a:pos x="T72" y="T73"/>
                    </a:cxn>
                    <a:cxn ang="T139">
                      <a:pos x="T74" y="T75"/>
                    </a:cxn>
                    <a:cxn ang="T140">
                      <a:pos x="T76" y="T77"/>
                    </a:cxn>
                    <a:cxn ang="T141">
                      <a:pos x="T78" y="T79"/>
                    </a:cxn>
                    <a:cxn ang="T142">
                      <a:pos x="T80" y="T81"/>
                    </a:cxn>
                    <a:cxn ang="T143">
                      <a:pos x="T82" y="T83"/>
                    </a:cxn>
                    <a:cxn ang="T144">
                      <a:pos x="T84" y="T85"/>
                    </a:cxn>
                    <a:cxn ang="T145">
                      <a:pos x="T86" y="T87"/>
                    </a:cxn>
                    <a:cxn ang="T146">
                      <a:pos x="T88" y="T89"/>
                    </a:cxn>
                    <a:cxn ang="T147">
                      <a:pos x="T90" y="T91"/>
                    </a:cxn>
                    <a:cxn ang="T148">
                      <a:pos x="T92" y="T93"/>
                    </a:cxn>
                    <a:cxn ang="T149">
                      <a:pos x="T94" y="T95"/>
                    </a:cxn>
                    <a:cxn ang="T150">
                      <a:pos x="T96" y="T97"/>
                    </a:cxn>
                    <a:cxn ang="T151">
                      <a:pos x="T98" y="T99"/>
                    </a:cxn>
                    <a:cxn ang="T152">
                      <a:pos x="T100" y="T101"/>
                    </a:cxn>
                  </a:cxnLst>
                  <a:rect l="T153" t="T154" r="T155" b="T156"/>
                  <a:pathLst>
                    <a:path w="384" h="207">
                      <a:moveTo>
                        <a:pt x="192" y="0"/>
                      </a:moveTo>
                      <a:lnTo>
                        <a:pt x="154" y="0"/>
                      </a:lnTo>
                      <a:lnTo>
                        <a:pt x="117" y="2"/>
                      </a:lnTo>
                      <a:lnTo>
                        <a:pt x="85" y="3"/>
                      </a:lnTo>
                      <a:lnTo>
                        <a:pt x="56" y="7"/>
                      </a:lnTo>
                      <a:lnTo>
                        <a:pt x="44" y="9"/>
                      </a:lnTo>
                      <a:lnTo>
                        <a:pt x="33" y="11"/>
                      </a:lnTo>
                      <a:lnTo>
                        <a:pt x="22" y="14"/>
                      </a:lnTo>
                      <a:lnTo>
                        <a:pt x="15" y="15"/>
                      </a:lnTo>
                      <a:lnTo>
                        <a:pt x="8" y="17"/>
                      </a:lnTo>
                      <a:lnTo>
                        <a:pt x="3" y="20"/>
                      </a:lnTo>
                      <a:lnTo>
                        <a:pt x="1" y="23"/>
                      </a:lnTo>
                      <a:lnTo>
                        <a:pt x="0" y="25"/>
                      </a:lnTo>
                      <a:lnTo>
                        <a:pt x="0" y="182"/>
                      </a:lnTo>
                      <a:lnTo>
                        <a:pt x="1" y="184"/>
                      </a:lnTo>
                      <a:lnTo>
                        <a:pt x="3" y="187"/>
                      </a:lnTo>
                      <a:lnTo>
                        <a:pt x="8" y="190"/>
                      </a:lnTo>
                      <a:lnTo>
                        <a:pt x="15" y="192"/>
                      </a:lnTo>
                      <a:lnTo>
                        <a:pt x="22" y="195"/>
                      </a:lnTo>
                      <a:lnTo>
                        <a:pt x="33" y="196"/>
                      </a:lnTo>
                      <a:lnTo>
                        <a:pt x="44" y="199"/>
                      </a:lnTo>
                      <a:lnTo>
                        <a:pt x="56" y="200"/>
                      </a:lnTo>
                      <a:lnTo>
                        <a:pt x="85" y="204"/>
                      </a:lnTo>
                      <a:lnTo>
                        <a:pt x="117" y="205"/>
                      </a:lnTo>
                      <a:lnTo>
                        <a:pt x="154" y="207"/>
                      </a:lnTo>
                      <a:lnTo>
                        <a:pt x="192" y="207"/>
                      </a:lnTo>
                      <a:lnTo>
                        <a:pt x="230" y="207"/>
                      </a:lnTo>
                      <a:lnTo>
                        <a:pt x="267" y="205"/>
                      </a:lnTo>
                      <a:lnTo>
                        <a:pt x="299" y="204"/>
                      </a:lnTo>
                      <a:lnTo>
                        <a:pt x="328" y="200"/>
                      </a:lnTo>
                      <a:lnTo>
                        <a:pt x="339" y="199"/>
                      </a:lnTo>
                      <a:lnTo>
                        <a:pt x="351" y="196"/>
                      </a:lnTo>
                      <a:lnTo>
                        <a:pt x="361" y="195"/>
                      </a:lnTo>
                      <a:lnTo>
                        <a:pt x="369" y="192"/>
                      </a:lnTo>
                      <a:lnTo>
                        <a:pt x="375" y="190"/>
                      </a:lnTo>
                      <a:lnTo>
                        <a:pt x="380" y="187"/>
                      </a:lnTo>
                      <a:lnTo>
                        <a:pt x="383" y="184"/>
                      </a:lnTo>
                      <a:lnTo>
                        <a:pt x="384" y="182"/>
                      </a:lnTo>
                      <a:lnTo>
                        <a:pt x="384" y="25"/>
                      </a:lnTo>
                      <a:lnTo>
                        <a:pt x="383" y="23"/>
                      </a:lnTo>
                      <a:lnTo>
                        <a:pt x="380" y="20"/>
                      </a:lnTo>
                      <a:lnTo>
                        <a:pt x="375" y="17"/>
                      </a:lnTo>
                      <a:lnTo>
                        <a:pt x="369" y="15"/>
                      </a:lnTo>
                      <a:lnTo>
                        <a:pt x="361" y="14"/>
                      </a:lnTo>
                      <a:lnTo>
                        <a:pt x="351" y="11"/>
                      </a:lnTo>
                      <a:lnTo>
                        <a:pt x="339" y="9"/>
                      </a:lnTo>
                      <a:lnTo>
                        <a:pt x="328" y="7"/>
                      </a:lnTo>
                      <a:lnTo>
                        <a:pt x="299" y="3"/>
                      </a:lnTo>
                      <a:lnTo>
                        <a:pt x="267" y="2"/>
                      </a:lnTo>
                      <a:lnTo>
                        <a:pt x="230" y="0"/>
                      </a:lnTo>
                      <a:lnTo>
                        <a:pt x="192" y="0"/>
                      </a:lnTo>
                      <a:close/>
                    </a:path>
                  </a:pathLst>
                </a:custGeom>
                <a:solidFill>
                  <a:srgbClr val="EAEAEA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de-CH"/>
                </a:p>
              </p:txBody>
            </p:sp>
            <p:sp>
              <p:nvSpPr>
                <p:cNvPr id="21736" name="Freeform 31"/>
                <p:cNvSpPr>
                  <a:spLocks/>
                </p:cNvSpPr>
                <p:nvPr/>
              </p:nvSpPr>
              <p:spPr bwMode="auto">
                <a:xfrm>
                  <a:off x="531" y="2609"/>
                  <a:ext cx="192" cy="26"/>
                </a:xfrm>
                <a:custGeom>
                  <a:avLst/>
                  <a:gdLst>
                    <a:gd name="T0" fmla="*/ 0 w 384"/>
                    <a:gd name="T1" fmla="*/ 1 h 52"/>
                    <a:gd name="T2" fmla="*/ 1 w 384"/>
                    <a:gd name="T3" fmla="*/ 1 h 52"/>
                    <a:gd name="T4" fmla="*/ 1 w 384"/>
                    <a:gd name="T5" fmla="*/ 1 h 52"/>
                    <a:gd name="T6" fmla="*/ 1 w 384"/>
                    <a:gd name="T7" fmla="*/ 2 h 52"/>
                    <a:gd name="T8" fmla="*/ 1 w 384"/>
                    <a:gd name="T9" fmla="*/ 2 h 52"/>
                    <a:gd name="T10" fmla="*/ 1 w 384"/>
                    <a:gd name="T11" fmla="*/ 2 h 52"/>
                    <a:gd name="T12" fmla="*/ 2 w 384"/>
                    <a:gd name="T13" fmla="*/ 2 h 52"/>
                    <a:gd name="T14" fmla="*/ 2 w 384"/>
                    <a:gd name="T15" fmla="*/ 2 h 52"/>
                    <a:gd name="T16" fmla="*/ 2 w 384"/>
                    <a:gd name="T17" fmla="*/ 2 h 52"/>
                    <a:gd name="T18" fmla="*/ 3 w 384"/>
                    <a:gd name="T19" fmla="*/ 2 h 52"/>
                    <a:gd name="T20" fmla="*/ 3 w 384"/>
                    <a:gd name="T21" fmla="*/ 2 h 52"/>
                    <a:gd name="T22" fmla="*/ 5 w 384"/>
                    <a:gd name="T23" fmla="*/ 2 h 52"/>
                    <a:gd name="T24" fmla="*/ 6 w 384"/>
                    <a:gd name="T25" fmla="*/ 2 h 52"/>
                    <a:gd name="T26" fmla="*/ 7 w 384"/>
                    <a:gd name="T27" fmla="*/ 2 h 52"/>
                    <a:gd name="T28" fmla="*/ 9 w 384"/>
                    <a:gd name="T29" fmla="*/ 2 h 52"/>
                    <a:gd name="T30" fmla="*/ 10 w 384"/>
                    <a:gd name="T31" fmla="*/ 2 h 52"/>
                    <a:gd name="T32" fmla="*/ 11 w 384"/>
                    <a:gd name="T33" fmla="*/ 2 h 52"/>
                    <a:gd name="T34" fmla="*/ 11 w 384"/>
                    <a:gd name="T35" fmla="*/ 2 h 52"/>
                    <a:gd name="T36" fmla="*/ 11 w 384"/>
                    <a:gd name="T37" fmla="*/ 2 h 52"/>
                    <a:gd name="T38" fmla="*/ 12 w 384"/>
                    <a:gd name="T39" fmla="*/ 2 h 52"/>
                    <a:gd name="T40" fmla="*/ 12 w 384"/>
                    <a:gd name="T41" fmla="*/ 2 h 52"/>
                    <a:gd name="T42" fmla="*/ 12 w 384"/>
                    <a:gd name="T43" fmla="*/ 2 h 52"/>
                    <a:gd name="T44" fmla="*/ 12 w 384"/>
                    <a:gd name="T45" fmla="*/ 1 h 52"/>
                    <a:gd name="T46" fmla="*/ 12 w 384"/>
                    <a:gd name="T47" fmla="*/ 1 h 52"/>
                    <a:gd name="T48" fmla="*/ 12 w 384"/>
                    <a:gd name="T49" fmla="*/ 1 h 52"/>
                    <a:gd name="T50" fmla="*/ 12 w 384"/>
                    <a:gd name="T51" fmla="*/ 1 h 52"/>
                    <a:gd name="T52" fmla="*/ 12 w 384"/>
                    <a:gd name="T53" fmla="*/ 1 h 52"/>
                    <a:gd name="T54" fmla="*/ 12 w 384"/>
                    <a:gd name="T55" fmla="*/ 1 h 52"/>
                    <a:gd name="T56" fmla="*/ 12 w 384"/>
                    <a:gd name="T57" fmla="*/ 1 h 52"/>
                    <a:gd name="T58" fmla="*/ 12 w 384"/>
                    <a:gd name="T59" fmla="*/ 1 h 52"/>
                    <a:gd name="T60" fmla="*/ 11 w 384"/>
                    <a:gd name="T61" fmla="*/ 1 h 52"/>
                    <a:gd name="T62" fmla="*/ 11 w 384"/>
                    <a:gd name="T63" fmla="*/ 1 h 52"/>
                    <a:gd name="T64" fmla="*/ 11 w 384"/>
                    <a:gd name="T65" fmla="*/ 1 h 52"/>
                    <a:gd name="T66" fmla="*/ 10 w 384"/>
                    <a:gd name="T67" fmla="*/ 1 h 52"/>
                    <a:gd name="T68" fmla="*/ 9 w 384"/>
                    <a:gd name="T69" fmla="*/ 1 h 52"/>
                    <a:gd name="T70" fmla="*/ 7 w 384"/>
                    <a:gd name="T71" fmla="*/ 0 h 52"/>
                    <a:gd name="T72" fmla="*/ 6 w 384"/>
                    <a:gd name="T73" fmla="*/ 0 h 52"/>
                    <a:gd name="T74" fmla="*/ 5 w 384"/>
                    <a:gd name="T75" fmla="*/ 0 h 52"/>
                    <a:gd name="T76" fmla="*/ 3 w 384"/>
                    <a:gd name="T77" fmla="*/ 1 h 52"/>
                    <a:gd name="T78" fmla="*/ 3 w 384"/>
                    <a:gd name="T79" fmla="*/ 1 h 52"/>
                    <a:gd name="T80" fmla="*/ 2 w 384"/>
                    <a:gd name="T81" fmla="*/ 1 h 52"/>
                    <a:gd name="T82" fmla="*/ 2 w 384"/>
                    <a:gd name="T83" fmla="*/ 1 h 52"/>
                    <a:gd name="T84" fmla="*/ 2 w 384"/>
                    <a:gd name="T85" fmla="*/ 1 h 52"/>
                    <a:gd name="T86" fmla="*/ 1 w 384"/>
                    <a:gd name="T87" fmla="*/ 1 h 52"/>
                    <a:gd name="T88" fmla="*/ 1 w 384"/>
                    <a:gd name="T89" fmla="*/ 1 h 52"/>
                    <a:gd name="T90" fmla="*/ 1 w 384"/>
                    <a:gd name="T91" fmla="*/ 1 h 52"/>
                    <a:gd name="T92" fmla="*/ 1 w 384"/>
                    <a:gd name="T93" fmla="*/ 1 h 52"/>
                    <a:gd name="T94" fmla="*/ 1 w 384"/>
                    <a:gd name="T95" fmla="*/ 1 h 52"/>
                    <a:gd name="T96" fmla="*/ 0 w 384"/>
                    <a:gd name="T97" fmla="*/ 1 h 52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w 384"/>
                    <a:gd name="T148" fmla="*/ 0 h 52"/>
                    <a:gd name="T149" fmla="*/ 384 w 384"/>
                    <a:gd name="T150" fmla="*/ 52 h 52"/>
                  </a:gdLst>
                  <a:ahLst/>
                  <a:cxnLst>
                    <a:cxn ang="T98">
                      <a:pos x="T0" y="T1"/>
                    </a:cxn>
                    <a:cxn ang="T99">
                      <a:pos x="T2" y="T3"/>
                    </a:cxn>
                    <a:cxn ang="T100">
                      <a:pos x="T4" y="T5"/>
                    </a:cxn>
                    <a:cxn ang="T101">
                      <a:pos x="T6" y="T7"/>
                    </a:cxn>
                    <a:cxn ang="T102">
                      <a:pos x="T8" y="T9"/>
                    </a:cxn>
                    <a:cxn ang="T103">
                      <a:pos x="T10" y="T11"/>
                    </a:cxn>
                    <a:cxn ang="T104">
                      <a:pos x="T12" y="T13"/>
                    </a:cxn>
                    <a:cxn ang="T105">
                      <a:pos x="T14" y="T15"/>
                    </a:cxn>
                    <a:cxn ang="T106">
                      <a:pos x="T16" y="T17"/>
                    </a:cxn>
                    <a:cxn ang="T107">
                      <a:pos x="T18" y="T19"/>
                    </a:cxn>
                    <a:cxn ang="T108">
                      <a:pos x="T20" y="T21"/>
                    </a:cxn>
                    <a:cxn ang="T109">
                      <a:pos x="T22" y="T23"/>
                    </a:cxn>
                    <a:cxn ang="T110">
                      <a:pos x="T24" y="T25"/>
                    </a:cxn>
                    <a:cxn ang="T111">
                      <a:pos x="T26" y="T27"/>
                    </a:cxn>
                    <a:cxn ang="T112">
                      <a:pos x="T28" y="T29"/>
                    </a:cxn>
                    <a:cxn ang="T113">
                      <a:pos x="T30" y="T31"/>
                    </a:cxn>
                    <a:cxn ang="T114">
                      <a:pos x="T32" y="T33"/>
                    </a:cxn>
                    <a:cxn ang="T115">
                      <a:pos x="T34" y="T35"/>
                    </a:cxn>
                    <a:cxn ang="T116">
                      <a:pos x="T36" y="T37"/>
                    </a:cxn>
                    <a:cxn ang="T117">
                      <a:pos x="T38" y="T39"/>
                    </a:cxn>
                    <a:cxn ang="T118">
                      <a:pos x="T40" y="T41"/>
                    </a:cxn>
                    <a:cxn ang="T119">
                      <a:pos x="T42" y="T43"/>
                    </a:cxn>
                    <a:cxn ang="T120">
                      <a:pos x="T44" y="T45"/>
                    </a:cxn>
                    <a:cxn ang="T121">
                      <a:pos x="T46" y="T47"/>
                    </a:cxn>
                    <a:cxn ang="T122">
                      <a:pos x="T48" y="T49"/>
                    </a:cxn>
                    <a:cxn ang="T123">
                      <a:pos x="T50" y="T51"/>
                    </a:cxn>
                    <a:cxn ang="T124">
                      <a:pos x="T52" y="T53"/>
                    </a:cxn>
                    <a:cxn ang="T125">
                      <a:pos x="T54" y="T55"/>
                    </a:cxn>
                    <a:cxn ang="T126">
                      <a:pos x="T56" y="T57"/>
                    </a:cxn>
                    <a:cxn ang="T127">
                      <a:pos x="T58" y="T59"/>
                    </a:cxn>
                    <a:cxn ang="T128">
                      <a:pos x="T60" y="T61"/>
                    </a:cxn>
                    <a:cxn ang="T129">
                      <a:pos x="T62" y="T63"/>
                    </a:cxn>
                    <a:cxn ang="T130">
                      <a:pos x="T64" y="T65"/>
                    </a:cxn>
                    <a:cxn ang="T131">
                      <a:pos x="T66" y="T67"/>
                    </a:cxn>
                    <a:cxn ang="T132">
                      <a:pos x="T68" y="T69"/>
                    </a:cxn>
                    <a:cxn ang="T133">
                      <a:pos x="T70" y="T71"/>
                    </a:cxn>
                    <a:cxn ang="T134">
                      <a:pos x="T72" y="T73"/>
                    </a:cxn>
                    <a:cxn ang="T135">
                      <a:pos x="T74" y="T75"/>
                    </a:cxn>
                    <a:cxn ang="T136">
                      <a:pos x="T76" y="T77"/>
                    </a:cxn>
                    <a:cxn ang="T137">
                      <a:pos x="T78" y="T79"/>
                    </a:cxn>
                    <a:cxn ang="T138">
                      <a:pos x="T80" y="T81"/>
                    </a:cxn>
                    <a:cxn ang="T139">
                      <a:pos x="T82" y="T83"/>
                    </a:cxn>
                    <a:cxn ang="T140">
                      <a:pos x="T84" y="T85"/>
                    </a:cxn>
                    <a:cxn ang="T141">
                      <a:pos x="T86" y="T87"/>
                    </a:cxn>
                    <a:cxn ang="T142">
                      <a:pos x="T88" y="T89"/>
                    </a:cxn>
                    <a:cxn ang="T143">
                      <a:pos x="T90" y="T91"/>
                    </a:cxn>
                    <a:cxn ang="T144">
                      <a:pos x="T92" y="T93"/>
                    </a:cxn>
                    <a:cxn ang="T145">
                      <a:pos x="T94" y="T95"/>
                    </a:cxn>
                    <a:cxn ang="T146">
                      <a:pos x="T96" y="T97"/>
                    </a:cxn>
                  </a:cxnLst>
                  <a:rect l="T147" t="T148" r="T149" b="T150"/>
                  <a:pathLst>
                    <a:path w="384" h="52">
                      <a:moveTo>
                        <a:pt x="0" y="25"/>
                      </a:moveTo>
                      <a:lnTo>
                        <a:pt x="1" y="28"/>
                      </a:lnTo>
                      <a:lnTo>
                        <a:pt x="3" y="30"/>
                      </a:lnTo>
                      <a:lnTo>
                        <a:pt x="8" y="33"/>
                      </a:lnTo>
                      <a:lnTo>
                        <a:pt x="15" y="35"/>
                      </a:lnTo>
                      <a:lnTo>
                        <a:pt x="22" y="38"/>
                      </a:lnTo>
                      <a:lnTo>
                        <a:pt x="33" y="40"/>
                      </a:lnTo>
                      <a:lnTo>
                        <a:pt x="44" y="43"/>
                      </a:lnTo>
                      <a:lnTo>
                        <a:pt x="56" y="44"/>
                      </a:lnTo>
                      <a:lnTo>
                        <a:pt x="85" y="48"/>
                      </a:lnTo>
                      <a:lnTo>
                        <a:pt x="117" y="49"/>
                      </a:lnTo>
                      <a:lnTo>
                        <a:pt x="154" y="52"/>
                      </a:lnTo>
                      <a:lnTo>
                        <a:pt x="192" y="52"/>
                      </a:lnTo>
                      <a:lnTo>
                        <a:pt x="230" y="52"/>
                      </a:lnTo>
                      <a:lnTo>
                        <a:pt x="267" y="49"/>
                      </a:lnTo>
                      <a:lnTo>
                        <a:pt x="299" y="48"/>
                      </a:lnTo>
                      <a:lnTo>
                        <a:pt x="328" y="44"/>
                      </a:lnTo>
                      <a:lnTo>
                        <a:pt x="339" y="43"/>
                      </a:lnTo>
                      <a:lnTo>
                        <a:pt x="351" y="40"/>
                      </a:lnTo>
                      <a:lnTo>
                        <a:pt x="361" y="38"/>
                      </a:lnTo>
                      <a:lnTo>
                        <a:pt x="369" y="35"/>
                      </a:lnTo>
                      <a:lnTo>
                        <a:pt x="375" y="33"/>
                      </a:lnTo>
                      <a:lnTo>
                        <a:pt x="380" y="30"/>
                      </a:lnTo>
                      <a:lnTo>
                        <a:pt x="383" y="28"/>
                      </a:lnTo>
                      <a:lnTo>
                        <a:pt x="384" y="25"/>
                      </a:lnTo>
                      <a:lnTo>
                        <a:pt x="383" y="23"/>
                      </a:lnTo>
                      <a:lnTo>
                        <a:pt x="380" y="20"/>
                      </a:lnTo>
                      <a:lnTo>
                        <a:pt x="375" y="17"/>
                      </a:lnTo>
                      <a:lnTo>
                        <a:pt x="369" y="15"/>
                      </a:lnTo>
                      <a:lnTo>
                        <a:pt x="361" y="14"/>
                      </a:lnTo>
                      <a:lnTo>
                        <a:pt x="351" y="11"/>
                      </a:lnTo>
                      <a:lnTo>
                        <a:pt x="339" y="9"/>
                      </a:lnTo>
                      <a:lnTo>
                        <a:pt x="328" y="7"/>
                      </a:lnTo>
                      <a:lnTo>
                        <a:pt x="299" y="3"/>
                      </a:lnTo>
                      <a:lnTo>
                        <a:pt x="267" y="2"/>
                      </a:lnTo>
                      <a:lnTo>
                        <a:pt x="230" y="0"/>
                      </a:lnTo>
                      <a:lnTo>
                        <a:pt x="192" y="0"/>
                      </a:lnTo>
                      <a:lnTo>
                        <a:pt x="154" y="0"/>
                      </a:lnTo>
                      <a:lnTo>
                        <a:pt x="117" y="2"/>
                      </a:lnTo>
                      <a:lnTo>
                        <a:pt x="85" y="3"/>
                      </a:lnTo>
                      <a:lnTo>
                        <a:pt x="56" y="7"/>
                      </a:lnTo>
                      <a:lnTo>
                        <a:pt x="44" y="9"/>
                      </a:lnTo>
                      <a:lnTo>
                        <a:pt x="33" y="11"/>
                      </a:lnTo>
                      <a:lnTo>
                        <a:pt x="22" y="14"/>
                      </a:lnTo>
                      <a:lnTo>
                        <a:pt x="15" y="15"/>
                      </a:lnTo>
                      <a:lnTo>
                        <a:pt x="8" y="17"/>
                      </a:lnTo>
                      <a:lnTo>
                        <a:pt x="3" y="20"/>
                      </a:lnTo>
                      <a:lnTo>
                        <a:pt x="1" y="23"/>
                      </a:lnTo>
                      <a:lnTo>
                        <a:pt x="0" y="25"/>
                      </a:lnTo>
                      <a:close/>
                    </a:path>
                  </a:pathLst>
                </a:custGeom>
                <a:solidFill>
                  <a:srgbClr val="EFEFE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de-CH"/>
                </a:p>
              </p:txBody>
            </p:sp>
            <p:sp>
              <p:nvSpPr>
                <p:cNvPr id="21737" name="Freeform 32"/>
                <p:cNvSpPr>
                  <a:spLocks/>
                </p:cNvSpPr>
                <p:nvPr/>
              </p:nvSpPr>
              <p:spPr bwMode="auto">
                <a:xfrm>
                  <a:off x="531" y="2609"/>
                  <a:ext cx="192" cy="104"/>
                </a:xfrm>
                <a:custGeom>
                  <a:avLst/>
                  <a:gdLst>
                    <a:gd name="T0" fmla="*/ 6 w 384"/>
                    <a:gd name="T1" fmla="*/ 0 h 207"/>
                    <a:gd name="T2" fmla="*/ 5 w 384"/>
                    <a:gd name="T3" fmla="*/ 0 h 207"/>
                    <a:gd name="T4" fmla="*/ 3 w 384"/>
                    <a:gd name="T5" fmla="*/ 1 h 207"/>
                    <a:gd name="T6" fmla="*/ 3 w 384"/>
                    <a:gd name="T7" fmla="*/ 1 h 207"/>
                    <a:gd name="T8" fmla="*/ 2 w 384"/>
                    <a:gd name="T9" fmla="*/ 1 h 207"/>
                    <a:gd name="T10" fmla="*/ 2 w 384"/>
                    <a:gd name="T11" fmla="*/ 1 h 207"/>
                    <a:gd name="T12" fmla="*/ 2 w 384"/>
                    <a:gd name="T13" fmla="*/ 1 h 207"/>
                    <a:gd name="T14" fmla="*/ 1 w 384"/>
                    <a:gd name="T15" fmla="*/ 1 h 207"/>
                    <a:gd name="T16" fmla="*/ 1 w 384"/>
                    <a:gd name="T17" fmla="*/ 1 h 207"/>
                    <a:gd name="T18" fmla="*/ 1 w 384"/>
                    <a:gd name="T19" fmla="*/ 1 h 207"/>
                    <a:gd name="T20" fmla="*/ 1 w 384"/>
                    <a:gd name="T21" fmla="*/ 1 h 207"/>
                    <a:gd name="T22" fmla="*/ 1 w 384"/>
                    <a:gd name="T23" fmla="*/ 1 h 207"/>
                    <a:gd name="T24" fmla="*/ 0 w 384"/>
                    <a:gd name="T25" fmla="*/ 1 h 207"/>
                    <a:gd name="T26" fmla="*/ 0 w 384"/>
                    <a:gd name="T27" fmla="*/ 6 h 207"/>
                    <a:gd name="T28" fmla="*/ 1 w 384"/>
                    <a:gd name="T29" fmla="*/ 6 h 207"/>
                    <a:gd name="T30" fmla="*/ 1 w 384"/>
                    <a:gd name="T31" fmla="*/ 6 h 207"/>
                    <a:gd name="T32" fmla="*/ 1 w 384"/>
                    <a:gd name="T33" fmla="*/ 6 h 207"/>
                    <a:gd name="T34" fmla="*/ 1 w 384"/>
                    <a:gd name="T35" fmla="*/ 6 h 207"/>
                    <a:gd name="T36" fmla="*/ 1 w 384"/>
                    <a:gd name="T37" fmla="*/ 7 h 207"/>
                    <a:gd name="T38" fmla="*/ 2 w 384"/>
                    <a:gd name="T39" fmla="*/ 7 h 207"/>
                    <a:gd name="T40" fmla="*/ 2 w 384"/>
                    <a:gd name="T41" fmla="*/ 7 h 207"/>
                    <a:gd name="T42" fmla="*/ 2 w 384"/>
                    <a:gd name="T43" fmla="*/ 7 h 207"/>
                    <a:gd name="T44" fmla="*/ 3 w 384"/>
                    <a:gd name="T45" fmla="*/ 7 h 207"/>
                    <a:gd name="T46" fmla="*/ 3 w 384"/>
                    <a:gd name="T47" fmla="*/ 7 h 207"/>
                    <a:gd name="T48" fmla="*/ 5 w 384"/>
                    <a:gd name="T49" fmla="*/ 7 h 207"/>
                    <a:gd name="T50" fmla="*/ 6 w 384"/>
                    <a:gd name="T51" fmla="*/ 7 h 207"/>
                    <a:gd name="T52" fmla="*/ 7 w 384"/>
                    <a:gd name="T53" fmla="*/ 7 h 207"/>
                    <a:gd name="T54" fmla="*/ 9 w 384"/>
                    <a:gd name="T55" fmla="*/ 7 h 207"/>
                    <a:gd name="T56" fmla="*/ 10 w 384"/>
                    <a:gd name="T57" fmla="*/ 7 h 207"/>
                    <a:gd name="T58" fmla="*/ 11 w 384"/>
                    <a:gd name="T59" fmla="*/ 7 h 207"/>
                    <a:gd name="T60" fmla="*/ 11 w 384"/>
                    <a:gd name="T61" fmla="*/ 7 h 207"/>
                    <a:gd name="T62" fmla="*/ 11 w 384"/>
                    <a:gd name="T63" fmla="*/ 7 h 207"/>
                    <a:gd name="T64" fmla="*/ 12 w 384"/>
                    <a:gd name="T65" fmla="*/ 7 h 207"/>
                    <a:gd name="T66" fmla="*/ 12 w 384"/>
                    <a:gd name="T67" fmla="*/ 6 h 207"/>
                    <a:gd name="T68" fmla="*/ 12 w 384"/>
                    <a:gd name="T69" fmla="*/ 6 h 207"/>
                    <a:gd name="T70" fmla="*/ 12 w 384"/>
                    <a:gd name="T71" fmla="*/ 6 h 207"/>
                    <a:gd name="T72" fmla="*/ 12 w 384"/>
                    <a:gd name="T73" fmla="*/ 6 h 207"/>
                    <a:gd name="T74" fmla="*/ 12 w 384"/>
                    <a:gd name="T75" fmla="*/ 6 h 207"/>
                    <a:gd name="T76" fmla="*/ 12 w 384"/>
                    <a:gd name="T77" fmla="*/ 1 h 207"/>
                    <a:gd name="T78" fmla="*/ 12 w 384"/>
                    <a:gd name="T79" fmla="*/ 1 h 207"/>
                    <a:gd name="T80" fmla="*/ 12 w 384"/>
                    <a:gd name="T81" fmla="*/ 1 h 207"/>
                    <a:gd name="T82" fmla="*/ 12 w 384"/>
                    <a:gd name="T83" fmla="*/ 1 h 207"/>
                    <a:gd name="T84" fmla="*/ 12 w 384"/>
                    <a:gd name="T85" fmla="*/ 1 h 207"/>
                    <a:gd name="T86" fmla="*/ 12 w 384"/>
                    <a:gd name="T87" fmla="*/ 1 h 207"/>
                    <a:gd name="T88" fmla="*/ 11 w 384"/>
                    <a:gd name="T89" fmla="*/ 1 h 207"/>
                    <a:gd name="T90" fmla="*/ 11 w 384"/>
                    <a:gd name="T91" fmla="*/ 1 h 207"/>
                    <a:gd name="T92" fmla="*/ 11 w 384"/>
                    <a:gd name="T93" fmla="*/ 1 h 207"/>
                    <a:gd name="T94" fmla="*/ 10 w 384"/>
                    <a:gd name="T95" fmla="*/ 1 h 207"/>
                    <a:gd name="T96" fmla="*/ 9 w 384"/>
                    <a:gd name="T97" fmla="*/ 1 h 207"/>
                    <a:gd name="T98" fmla="*/ 7 w 384"/>
                    <a:gd name="T99" fmla="*/ 0 h 207"/>
                    <a:gd name="T100" fmla="*/ 6 w 384"/>
                    <a:gd name="T101" fmla="*/ 0 h 207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w 384"/>
                    <a:gd name="T154" fmla="*/ 0 h 207"/>
                    <a:gd name="T155" fmla="*/ 384 w 384"/>
                    <a:gd name="T156" fmla="*/ 207 h 207"/>
                  </a:gdLst>
                  <a:ahLst/>
                  <a:cxnLst>
                    <a:cxn ang="T102">
                      <a:pos x="T0" y="T1"/>
                    </a:cxn>
                    <a:cxn ang="T103">
                      <a:pos x="T2" y="T3"/>
                    </a:cxn>
                    <a:cxn ang="T104">
                      <a:pos x="T4" y="T5"/>
                    </a:cxn>
                    <a:cxn ang="T105">
                      <a:pos x="T6" y="T7"/>
                    </a:cxn>
                    <a:cxn ang="T106">
                      <a:pos x="T8" y="T9"/>
                    </a:cxn>
                    <a:cxn ang="T107">
                      <a:pos x="T10" y="T11"/>
                    </a:cxn>
                    <a:cxn ang="T108">
                      <a:pos x="T12" y="T13"/>
                    </a:cxn>
                    <a:cxn ang="T109">
                      <a:pos x="T14" y="T15"/>
                    </a:cxn>
                    <a:cxn ang="T110">
                      <a:pos x="T16" y="T17"/>
                    </a:cxn>
                    <a:cxn ang="T111">
                      <a:pos x="T18" y="T19"/>
                    </a:cxn>
                    <a:cxn ang="T112">
                      <a:pos x="T20" y="T21"/>
                    </a:cxn>
                    <a:cxn ang="T113">
                      <a:pos x="T22" y="T23"/>
                    </a:cxn>
                    <a:cxn ang="T114">
                      <a:pos x="T24" y="T25"/>
                    </a:cxn>
                    <a:cxn ang="T115">
                      <a:pos x="T26" y="T27"/>
                    </a:cxn>
                    <a:cxn ang="T116">
                      <a:pos x="T28" y="T29"/>
                    </a:cxn>
                    <a:cxn ang="T117">
                      <a:pos x="T30" y="T31"/>
                    </a:cxn>
                    <a:cxn ang="T118">
                      <a:pos x="T32" y="T33"/>
                    </a:cxn>
                    <a:cxn ang="T119">
                      <a:pos x="T34" y="T35"/>
                    </a:cxn>
                    <a:cxn ang="T120">
                      <a:pos x="T36" y="T37"/>
                    </a:cxn>
                    <a:cxn ang="T121">
                      <a:pos x="T38" y="T39"/>
                    </a:cxn>
                    <a:cxn ang="T122">
                      <a:pos x="T40" y="T41"/>
                    </a:cxn>
                    <a:cxn ang="T123">
                      <a:pos x="T42" y="T43"/>
                    </a:cxn>
                    <a:cxn ang="T124">
                      <a:pos x="T44" y="T45"/>
                    </a:cxn>
                    <a:cxn ang="T125">
                      <a:pos x="T46" y="T47"/>
                    </a:cxn>
                    <a:cxn ang="T126">
                      <a:pos x="T48" y="T49"/>
                    </a:cxn>
                    <a:cxn ang="T127">
                      <a:pos x="T50" y="T51"/>
                    </a:cxn>
                    <a:cxn ang="T128">
                      <a:pos x="T52" y="T53"/>
                    </a:cxn>
                    <a:cxn ang="T129">
                      <a:pos x="T54" y="T55"/>
                    </a:cxn>
                    <a:cxn ang="T130">
                      <a:pos x="T56" y="T57"/>
                    </a:cxn>
                    <a:cxn ang="T131">
                      <a:pos x="T58" y="T59"/>
                    </a:cxn>
                    <a:cxn ang="T132">
                      <a:pos x="T60" y="T61"/>
                    </a:cxn>
                    <a:cxn ang="T133">
                      <a:pos x="T62" y="T63"/>
                    </a:cxn>
                    <a:cxn ang="T134">
                      <a:pos x="T64" y="T65"/>
                    </a:cxn>
                    <a:cxn ang="T135">
                      <a:pos x="T66" y="T67"/>
                    </a:cxn>
                    <a:cxn ang="T136">
                      <a:pos x="T68" y="T69"/>
                    </a:cxn>
                    <a:cxn ang="T137">
                      <a:pos x="T70" y="T71"/>
                    </a:cxn>
                    <a:cxn ang="T138">
                      <a:pos x="T72" y="T73"/>
                    </a:cxn>
                    <a:cxn ang="T139">
                      <a:pos x="T74" y="T75"/>
                    </a:cxn>
                    <a:cxn ang="T140">
                      <a:pos x="T76" y="T77"/>
                    </a:cxn>
                    <a:cxn ang="T141">
                      <a:pos x="T78" y="T79"/>
                    </a:cxn>
                    <a:cxn ang="T142">
                      <a:pos x="T80" y="T81"/>
                    </a:cxn>
                    <a:cxn ang="T143">
                      <a:pos x="T82" y="T83"/>
                    </a:cxn>
                    <a:cxn ang="T144">
                      <a:pos x="T84" y="T85"/>
                    </a:cxn>
                    <a:cxn ang="T145">
                      <a:pos x="T86" y="T87"/>
                    </a:cxn>
                    <a:cxn ang="T146">
                      <a:pos x="T88" y="T89"/>
                    </a:cxn>
                    <a:cxn ang="T147">
                      <a:pos x="T90" y="T91"/>
                    </a:cxn>
                    <a:cxn ang="T148">
                      <a:pos x="T92" y="T93"/>
                    </a:cxn>
                    <a:cxn ang="T149">
                      <a:pos x="T94" y="T95"/>
                    </a:cxn>
                    <a:cxn ang="T150">
                      <a:pos x="T96" y="T97"/>
                    </a:cxn>
                    <a:cxn ang="T151">
                      <a:pos x="T98" y="T99"/>
                    </a:cxn>
                    <a:cxn ang="T152">
                      <a:pos x="T100" y="T101"/>
                    </a:cxn>
                  </a:cxnLst>
                  <a:rect l="T153" t="T154" r="T155" b="T156"/>
                  <a:pathLst>
                    <a:path w="384" h="207">
                      <a:moveTo>
                        <a:pt x="192" y="0"/>
                      </a:moveTo>
                      <a:lnTo>
                        <a:pt x="154" y="0"/>
                      </a:lnTo>
                      <a:lnTo>
                        <a:pt x="117" y="2"/>
                      </a:lnTo>
                      <a:lnTo>
                        <a:pt x="85" y="3"/>
                      </a:lnTo>
                      <a:lnTo>
                        <a:pt x="56" y="7"/>
                      </a:lnTo>
                      <a:lnTo>
                        <a:pt x="44" y="9"/>
                      </a:lnTo>
                      <a:lnTo>
                        <a:pt x="33" y="11"/>
                      </a:lnTo>
                      <a:lnTo>
                        <a:pt x="22" y="14"/>
                      </a:lnTo>
                      <a:lnTo>
                        <a:pt x="15" y="15"/>
                      </a:lnTo>
                      <a:lnTo>
                        <a:pt x="8" y="17"/>
                      </a:lnTo>
                      <a:lnTo>
                        <a:pt x="3" y="20"/>
                      </a:lnTo>
                      <a:lnTo>
                        <a:pt x="1" y="23"/>
                      </a:lnTo>
                      <a:lnTo>
                        <a:pt x="0" y="25"/>
                      </a:lnTo>
                      <a:lnTo>
                        <a:pt x="0" y="182"/>
                      </a:lnTo>
                      <a:lnTo>
                        <a:pt x="1" y="184"/>
                      </a:lnTo>
                      <a:lnTo>
                        <a:pt x="3" y="187"/>
                      </a:lnTo>
                      <a:lnTo>
                        <a:pt x="8" y="190"/>
                      </a:lnTo>
                      <a:lnTo>
                        <a:pt x="15" y="192"/>
                      </a:lnTo>
                      <a:lnTo>
                        <a:pt x="22" y="195"/>
                      </a:lnTo>
                      <a:lnTo>
                        <a:pt x="33" y="196"/>
                      </a:lnTo>
                      <a:lnTo>
                        <a:pt x="44" y="199"/>
                      </a:lnTo>
                      <a:lnTo>
                        <a:pt x="56" y="200"/>
                      </a:lnTo>
                      <a:lnTo>
                        <a:pt x="85" y="204"/>
                      </a:lnTo>
                      <a:lnTo>
                        <a:pt x="117" y="205"/>
                      </a:lnTo>
                      <a:lnTo>
                        <a:pt x="154" y="207"/>
                      </a:lnTo>
                      <a:lnTo>
                        <a:pt x="192" y="207"/>
                      </a:lnTo>
                      <a:lnTo>
                        <a:pt x="230" y="207"/>
                      </a:lnTo>
                      <a:lnTo>
                        <a:pt x="267" y="205"/>
                      </a:lnTo>
                      <a:lnTo>
                        <a:pt x="299" y="204"/>
                      </a:lnTo>
                      <a:lnTo>
                        <a:pt x="328" y="200"/>
                      </a:lnTo>
                      <a:lnTo>
                        <a:pt x="339" y="199"/>
                      </a:lnTo>
                      <a:lnTo>
                        <a:pt x="351" y="196"/>
                      </a:lnTo>
                      <a:lnTo>
                        <a:pt x="361" y="195"/>
                      </a:lnTo>
                      <a:lnTo>
                        <a:pt x="369" y="192"/>
                      </a:lnTo>
                      <a:lnTo>
                        <a:pt x="375" y="190"/>
                      </a:lnTo>
                      <a:lnTo>
                        <a:pt x="380" y="187"/>
                      </a:lnTo>
                      <a:lnTo>
                        <a:pt x="383" y="184"/>
                      </a:lnTo>
                      <a:lnTo>
                        <a:pt x="384" y="182"/>
                      </a:lnTo>
                      <a:lnTo>
                        <a:pt x="384" y="25"/>
                      </a:lnTo>
                      <a:lnTo>
                        <a:pt x="383" y="23"/>
                      </a:lnTo>
                      <a:lnTo>
                        <a:pt x="380" y="20"/>
                      </a:lnTo>
                      <a:lnTo>
                        <a:pt x="375" y="17"/>
                      </a:lnTo>
                      <a:lnTo>
                        <a:pt x="369" y="15"/>
                      </a:lnTo>
                      <a:lnTo>
                        <a:pt x="361" y="14"/>
                      </a:lnTo>
                      <a:lnTo>
                        <a:pt x="351" y="11"/>
                      </a:lnTo>
                      <a:lnTo>
                        <a:pt x="339" y="9"/>
                      </a:lnTo>
                      <a:lnTo>
                        <a:pt x="328" y="7"/>
                      </a:lnTo>
                      <a:lnTo>
                        <a:pt x="299" y="3"/>
                      </a:lnTo>
                      <a:lnTo>
                        <a:pt x="267" y="2"/>
                      </a:lnTo>
                      <a:lnTo>
                        <a:pt x="230" y="0"/>
                      </a:lnTo>
                      <a:lnTo>
                        <a:pt x="192" y="0"/>
                      </a:lnTo>
                      <a:close/>
                    </a:path>
                  </a:pathLst>
                </a:custGeom>
                <a:noFill/>
                <a:ln w="5">
                  <a:solidFill>
                    <a:srgbClr val="DDDDDD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de-CH"/>
                </a:p>
              </p:txBody>
            </p:sp>
            <p:sp>
              <p:nvSpPr>
                <p:cNvPr id="21738" name="Freeform 33"/>
                <p:cNvSpPr>
                  <a:spLocks/>
                </p:cNvSpPr>
                <p:nvPr/>
              </p:nvSpPr>
              <p:spPr bwMode="auto">
                <a:xfrm>
                  <a:off x="531" y="2622"/>
                  <a:ext cx="192" cy="13"/>
                </a:xfrm>
                <a:custGeom>
                  <a:avLst/>
                  <a:gdLst>
                    <a:gd name="T0" fmla="*/ 0 w 384"/>
                    <a:gd name="T1" fmla="*/ 0 h 27"/>
                    <a:gd name="T2" fmla="*/ 1 w 384"/>
                    <a:gd name="T3" fmla="*/ 0 h 27"/>
                    <a:gd name="T4" fmla="*/ 1 w 384"/>
                    <a:gd name="T5" fmla="*/ 0 h 27"/>
                    <a:gd name="T6" fmla="*/ 1 w 384"/>
                    <a:gd name="T7" fmla="*/ 0 h 27"/>
                    <a:gd name="T8" fmla="*/ 1 w 384"/>
                    <a:gd name="T9" fmla="*/ 0 h 27"/>
                    <a:gd name="T10" fmla="*/ 1 w 384"/>
                    <a:gd name="T11" fmla="*/ 0 h 27"/>
                    <a:gd name="T12" fmla="*/ 2 w 384"/>
                    <a:gd name="T13" fmla="*/ 0 h 27"/>
                    <a:gd name="T14" fmla="*/ 2 w 384"/>
                    <a:gd name="T15" fmla="*/ 0 h 27"/>
                    <a:gd name="T16" fmla="*/ 2 w 384"/>
                    <a:gd name="T17" fmla="*/ 0 h 27"/>
                    <a:gd name="T18" fmla="*/ 3 w 384"/>
                    <a:gd name="T19" fmla="*/ 0 h 27"/>
                    <a:gd name="T20" fmla="*/ 3 w 384"/>
                    <a:gd name="T21" fmla="*/ 0 h 27"/>
                    <a:gd name="T22" fmla="*/ 5 w 384"/>
                    <a:gd name="T23" fmla="*/ 0 h 27"/>
                    <a:gd name="T24" fmla="*/ 6 w 384"/>
                    <a:gd name="T25" fmla="*/ 0 h 27"/>
                    <a:gd name="T26" fmla="*/ 7 w 384"/>
                    <a:gd name="T27" fmla="*/ 0 h 27"/>
                    <a:gd name="T28" fmla="*/ 9 w 384"/>
                    <a:gd name="T29" fmla="*/ 0 h 27"/>
                    <a:gd name="T30" fmla="*/ 10 w 384"/>
                    <a:gd name="T31" fmla="*/ 0 h 27"/>
                    <a:gd name="T32" fmla="*/ 11 w 384"/>
                    <a:gd name="T33" fmla="*/ 0 h 27"/>
                    <a:gd name="T34" fmla="*/ 11 w 384"/>
                    <a:gd name="T35" fmla="*/ 0 h 27"/>
                    <a:gd name="T36" fmla="*/ 11 w 384"/>
                    <a:gd name="T37" fmla="*/ 0 h 27"/>
                    <a:gd name="T38" fmla="*/ 12 w 384"/>
                    <a:gd name="T39" fmla="*/ 0 h 27"/>
                    <a:gd name="T40" fmla="*/ 12 w 384"/>
                    <a:gd name="T41" fmla="*/ 0 h 27"/>
                    <a:gd name="T42" fmla="*/ 12 w 384"/>
                    <a:gd name="T43" fmla="*/ 0 h 27"/>
                    <a:gd name="T44" fmla="*/ 12 w 384"/>
                    <a:gd name="T45" fmla="*/ 0 h 27"/>
                    <a:gd name="T46" fmla="*/ 12 w 384"/>
                    <a:gd name="T47" fmla="*/ 0 h 27"/>
                    <a:gd name="T48" fmla="*/ 12 w 384"/>
                    <a:gd name="T49" fmla="*/ 0 h 27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w 384"/>
                    <a:gd name="T76" fmla="*/ 0 h 27"/>
                    <a:gd name="T77" fmla="*/ 384 w 384"/>
                    <a:gd name="T78" fmla="*/ 27 h 27"/>
                  </a:gdLst>
                  <a:ahLst/>
                  <a:cxnLst>
                    <a:cxn ang="T50">
                      <a:pos x="T0" y="T1"/>
                    </a:cxn>
                    <a:cxn ang="T51">
                      <a:pos x="T2" y="T3"/>
                    </a:cxn>
                    <a:cxn ang="T52">
                      <a:pos x="T4" y="T5"/>
                    </a:cxn>
                    <a:cxn ang="T53">
                      <a:pos x="T6" y="T7"/>
                    </a:cxn>
                    <a:cxn ang="T54">
                      <a:pos x="T8" y="T9"/>
                    </a:cxn>
                    <a:cxn ang="T55">
                      <a:pos x="T10" y="T11"/>
                    </a:cxn>
                    <a:cxn ang="T56">
                      <a:pos x="T12" y="T13"/>
                    </a:cxn>
                    <a:cxn ang="T57">
                      <a:pos x="T14" y="T15"/>
                    </a:cxn>
                    <a:cxn ang="T58">
                      <a:pos x="T16" y="T17"/>
                    </a:cxn>
                    <a:cxn ang="T59">
                      <a:pos x="T18" y="T19"/>
                    </a:cxn>
                    <a:cxn ang="T60">
                      <a:pos x="T20" y="T21"/>
                    </a:cxn>
                    <a:cxn ang="T61">
                      <a:pos x="T22" y="T23"/>
                    </a:cxn>
                    <a:cxn ang="T62">
                      <a:pos x="T24" y="T25"/>
                    </a:cxn>
                    <a:cxn ang="T63">
                      <a:pos x="T26" y="T27"/>
                    </a:cxn>
                    <a:cxn ang="T64">
                      <a:pos x="T28" y="T29"/>
                    </a:cxn>
                    <a:cxn ang="T65">
                      <a:pos x="T30" y="T31"/>
                    </a:cxn>
                    <a:cxn ang="T66">
                      <a:pos x="T32" y="T33"/>
                    </a:cxn>
                    <a:cxn ang="T67">
                      <a:pos x="T34" y="T35"/>
                    </a:cxn>
                    <a:cxn ang="T68">
                      <a:pos x="T36" y="T37"/>
                    </a:cxn>
                    <a:cxn ang="T69">
                      <a:pos x="T38" y="T39"/>
                    </a:cxn>
                    <a:cxn ang="T70">
                      <a:pos x="T40" y="T41"/>
                    </a:cxn>
                    <a:cxn ang="T71">
                      <a:pos x="T42" y="T43"/>
                    </a:cxn>
                    <a:cxn ang="T72">
                      <a:pos x="T44" y="T45"/>
                    </a:cxn>
                    <a:cxn ang="T73">
                      <a:pos x="T46" y="T47"/>
                    </a:cxn>
                    <a:cxn ang="T74">
                      <a:pos x="T48" y="T49"/>
                    </a:cxn>
                  </a:cxnLst>
                  <a:rect l="T75" t="T76" r="T77" b="T78"/>
                  <a:pathLst>
                    <a:path w="384" h="27">
                      <a:moveTo>
                        <a:pt x="0" y="0"/>
                      </a:moveTo>
                      <a:lnTo>
                        <a:pt x="1" y="3"/>
                      </a:lnTo>
                      <a:lnTo>
                        <a:pt x="3" y="5"/>
                      </a:lnTo>
                      <a:lnTo>
                        <a:pt x="8" y="8"/>
                      </a:lnTo>
                      <a:lnTo>
                        <a:pt x="15" y="10"/>
                      </a:lnTo>
                      <a:lnTo>
                        <a:pt x="22" y="13"/>
                      </a:lnTo>
                      <a:lnTo>
                        <a:pt x="33" y="15"/>
                      </a:lnTo>
                      <a:lnTo>
                        <a:pt x="44" y="18"/>
                      </a:lnTo>
                      <a:lnTo>
                        <a:pt x="56" y="19"/>
                      </a:lnTo>
                      <a:lnTo>
                        <a:pt x="85" y="23"/>
                      </a:lnTo>
                      <a:lnTo>
                        <a:pt x="117" y="24"/>
                      </a:lnTo>
                      <a:lnTo>
                        <a:pt x="154" y="27"/>
                      </a:lnTo>
                      <a:lnTo>
                        <a:pt x="192" y="27"/>
                      </a:lnTo>
                      <a:lnTo>
                        <a:pt x="230" y="27"/>
                      </a:lnTo>
                      <a:lnTo>
                        <a:pt x="267" y="24"/>
                      </a:lnTo>
                      <a:lnTo>
                        <a:pt x="299" y="23"/>
                      </a:lnTo>
                      <a:lnTo>
                        <a:pt x="328" y="19"/>
                      </a:lnTo>
                      <a:lnTo>
                        <a:pt x="339" y="18"/>
                      </a:lnTo>
                      <a:lnTo>
                        <a:pt x="351" y="15"/>
                      </a:lnTo>
                      <a:lnTo>
                        <a:pt x="361" y="13"/>
                      </a:lnTo>
                      <a:lnTo>
                        <a:pt x="369" y="10"/>
                      </a:lnTo>
                      <a:lnTo>
                        <a:pt x="375" y="8"/>
                      </a:lnTo>
                      <a:lnTo>
                        <a:pt x="380" y="5"/>
                      </a:lnTo>
                      <a:lnTo>
                        <a:pt x="383" y="3"/>
                      </a:lnTo>
                      <a:lnTo>
                        <a:pt x="384" y="0"/>
                      </a:lnTo>
                    </a:path>
                  </a:pathLst>
                </a:custGeom>
                <a:noFill/>
                <a:ln w="5">
                  <a:solidFill>
                    <a:srgbClr val="DDDDDD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de-CH"/>
                </a:p>
              </p:txBody>
            </p:sp>
          </p:grpSp>
          <p:sp>
            <p:nvSpPr>
              <p:cNvPr id="21519" name="Rectangle 35"/>
              <p:cNvSpPr>
                <a:spLocks noChangeArrowheads="1"/>
              </p:cNvSpPr>
              <p:nvPr/>
            </p:nvSpPr>
            <p:spPr bwMode="auto">
              <a:xfrm>
                <a:off x="275" y="2732"/>
                <a:ext cx="218" cy="142"/>
              </a:xfrm>
              <a:prstGeom prst="rect">
                <a:avLst/>
              </a:prstGeom>
              <a:solidFill>
                <a:srgbClr val="EAEAEA"/>
              </a:solidFill>
              <a:ln w="5">
                <a:solidFill>
                  <a:srgbClr val="DDDDDD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de-DE"/>
              </a:p>
            </p:txBody>
          </p:sp>
          <p:grpSp>
            <p:nvGrpSpPr>
              <p:cNvPr id="21520" name="Group 40"/>
              <p:cNvGrpSpPr>
                <a:grpSpLocks/>
              </p:cNvGrpSpPr>
              <p:nvPr/>
            </p:nvGrpSpPr>
            <p:grpSpPr bwMode="auto">
              <a:xfrm>
                <a:off x="288" y="2609"/>
                <a:ext cx="192" cy="104"/>
                <a:chOff x="288" y="2609"/>
                <a:chExt cx="192" cy="104"/>
              </a:xfrm>
            </p:grpSpPr>
            <p:sp>
              <p:nvSpPr>
                <p:cNvPr id="21731" name="Freeform 36"/>
                <p:cNvSpPr>
                  <a:spLocks/>
                </p:cNvSpPr>
                <p:nvPr/>
              </p:nvSpPr>
              <p:spPr bwMode="auto">
                <a:xfrm>
                  <a:off x="288" y="2609"/>
                  <a:ext cx="192" cy="104"/>
                </a:xfrm>
                <a:custGeom>
                  <a:avLst/>
                  <a:gdLst>
                    <a:gd name="T0" fmla="*/ 6 w 384"/>
                    <a:gd name="T1" fmla="*/ 0 h 207"/>
                    <a:gd name="T2" fmla="*/ 5 w 384"/>
                    <a:gd name="T3" fmla="*/ 0 h 207"/>
                    <a:gd name="T4" fmla="*/ 3 w 384"/>
                    <a:gd name="T5" fmla="*/ 1 h 207"/>
                    <a:gd name="T6" fmla="*/ 3 w 384"/>
                    <a:gd name="T7" fmla="*/ 1 h 207"/>
                    <a:gd name="T8" fmla="*/ 2 w 384"/>
                    <a:gd name="T9" fmla="*/ 1 h 207"/>
                    <a:gd name="T10" fmla="*/ 2 w 384"/>
                    <a:gd name="T11" fmla="*/ 1 h 207"/>
                    <a:gd name="T12" fmla="*/ 2 w 384"/>
                    <a:gd name="T13" fmla="*/ 1 h 207"/>
                    <a:gd name="T14" fmla="*/ 1 w 384"/>
                    <a:gd name="T15" fmla="*/ 1 h 207"/>
                    <a:gd name="T16" fmla="*/ 1 w 384"/>
                    <a:gd name="T17" fmla="*/ 1 h 207"/>
                    <a:gd name="T18" fmla="*/ 1 w 384"/>
                    <a:gd name="T19" fmla="*/ 1 h 207"/>
                    <a:gd name="T20" fmla="*/ 1 w 384"/>
                    <a:gd name="T21" fmla="*/ 1 h 207"/>
                    <a:gd name="T22" fmla="*/ 1 w 384"/>
                    <a:gd name="T23" fmla="*/ 1 h 207"/>
                    <a:gd name="T24" fmla="*/ 0 w 384"/>
                    <a:gd name="T25" fmla="*/ 1 h 207"/>
                    <a:gd name="T26" fmla="*/ 0 w 384"/>
                    <a:gd name="T27" fmla="*/ 6 h 207"/>
                    <a:gd name="T28" fmla="*/ 1 w 384"/>
                    <a:gd name="T29" fmla="*/ 6 h 207"/>
                    <a:gd name="T30" fmla="*/ 1 w 384"/>
                    <a:gd name="T31" fmla="*/ 6 h 207"/>
                    <a:gd name="T32" fmla="*/ 1 w 384"/>
                    <a:gd name="T33" fmla="*/ 6 h 207"/>
                    <a:gd name="T34" fmla="*/ 1 w 384"/>
                    <a:gd name="T35" fmla="*/ 6 h 207"/>
                    <a:gd name="T36" fmla="*/ 1 w 384"/>
                    <a:gd name="T37" fmla="*/ 7 h 207"/>
                    <a:gd name="T38" fmla="*/ 2 w 384"/>
                    <a:gd name="T39" fmla="*/ 7 h 207"/>
                    <a:gd name="T40" fmla="*/ 2 w 384"/>
                    <a:gd name="T41" fmla="*/ 7 h 207"/>
                    <a:gd name="T42" fmla="*/ 2 w 384"/>
                    <a:gd name="T43" fmla="*/ 7 h 207"/>
                    <a:gd name="T44" fmla="*/ 3 w 384"/>
                    <a:gd name="T45" fmla="*/ 7 h 207"/>
                    <a:gd name="T46" fmla="*/ 3 w 384"/>
                    <a:gd name="T47" fmla="*/ 7 h 207"/>
                    <a:gd name="T48" fmla="*/ 5 w 384"/>
                    <a:gd name="T49" fmla="*/ 7 h 207"/>
                    <a:gd name="T50" fmla="*/ 6 w 384"/>
                    <a:gd name="T51" fmla="*/ 7 h 207"/>
                    <a:gd name="T52" fmla="*/ 7 w 384"/>
                    <a:gd name="T53" fmla="*/ 7 h 207"/>
                    <a:gd name="T54" fmla="*/ 9 w 384"/>
                    <a:gd name="T55" fmla="*/ 7 h 207"/>
                    <a:gd name="T56" fmla="*/ 10 w 384"/>
                    <a:gd name="T57" fmla="*/ 7 h 207"/>
                    <a:gd name="T58" fmla="*/ 11 w 384"/>
                    <a:gd name="T59" fmla="*/ 7 h 207"/>
                    <a:gd name="T60" fmla="*/ 11 w 384"/>
                    <a:gd name="T61" fmla="*/ 7 h 207"/>
                    <a:gd name="T62" fmla="*/ 11 w 384"/>
                    <a:gd name="T63" fmla="*/ 7 h 207"/>
                    <a:gd name="T64" fmla="*/ 12 w 384"/>
                    <a:gd name="T65" fmla="*/ 7 h 207"/>
                    <a:gd name="T66" fmla="*/ 12 w 384"/>
                    <a:gd name="T67" fmla="*/ 6 h 207"/>
                    <a:gd name="T68" fmla="*/ 12 w 384"/>
                    <a:gd name="T69" fmla="*/ 6 h 207"/>
                    <a:gd name="T70" fmla="*/ 12 w 384"/>
                    <a:gd name="T71" fmla="*/ 6 h 207"/>
                    <a:gd name="T72" fmla="*/ 12 w 384"/>
                    <a:gd name="T73" fmla="*/ 6 h 207"/>
                    <a:gd name="T74" fmla="*/ 12 w 384"/>
                    <a:gd name="T75" fmla="*/ 6 h 207"/>
                    <a:gd name="T76" fmla="*/ 12 w 384"/>
                    <a:gd name="T77" fmla="*/ 1 h 207"/>
                    <a:gd name="T78" fmla="*/ 12 w 384"/>
                    <a:gd name="T79" fmla="*/ 1 h 207"/>
                    <a:gd name="T80" fmla="*/ 12 w 384"/>
                    <a:gd name="T81" fmla="*/ 1 h 207"/>
                    <a:gd name="T82" fmla="*/ 12 w 384"/>
                    <a:gd name="T83" fmla="*/ 1 h 207"/>
                    <a:gd name="T84" fmla="*/ 12 w 384"/>
                    <a:gd name="T85" fmla="*/ 1 h 207"/>
                    <a:gd name="T86" fmla="*/ 12 w 384"/>
                    <a:gd name="T87" fmla="*/ 1 h 207"/>
                    <a:gd name="T88" fmla="*/ 11 w 384"/>
                    <a:gd name="T89" fmla="*/ 1 h 207"/>
                    <a:gd name="T90" fmla="*/ 11 w 384"/>
                    <a:gd name="T91" fmla="*/ 1 h 207"/>
                    <a:gd name="T92" fmla="*/ 11 w 384"/>
                    <a:gd name="T93" fmla="*/ 1 h 207"/>
                    <a:gd name="T94" fmla="*/ 10 w 384"/>
                    <a:gd name="T95" fmla="*/ 1 h 207"/>
                    <a:gd name="T96" fmla="*/ 9 w 384"/>
                    <a:gd name="T97" fmla="*/ 1 h 207"/>
                    <a:gd name="T98" fmla="*/ 7 w 384"/>
                    <a:gd name="T99" fmla="*/ 0 h 207"/>
                    <a:gd name="T100" fmla="*/ 6 w 384"/>
                    <a:gd name="T101" fmla="*/ 0 h 207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w 384"/>
                    <a:gd name="T154" fmla="*/ 0 h 207"/>
                    <a:gd name="T155" fmla="*/ 384 w 384"/>
                    <a:gd name="T156" fmla="*/ 207 h 207"/>
                  </a:gdLst>
                  <a:ahLst/>
                  <a:cxnLst>
                    <a:cxn ang="T102">
                      <a:pos x="T0" y="T1"/>
                    </a:cxn>
                    <a:cxn ang="T103">
                      <a:pos x="T2" y="T3"/>
                    </a:cxn>
                    <a:cxn ang="T104">
                      <a:pos x="T4" y="T5"/>
                    </a:cxn>
                    <a:cxn ang="T105">
                      <a:pos x="T6" y="T7"/>
                    </a:cxn>
                    <a:cxn ang="T106">
                      <a:pos x="T8" y="T9"/>
                    </a:cxn>
                    <a:cxn ang="T107">
                      <a:pos x="T10" y="T11"/>
                    </a:cxn>
                    <a:cxn ang="T108">
                      <a:pos x="T12" y="T13"/>
                    </a:cxn>
                    <a:cxn ang="T109">
                      <a:pos x="T14" y="T15"/>
                    </a:cxn>
                    <a:cxn ang="T110">
                      <a:pos x="T16" y="T17"/>
                    </a:cxn>
                    <a:cxn ang="T111">
                      <a:pos x="T18" y="T19"/>
                    </a:cxn>
                    <a:cxn ang="T112">
                      <a:pos x="T20" y="T21"/>
                    </a:cxn>
                    <a:cxn ang="T113">
                      <a:pos x="T22" y="T23"/>
                    </a:cxn>
                    <a:cxn ang="T114">
                      <a:pos x="T24" y="T25"/>
                    </a:cxn>
                    <a:cxn ang="T115">
                      <a:pos x="T26" y="T27"/>
                    </a:cxn>
                    <a:cxn ang="T116">
                      <a:pos x="T28" y="T29"/>
                    </a:cxn>
                    <a:cxn ang="T117">
                      <a:pos x="T30" y="T31"/>
                    </a:cxn>
                    <a:cxn ang="T118">
                      <a:pos x="T32" y="T33"/>
                    </a:cxn>
                    <a:cxn ang="T119">
                      <a:pos x="T34" y="T35"/>
                    </a:cxn>
                    <a:cxn ang="T120">
                      <a:pos x="T36" y="T37"/>
                    </a:cxn>
                    <a:cxn ang="T121">
                      <a:pos x="T38" y="T39"/>
                    </a:cxn>
                    <a:cxn ang="T122">
                      <a:pos x="T40" y="T41"/>
                    </a:cxn>
                    <a:cxn ang="T123">
                      <a:pos x="T42" y="T43"/>
                    </a:cxn>
                    <a:cxn ang="T124">
                      <a:pos x="T44" y="T45"/>
                    </a:cxn>
                    <a:cxn ang="T125">
                      <a:pos x="T46" y="T47"/>
                    </a:cxn>
                    <a:cxn ang="T126">
                      <a:pos x="T48" y="T49"/>
                    </a:cxn>
                    <a:cxn ang="T127">
                      <a:pos x="T50" y="T51"/>
                    </a:cxn>
                    <a:cxn ang="T128">
                      <a:pos x="T52" y="T53"/>
                    </a:cxn>
                    <a:cxn ang="T129">
                      <a:pos x="T54" y="T55"/>
                    </a:cxn>
                    <a:cxn ang="T130">
                      <a:pos x="T56" y="T57"/>
                    </a:cxn>
                    <a:cxn ang="T131">
                      <a:pos x="T58" y="T59"/>
                    </a:cxn>
                    <a:cxn ang="T132">
                      <a:pos x="T60" y="T61"/>
                    </a:cxn>
                    <a:cxn ang="T133">
                      <a:pos x="T62" y="T63"/>
                    </a:cxn>
                    <a:cxn ang="T134">
                      <a:pos x="T64" y="T65"/>
                    </a:cxn>
                    <a:cxn ang="T135">
                      <a:pos x="T66" y="T67"/>
                    </a:cxn>
                    <a:cxn ang="T136">
                      <a:pos x="T68" y="T69"/>
                    </a:cxn>
                    <a:cxn ang="T137">
                      <a:pos x="T70" y="T71"/>
                    </a:cxn>
                    <a:cxn ang="T138">
                      <a:pos x="T72" y="T73"/>
                    </a:cxn>
                    <a:cxn ang="T139">
                      <a:pos x="T74" y="T75"/>
                    </a:cxn>
                    <a:cxn ang="T140">
                      <a:pos x="T76" y="T77"/>
                    </a:cxn>
                    <a:cxn ang="T141">
                      <a:pos x="T78" y="T79"/>
                    </a:cxn>
                    <a:cxn ang="T142">
                      <a:pos x="T80" y="T81"/>
                    </a:cxn>
                    <a:cxn ang="T143">
                      <a:pos x="T82" y="T83"/>
                    </a:cxn>
                    <a:cxn ang="T144">
                      <a:pos x="T84" y="T85"/>
                    </a:cxn>
                    <a:cxn ang="T145">
                      <a:pos x="T86" y="T87"/>
                    </a:cxn>
                    <a:cxn ang="T146">
                      <a:pos x="T88" y="T89"/>
                    </a:cxn>
                    <a:cxn ang="T147">
                      <a:pos x="T90" y="T91"/>
                    </a:cxn>
                    <a:cxn ang="T148">
                      <a:pos x="T92" y="T93"/>
                    </a:cxn>
                    <a:cxn ang="T149">
                      <a:pos x="T94" y="T95"/>
                    </a:cxn>
                    <a:cxn ang="T150">
                      <a:pos x="T96" y="T97"/>
                    </a:cxn>
                    <a:cxn ang="T151">
                      <a:pos x="T98" y="T99"/>
                    </a:cxn>
                    <a:cxn ang="T152">
                      <a:pos x="T100" y="T101"/>
                    </a:cxn>
                  </a:cxnLst>
                  <a:rect l="T153" t="T154" r="T155" b="T156"/>
                  <a:pathLst>
                    <a:path w="384" h="207">
                      <a:moveTo>
                        <a:pt x="192" y="0"/>
                      </a:moveTo>
                      <a:lnTo>
                        <a:pt x="154" y="0"/>
                      </a:lnTo>
                      <a:lnTo>
                        <a:pt x="117" y="2"/>
                      </a:lnTo>
                      <a:lnTo>
                        <a:pt x="85" y="3"/>
                      </a:lnTo>
                      <a:lnTo>
                        <a:pt x="56" y="7"/>
                      </a:lnTo>
                      <a:lnTo>
                        <a:pt x="45" y="9"/>
                      </a:lnTo>
                      <a:lnTo>
                        <a:pt x="33" y="11"/>
                      </a:lnTo>
                      <a:lnTo>
                        <a:pt x="23" y="14"/>
                      </a:lnTo>
                      <a:lnTo>
                        <a:pt x="15" y="15"/>
                      </a:lnTo>
                      <a:lnTo>
                        <a:pt x="9" y="17"/>
                      </a:lnTo>
                      <a:lnTo>
                        <a:pt x="4" y="20"/>
                      </a:lnTo>
                      <a:lnTo>
                        <a:pt x="1" y="23"/>
                      </a:lnTo>
                      <a:lnTo>
                        <a:pt x="0" y="25"/>
                      </a:lnTo>
                      <a:lnTo>
                        <a:pt x="0" y="182"/>
                      </a:lnTo>
                      <a:lnTo>
                        <a:pt x="1" y="184"/>
                      </a:lnTo>
                      <a:lnTo>
                        <a:pt x="4" y="187"/>
                      </a:lnTo>
                      <a:lnTo>
                        <a:pt x="9" y="190"/>
                      </a:lnTo>
                      <a:lnTo>
                        <a:pt x="15" y="192"/>
                      </a:lnTo>
                      <a:lnTo>
                        <a:pt x="23" y="195"/>
                      </a:lnTo>
                      <a:lnTo>
                        <a:pt x="33" y="196"/>
                      </a:lnTo>
                      <a:lnTo>
                        <a:pt x="45" y="199"/>
                      </a:lnTo>
                      <a:lnTo>
                        <a:pt x="56" y="200"/>
                      </a:lnTo>
                      <a:lnTo>
                        <a:pt x="85" y="204"/>
                      </a:lnTo>
                      <a:lnTo>
                        <a:pt x="117" y="205"/>
                      </a:lnTo>
                      <a:lnTo>
                        <a:pt x="154" y="207"/>
                      </a:lnTo>
                      <a:lnTo>
                        <a:pt x="192" y="207"/>
                      </a:lnTo>
                      <a:lnTo>
                        <a:pt x="230" y="207"/>
                      </a:lnTo>
                      <a:lnTo>
                        <a:pt x="267" y="205"/>
                      </a:lnTo>
                      <a:lnTo>
                        <a:pt x="299" y="204"/>
                      </a:lnTo>
                      <a:lnTo>
                        <a:pt x="328" y="200"/>
                      </a:lnTo>
                      <a:lnTo>
                        <a:pt x="340" y="199"/>
                      </a:lnTo>
                      <a:lnTo>
                        <a:pt x="351" y="196"/>
                      </a:lnTo>
                      <a:lnTo>
                        <a:pt x="362" y="195"/>
                      </a:lnTo>
                      <a:lnTo>
                        <a:pt x="369" y="192"/>
                      </a:lnTo>
                      <a:lnTo>
                        <a:pt x="376" y="190"/>
                      </a:lnTo>
                      <a:lnTo>
                        <a:pt x="381" y="187"/>
                      </a:lnTo>
                      <a:lnTo>
                        <a:pt x="383" y="184"/>
                      </a:lnTo>
                      <a:lnTo>
                        <a:pt x="384" y="182"/>
                      </a:lnTo>
                      <a:lnTo>
                        <a:pt x="384" y="25"/>
                      </a:lnTo>
                      <a:lnTo>
                        <a:pt x="383" y="23"/>
                      </a:lnTo>
                      <a:lnTo>
                        <a:pt x="381" y="20"/>
                      </a:lnTo>
                      <a:lnTo>
                        <a:pt x="376" y="17"/>
                      </a:lnTo>
                      <a:lnTo>
                        <a:pt x="369" y="15"/>
                      </a:lnTo>
                      <a:lnTo>
                        <a:pt x="362" y="14"/>
                      </a:lnTo>
                      <a:lnTo>
                        <a:pt x="351" y="11"/>
                      </a:lnTo>
                      <a:lnTo>
                        <a:pt x="340" y="9"/>
                      </a:lnTo>
                      <a:lnTo>
                        <a:pt x="328" y="7"/>
                      </a:lnTo>
                      <a:lnTo>
                        <a:pt x="299" y="3"/>
                      </a:lnTo>
                      <a:lnTo>
                        <a:pt x="267" y="2"/>
                      </a:lnTo>
                      <a:lnTo>
                        <a:pt x="230" y="0"/>
                      </a:lnTo>
                      <a:lnTo>
                        <a:pt x="192" y="0"/>
                      </a:lnTo>
                      <a:close/>
                    </a:path>
                  </a:pathLst>
                </a:custGeom>
                <a:solidFill>
                  <a:srgbClr val="EAEAEA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de-CH"/>
                </a:p>
              </p:txBody>
            </p:sp>
            <p:sp>
              <p:nvSpPr>
                <p:cNvPr id="21732" name="Freeform 37"/>
                <p:cNvSpPr>
                  <a:spLocks/>
                </p:cNvSpPr>
                <p:nvPr/>
              </p:nvSpPr>
              <p:spPr bwMode="auto">
                <a:xfrm>
                  <a:off x="288" y="2609"/>
                  <a:ext cx="192" cy="26"/>
                </a:xfrm>
                <a:custGeom>
                  <a:avLst/>
                  <a:gdLst>
                    <a:gd name="T0" fmla="*/ 0 w 384"/>
                    <a:gd name="T1" fmla="*/ 1 h 52"/>
                    <a:gd name="T2" fmla="*/ 1 w 384"/>
                    <a:gd name="T3" fmla="*/ 1 h 52"/>
                    <a:gd name="T4" fmla="*/ 1 w 384"/>
                    <a:gd name="T5" fmla="*/ 1 h 52"/>
                    <a:gd name="T6" fmla="*/ 1 w 384"/>
                    <a:gd name="T7" fmla="*/ 2 h 52"/>
                    <a:gd name="T8" fmla="*/ 1 w 384"/>
                    <a:gd name="T9" fmla="*/ 2 h 52"/>
                    <a:gd name="T10" fmla="*/ 1 w 384"/>
                    <a:gd name="T11" fmla="*/ 2 h 52"/>
                    <a:gd name="T12" fmla="*/ 2 w 384"/>
                    <a:gd name="T13" fmla="*/ 2 h 52"/>
                    <a:gd name="T14" fmla="*/ 2 w 384"/>
                    <a:gd name="T15" fmla="*/ 2 h 52"/>
                    <a:gd name="T16" fmla="*/ 2 w 384"/>
                    <a:gd name="T17" fmla="*/ 2 h 52"/>
                    <a:gd name="T18" fmla="*/ 3 w 384"/>
                    <a:gd name="T19" fmla="*/ 2 h 52"/>
                    <a:gd name="T20" fmla="*/ 3 w 384"/>
                    <a:gd name="T21" fmla="*/ 2 h 52"/>
                    <a:gd name="T22" fmla="*/ 5 w 384"/>
                    <a:gd name="T23" fmla="*/ 2 h 52"/>
                    <a:gd name="T24" fmla="*/ 6 w 384"/>
                    <a:gd name="T25" fmla="*/ 2 h 52"/>
                    <a:gd name="T26" fmla="*/ 7 w 384"/>
                    <a:gd name="T27" fmla="*/ 2 h 52"/>
                    <a:gd name="T28" fmla="*/ 9 w 384"/>
                    <a:gd name="T29" fmla="*/ 2 h 52"/>
                    <a:gd name="T30" fmla="*/ 10 w 384"/>
                    <a:gd name="T31" fmla="*/ 2 h 52"/>
                    <a:gd name="T32" fmla="*/ 11 w 384"/>
                    <a:gd name="T33" fmla="*/ 2 h 52"/>
                    <a:gd name="T34" fmla="*/ 11 w 384"/>
                    <a:gd name="T35" fmla="*/ 2 h 52"/>
                    <a:gd name="T36" fmla="*/ 11 w 384"/>
                    <a:gd name="T37" fmla="*/ 2 h 52"/>
                    <a:gd name="T38" fmla="*/ 12 w 384"/>
                    <a:gd name="T39" fmla="*/ 2 h 52"/>
                    <a:gd name="T40" fmla="*/ 12 w 384"/>
                    <a:gd name="T41" fmla="*/ 2 h 52"/>
                    <a:gd name="T42" fmla="*/ 12 w 384"/>
                    <a:gd name="T43" fmla="*/ 2 h 52"/>
                    <a:gd name="T44" fmla="*/ 12 w 384"/>
                    <a:gd name="T45" fmla="*/ 1 h 52"/>
                    <a:gd name="T46" fmla="*/ 12 w 384"/>
                    <a:gd name="T47" fmla="*/ 1 h 52"/>
                    <a:gd name="T48" fmla="*/ 12 w 384"/>
                    <a:gd name="T49" fmla="*/ 1 h 52"/>
                    <a:gd name="T50" fmla="*/ 12 w 384"/>
                    <a:gd name="T51" fmla="*/ 1 h 52"/>
                    <a:gd name="T52" fmla="*/ 12 w 384"/>
                    <a:gd name="T53" fmla="*/ 1 h 52"/>
                    <a:gd name="T54" fmla="*/ 12 w 384"/>
                    <a:gd name="T55" fmla="*/ 1 h 52"/>
                    <a:gd name="T56" fmla="*/ 12 w 384"/>
                    <a:gd name="T57" fmla="*/ 1 h 52"/>
                    <a:gd name="T58" fmla="*/ 12 w 384"/>
                    <a:gd name="T59" fmla="*/ 1 h 52"/>
                    <a:gd name="T60" fmla="*/ 11 w 384"/>
                    <a:gd name="T61" fmla="*/ 1 h 52"/>
                    <a:gd name="T62" fmla="*/ 11 w 384"/>
                    <a:gd name="T63" fmla="*/ 1 h 52"/>
                    <a:gd name="T64" fmla="*/ 11 w 384"/>
                    <a:gd name="T65" fmla="*/ 1 h 52"/>
                    <a:gd name="T66" fmla="*/ 10 w 384"/>
                    <a:gd name="T67" fmla="*/ 1 h 52"/>
                    <a:gd name="T68" fmla="*/ 9 w 384"/>
                    <a:gd name="T69" fmla="*/ 1 h 52"/>
                    <a:gd name="T70" fmla="*/ 7 w 384"/>
                    <a:gd name="T71" fmla="*/ 0 h 52"/>
                    <a:gd name="T72" fmla="*/ 6 w 384"/>
                    <a:gd name="T73" fmla="*/ 0 h 52"/>
                    <a:gd name="T74" fmla="*/ 5 w 384"/>
                    <a:gd name="T75" fmla="*/ 0 h 52"/>
                    <a:gd name="T76" fmla="*/ 3 w 384"/>
                    <a:gd name="T77" fmla="*/ 1 h 52"/>
                    <a:gd name="T78" fmla="*/ 3 w 384"/>
                    <a:gd name="T79" fmla="*/ 1 h 52"/>
                    <a:gd name="T80" fmla="*/ 2 w 384"/>
                    <a:gd name="T81" fmla="*/ 1 h 52"/>
                    <a:gd name="T82" fmla="*/ 2 w 384"/>
                    <a:gd name="T83" fmla="*/ 1 h 52"/>
                    <a:gd name="T84" fmla="*/ 2 w 384"/>
                    <a:gd name="T85" fmla="*/ 1 h 52"/>
                    <a:gd name="T86" fmla="*/ 1 w 384"/>
                    <a:gd name="T87" fmla="*/ 1 h 52"/>
                    <a:gd name="T88" fmla="*/ 1 w 384"/>
                    <a:gd name="T89" fmla="*/ 1 h 52"/>
                    <a:gd name="T90" fmla="*/ 1 w 384"/>
                    <a:gd name="T91" fmla="*/ 1 h 52"/>
                    <a:gd name="T92" fmla="*/ 1 w 384"/>
                    <a:gd name="T93" fmla="*/ 1 h 52"/>
                    <a:gd name="T94" fmla="*/ 1 w 384"/>
                    <a:gd name="T95" fmla="*/ 1 h 52"/>
                    <a:gd name="T96" fmla="*/ 0 w 384"/>
                    <a:gd name="T97" fmla="*/ 1 h 52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w 384"/>
                    <a:gd name="T148" fmla="*/ 0 h 52"/>
                    <a:gd name="T149" fmla="*/ 384 w 384"/>
                    <a:gd name="T150" fmla="*/ 52 h 52"/>
                  </a:gdLst>
                  <a:ahLst/>
                  <a:cxnLst>
                    <a:cxn ang="T98">
                      <a:pos x="T0" y="T1"/>
                    </a:cxn>
                    <a:cxn ang="T99">
                      <a:pos x="T2" y="T3"/>
                    </a:cxn>
                    <a:cxn ang="T100">
                      <a:pos x="T4" y="T5"/>
                    </a:cxn>
                    <a:cxn ang="T101">
                      <a:pos x="T6" y="T7"/>
                    </a:cxn>
                    <a:cxn ang="T102">
                      <a:pos x="T8" y="T9"/>
                    </a:cxn>
                    <a:cxn ang="T103">
                      <a:pos x="T10" y="T11"/>
                    </a:cxn>
                    <a:cxn ang="T104">
                      <a:pos x="T12" y="T13"/>
                    </a:cxn>
                    <a:cxn ang="T105">
                      <a:pos x="T14" y="T15"/>
                    </a:cxn>
                    <a:cxn ang="T106">
                      <a:pos x="T16" y="T17"/>
                    </a:cxn>
                    <a:cxn ang="T107">
                      <a:pos x="T18" y="T19"/>
                    </a:cxn>
                    <a:cxn ang="T108">
                      <a:pos x="T20" y="T21"/>
                    </a:cxn>
                    <a:cxn ang="T109">
                      <a:pos x="T22" y="T23"/>
                    </a:cxn>
                    <a:cxn ang="T110">
                      <a:pos x="T24" y="T25"/>
                    </a:cxn>
                    <a:cxn ang="T111">
                      <a:pos x="T26" y="T27"/>
                    </a:cxn>
                    <a:cxn ang="T112">
                      <a:pos x="T28" y="T29"/>
                    </a:cxn>
                    <a:cxn ang="T113">
                      <a:pos x="T30" y="T31"/>
                    </a:cxn>
                    <a:cxn ang="T114">
                      <a:pos x="T32" y="T33"/>
                    </a:cxn>
                    <a:cxn ang="T115">
                      <a:pos x="T34" y="T35"/>
                    </a:cxn>
                    <a:cxn ang="T116">
                      <a:pos x="T36" y="T37"/>
                    </a:cxn>
                    <a:cxn ang="T117">
                      <a:pos x="T38" y="T39"/>
                    </a:cxn>
                    <a:cxn ang="T118">
                      <a:pos x="T40" y="T41"/>
                    </a:cxn>
                    <a:cxn ang="T119">
                      <a:pos x="T42" y="T43"/>
                    </a:cxn>
                    <a:cxn ang="T120">
                      <a:pos x="T44" y="T45"/>
                    </a:cxn>
                    <a:cxn ang="T121">
                      <a:pos x="T46" y="T47"/>
                    </a:cxn>
                    <a:cxn ang="T122">
                      <a:pos x="T48" y="T49"/>
                    </a:cxn>
                    <a:cxn ang="T123">
                      <a:pos x="T50" y="T51"/>
                    </a:cxn>
                    <a:cxn ang="T124">
                      <a:pos x="T52" y="T53"/>
                    </a:cxn>
                    <a:cxn ang="T125">
                      <a:pos x="T54" y="T55"/>
                    </a:cxn>
                    <a:cxn ang="T126">
                      <a:pos x="T56" y="T57"/>
                    </a:cxn>
                    <a:cxn ang="T127">
                      <a:pos x="T58" y="T59"/>
                    </a:cxn>
                    <a:cxn ang="T128">
                      <a:pos x="T60" y="T61"/>
                    </a:cxn>
                    <a:cxn ang="T129">
                      <a:pos x="T62" y="T63"/>
                    </a:cxn>
                    <a:cxn ang="T130">
                      <a:pos x="T64" y="T65"/>
                    </a:cxn>
                    <a:cxn ang="T131">
                      <a:pos x="T66" y="T67"/>
                    </a:cxn>
                    <a:cxn ang="T132">
                      <a:pos x="T68" y="T69"/>
                    </a:cxn>
                    <a:cxn ang="T133">
                      <a:pos x="T70" y="T71"/>
                    </a:cxn>
                    <a:cxn ang="T134">
                      <a:pos x="T72" y="T73"/>
                    </a:cxn>
                    <a:cxn ang="T135">
                      <a:pos x="T74" y="T75"/>
                    </a:cxn>
                    <a:cxn ang="T136">
                      <a:pos x="T76" y="T77"/>
                    </a:cxn>
                    <a:cxn ang="T137">
                      <a:pos x="T78" y="T79"/>
                    </a:cxn>
                    <a:cxn ang="T138">
                      <a:pos x="T80" y="T81"/>
                    </a:cxn>
                    <a:cxn ang="T139">
                      <a:pos x="T82" y="T83"/>
                    </a:cxn>
                    <a:cxn ang="T140">
                      <a:pos x="T84" y="T85"/>
                    </a:cxn>
                    <a:cxn ang="T141">
                      <a:pos x="T86" y="T87"/>
                    </a:cxn>
                    <a:cxn ang="T142">
                      <a:pos x="T88" y="T89"/>
                    </a:cxn>
                    <a:cxn ang="T143">
                      <a:pos x="T90" y="T91"/>
                    </a:cxn>
                    <a:cxn ang="T144">
                      <a:pos x="T92" y="T93"/>
                    </a:cxn>
                    <a:cxn ang="T145">
                      <a:pos x="T94" y="T95"/>
                    </a:cxn>
                    <a:cxn ang="T146">
                      <a:pos x="T96" y="T97"/>
                    </a:cxn>
                  </a:cxnLst>
                  <a:rect l="T147" t="T148" r="T149" b="T150"/>
                  <a:pathLst>
                    <a:path w="384" h="52">
                      <a:moveTo>
                        <a:pt x="0" y="25"/>
                      </a:moveTo>
                      <a:lnTo>
                        <a:pt x="1" y="28"/>
                      </a:lnTo>
                      <a:lnTo>
                        <a:pt x="4" y="30"/>
                      </a:lnTo>
                      <a:lnTo>
                        <a:pt x="9" y="33"/>
                      </a:lnTo>
                      <a:lnTo>
                        <a:pt x="15" y="35"/>
                      </a:lnTo>
                      <a:lnTo>
                        <a:pt x="23" y="38"/>
                      </a:lnTo>
                      <a:lnTo>
                        <a:pt x="33" y="40"/>
                      </a:lnTo>
                      <a:lnTo>
                        <a:pt x="45" y="43"/>
                      </a:lnTo>
                      <a:lnTo>
                        <a:pt x="56" y="44"/>
                      </a:lnTo>
                      <a:lnTo>
                        <a:pt x="85" y="48"/>
                      </a:lnTo>
                      <a:lnTo>
                        <a:pt x="117" y="49"/>
                      </a:lnTo>
                      <a:lnTo>
                        <a:pt x="154" y="52"/>
                      </a:lnTo>
                      <a:lnTo>
                        <a:pt x="192" y="52"/>
                      </a:lnTo>
                      <a:lnTo>
                        <a:pt x="230" y="52"/>
                      </a:lnTo>
                      <a:lnTo>
                        <a:pt x="267" y="49"/>
                      </a:lnTo>
                      <a:lnTo>
                        <a:pt x="299" y="48"/>
                      </a:lnTo>
                      <a:lnTo>
                        <a:pt x="328" y="44"/>
                      </a:lnTo>
                      <a:lnTo>
                        <a:pt x="340" y="43"/>
                      </a:lnTo>
                      <a:lnTo>
                        <a:pt x="351" y="40"/>
                      </a:lnTo>
                      <a:lnTo>
                        <a:pt x="362" y="38"/>
                      </a:lnTo>
                      <a:lnTo>
                        <a:pt x="369" y="35"/>
                      </a:lnTo>
                      <a:lnTo>
                        <a:pt x="376" y="33"/>
                      </a:lnTo>
                      <a:lnTo>
                        <a:pt x="381" y="30"/>
                      </a:lnTo>
                      <a:lnTo>
                        <a:pt x="383" y="28"/>
                      </a:lnTo>
                      <a:lnTo>
                        <a:pt x="384" y="25"/>
                      </a:lnTo>
                      <a:lnTo>
                        <a:pt x="383" y="23"/>
                      </a:lnTo>
                      <a:lnTo>
                        <a:pt x="381" y="20"/>
                      </a:lnTo>
                      <a:lnTo>
                        <a:pt x="376" y="17"/>
                      </a:lnTo>
                      <a:lnTo>
                        <a:pt x="369" y="15"/>
                      </a:lnTo>
                      <a:lnTo>
                        <a:pt x="362" y="14"/>
                      </a:lnTo>
                      <a:lnTo>
                        <a:pt x="351" y="11"/>
                      </a:lnTo>
                      <a:lnTo>
                        <a:pt x="340" y="9"/>
                      </a:lnTo>
                      <a:lnTo>
                        <a:pt x="328" y="7"/>
                      </a:lnTo>
                      <a:lnTo>
                        <a:pt x="299" y="3"/>
                      </a:lnTo>
                      <a:lnTo>
                        <a:pt x="267" y="2"/>
                      </a:lnTo>
                      <a:lnTo>
                        <a:pt x="230" y="0"/>
                      </a:lnTo>
                      <a:lnTo>
                        <a:pt x="192" y="0"/>
                      </a:lnTo>
                      <a:lnTo>
                        <a:pt x="154" y="0"/>
                      </a:lnTo>
                      <a:lnTo>
                        <a:pt x="117" y="2"/>
                      </a:lnTo>
                      <a:lnTo>
                        <a:pt x="85" y="3"/>
                      </a:lnTo>
                      <a:lnTo>
                        <a:pt x="56" y="7"/>
                      </a:lnTo>
                      <a:lnTo>
                        <a:pt x="45" y="9"/>
                      </a:lnTo>
                      <a:lnTo>
                        <a:pt x="33" y="11"/>
                      </a:lnTo>
                      <a:lnTo>
                        <a:pt x="23" y="14"/>
                      </a:lnTo>
                      <a:lnTo>
                        <a:pt x="15" y="15"/>
                      </a:lnTo>
                      <a:lnTo>
                        <a:pt x="9" y="17"/>
                      </a:lnTo>
                      <a:lnTo>
                        <a:pt x="4" y="20"/>
                      </a:lnTo>
                      <a:lnTo>
                        <a:pt x="1" y="23"/>
                      </a:lnTo>
                      <a:lnTo>
                        <a:pt x="0" y="25"/>
                      </a:lnTo>
                      <a:close/>
                    </a:path>
                  </a:pathLst>
                </a:custGeom>
                <a:solidFill>
                  <a:srgbClr val="EFEFE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de-CH"/>
                </a:p>
              </p:txBody>
            </p:sp>
            <p:sp>
              <p:nvSpPr>
                <p:cNvPr id="21733" name="Freeform 38"/>
                <p:cNvSpPr>
                  <a:spLocks/>
                </p:cNvSpPr>
                <p:nvPr/>
              </p:nvSpPr>
              <p:spPr bwMode="auto">
                <a:xfrm>
                  <a:off x="288" y="2609"/>
                  <a:ext cx="192" cy="104"/>
                </a:xfrm>
                <a:custGeom>
                  <a:avLst/>
                  <a:gdLst>
                    <a:gd name="T0" fmla="*/ 6 w 384"/>
                    <a:gd name="T1" fmla="*/ 0 h 207"/>
                    <a:gd name="T2" fmla="*/ 5 w 384"/>
                    <a:gd name="T3" fmla="*/ 0 h 207"/>
                    <a:gd name="T4" fmla="*/ 3 w 384"/>
                    <a:gd name="T5" fmla="*/ 1 h 207"/>
                    <a:gd name="T6" fmla="*/ 3 w 384"/>
                    <a:gd name="T7" fmla="*/ 1 h 207"/>
                    <a:gd name="T8" fmla="*/ 2 w 384"/>
                    <a:gd name="T9" fmla="*/ 1 h 207"/>
                    <a:gd name="T10" fmla="*/ 2 w 384"/>
                    <a:gd name="T11" fmla="*/ 1 h 207"/>
                    <a:gd name="T12" fmla="*/ 2 w 384"/>
                    <a:gd name="T13" fmla="*/ 1 h 207"/>
                    <a:gd name="T14" fmla="*/ 1 w 384"/>
                    <a:gd name="T15" fmla="*/ 1 h 207"/>
                    <a:gd name="T16" fmla="*/ 1 w 384"/>
                    <a:gd name="T17" fmla="*/ 1 h 207"/>
                    <a:gd name="T18" fmla="*/ 1 w 384"/>
                    <a:gd name="T19" fmla="*/ 1 h 207"/>
                    <a:gd name="T20" fmla="*/ 1 w 384"/>
                    <a:gd name="T21" fmla="*/ 1 h 207"/>
                    <a:gd name="T22" fmla="*/ 1 w 384"/>
                    <a:gd name="T23" fmla="*/ 1 h 207"/>
                    <a:gd name="T24" fmla="*/ 0 w 384"/>
                    <a:gd name="T25" fmla="*/ 1 h 207"/>
                    <a:gd name="T26" fmla="*/ 0 w 384"/>
                    <a:gd name="T27" fmla="*/ 6 h 207"/>
                    <a:gd name="T28" fmla="*/ 1 w 384"/>
                    <a:gd name="T29" fmla="*/ 6 h 207"/>
                    <a:gd name="T30" fmla="*/ 1 w 384"/>
                    <a:gd name="T31" fmla="*/ 6 h 207"/>
                    <a:gd name="T32" fmla="*/ 1 w 384"/>
                    <a:gd name="T33" fmla="*/ 6 h 207"/>
                    <a:gd name="T34" fmla="*/ 1 w 384"/>
                    <a:gd name="T35" fmla="*/ 6 h 207"/>
                    <a:gd name="T36" fmla="*/ 1 w 384"/>
                    <a:gd name="T37" fmla="*/ 7 h 207"/>
                    <a:gd name="T38" fmla="*/ 2 w 384"/>
                    <a:gd name="T39" fmla="*/ 7 h 207"/>
                    <a:gd name="T40" fmla="*/ 2 w 384"/>
                    <a:gd name="T41" fmla="*/ 7 h 207"/>
                    <a:gd name="T42" fmla="*/ 2 w 384"/>
                    <a:gd name="T43" fmla="*/ 7 h 207"/>
                    <a:gd name="T44" fmla="*/ 3 w 384"/>
                    <a:gd name="T45" fmla="*/ 7 h 207"/>
                    <a:gd name="T46" fmla="*/ 3 w 384"/>
                    <a:gd name="T47" fmla="*/ 7 h 207"/>
                    <a:gd name="T48" fmla="*/ 5 w 384"/>
                    <a:gd name="T49" fmla="*/ 7 h 207"/>
                    <a:gd name="T50" fmla="*/ 6 w 384"/>
                    <a:gd name="T51" fmla="*/ 7 h 207"/>
                    <a:gd name="T52" fmla="*/ 7 w 384"/>
                    <a:gd name="T53" fmla="*/ 7 h 207"/>
                    <a:gd name="T54" fmla="*/ 9 w 384"/>
                    <a:gd name="T55" fmla="*/ 7 h 207"/>
                    <a:gd name="T56" fmla="*/ 10 w 384"/>
                    <a:gd name="T57" fmla="*/ 7 h 207"/>
                    <a:gd name="T58" fmla="*/ 11 w 384"/>
                    <a:gd name="T59" fmla="*/ 7 h 207"/>
                    <a:gd name="T60" fmla="*/ 11 w 384"/>
                    <a:gd name="T61" fmla="*/ 7 h 207"/>
                    <a:gd name="T62" fmla="*/ 11 w 384"/>
                    <a:gd name="T63" fmla="*/ 7 h 207"/>
                    <a:gd name="T64" fmla="*/ 12 w 384"/>
                    <a:gd name="T65" fmla="*/ 7 h 207"/>
                    <a:gd name="T66" fmla="*/ 12 w 384"/>
                    <a:gd name="T67" fmla="*/ 6 h 207"/>
                    <a:gd name="T68" fmla="*/ 12 w 384"/>
                    <a:gd name="T69" fmla="*/ 6 h 207"/>
                    <a:gd name="T70" fmla="*/ 12 w 384"/>
                    <a:gd name="T71" fmla="*/ 6 h 207"/>
                    <a:gd name="T72" fmla="*/ 12 w 384"/>
                    <a:gd name="T73" fmla="*/ 6 h 207"/>
                    <a:gd name="T74" fmla="*/ 12 w 384"/>
                    <a:gd name="T75" fmla="*/ 6 h 207"/>
                    <a:gd name="T76" fmla="*/ 12 w 384"/>
                    <a:gd name="T77" fmla="*/ 1 h 207"/>
                    <a:gd name="T78" fmla="*/ 12 w 384"/>
                    <a:gd name="T79" fmla="*/ 1 h 207"/>
                    <a:gd name="T80" fmla="*/ 12 w 384"/>
                    <a:gd name="T81" fmla="*/ 1 h 207"/>
                    <a:gd name="T82" fmla="*/ 12 w 384"/>
                    <a:gd name="T83" fmla="*/ 1 h 207"/>
                    <a:gd name="T84" fmla="*/ 12 w 384"/>
                    <a:gd name="T85" fmla="*/ 1 h 207"/>
                    <a:gd name="T86" fmla="*/ 12 w 384"/>
                    <a:gd name="T87" fmla="*/ 1 h 207"/>
                    <a:gd name="T88" fmla="*/ 11 w 384"/>
                    <a:gd name="T89" fmla="*/ 1 h 207"/>
                    <a:gd name="T90" fmla="*/ 11 w 384"/>
                    <a:gd name="T91" fmla="*/ 1 h 207"/>
                    <a:gd name="T92" fmla="*/ 11 w 384"/>
                    <a:gd name="T93" fmla="*/ 1 h 207"/>
                    <a:gd name="T94" fmla="*/ 10 w 384"/>
                    <a:gd name="T95" fmla="*/ 1 h 207"/>
                    <a:gd name="T96" fmla="*/ 9 w 384"/>
                    <a:gd name="T97" fmla="*/ 1 h 207"/>
                    <a:gd name="T98" fmla="*/ 7 w 384"/>
                    <a:gd name="T99" fmla="*/ 0 h 207"/>
                    <a:gd name="T100" fmla="*/ 6 w 384"/>
                    <a:gd name="T101" fmla="*/ 0 h 207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w 384"/>
                    <a:gd name="T154" fmla="*/ 0 h 207"/>
                    <a:gd name="T155" fmla="*/ 384 w 384"/>
                    <a:gd name="T156" fmla="*/ 207 h 207"/>
                  </a:gdLst>
                  <a:ahLst/>
                  <a:cxnLst>
                    <a:cxn ang="T102">
                      <a:pos x="T0" y="T1"/>
                    </a:cxn>
                    <a:cxn ang="T103">
                      <a:pos x="T2" y="T3"/>
                    </a:cxn>
                    <a:cxn ang="T104">
                      <a:pos x="T4" y="T5"/>
                    </a:cxn>
                    <a:cxn ang="T105">
                      <a:pos x="T6" y="T7"/>
                    </a:cxn>
                    <a:cxn ang="T106">
                      <a:pos x="T8" y="T9"/>
                    </a:cxn>
                    <a:cxn ang="T107">
                      <a:pos x="T10" y="T11"/>
                    </a:cxn>
                    <a:cxn ang="T108">
                      <a:pos x="T12" y="T13"/>
                    </a:cxn>
                    <a:cxn ang="T109">
                      <a:pos x="T14" y="T15"/>
                    </a:cxn>
                    <a:cxn ang="T110">
                      <a:pos x="T16" y="T17"/>
                    </a:cxn>
                    <a:cxn ang="T111">
                      <a:pos x="T18" y="T19"/>
                    </a:cxn>
                    <a:cxn ang="T112">
                      <a:pos x="T20" y="T21"/>
                    </a:cxn>
                    <a:cxn ang="T113">
                      <a:pos x="T22" y="T23"/>
                    </a:cxn>
                    <a:cxn ang="T114">
                      <a:pos x="T24" y="T25"/>
                    </a:cxn>
                    <a:cxn ang="T115">
                      <a:pos x="T26" y="T27"/>
                    </a:cxn>
                    <a:cxn ang="T116">
                      <a:pos x="T28" y="T29"/>
                    </a:cxn>
                    <a:cxn ang="T117">
                      <a:pos x="T30" y="T31"/>
                    </a:cxn>
                    <a:cxn ang="T118">
                      <a:pos x="T32" y="T33"/>
                    </a:cxn>
                    <a:cxn ang="T119">
                      <a:pos x="T34" y="T35"/>
                    </a:cxn>
                    <a:cxn ang="T120">
                      <a:pos x="T36" y="T37"/>
                    </a:cxn>
                    <a:cxn ang="T121">
                      <a:pos x="T38" y="T39"/>
                    </a:cxn>
                    <a:cxn ang="T122">
                      <a:pos x="T40" y="T41"/>
                    </a:cxn>
                    <a:cxn ang="T123">
                      <a:pos x="T42" y="T43"/>
                    </a:cxn>
                    <a:cxn ang="T124">
                      <a:pos x="T44" y="T45"/>
                    </a:cxn>
                    <a:cxn ang="T125">
                      <a:pos x="T46" y="T47"/>
                    </a:cxn>
                    <a:cxn ang="T126">
                      <a:pos x="T48" y="T49"/>
                    </a:cxn>
                    <a:cxn ang="T127">
                      <a:pos x="T50" y="T51"/>
                    </a:cxn>
                    <a:cxn ang="T128">
                      <a:pos x="T52" y="T53"/>
                    </a:cxn>
                    <a:cxn ang="T129">
                      <a:pos x="T54" y="T55"/>
                    </a:cxn>
                    <a:cxn ang="T130">
                      <a:pos x="T56" y="T57"/>
                    </a:cxn>
                    <a:cxn ang="T131">
                      <a:pos x="T58" y="T59"/>
                    </a:cxn>
                    <a:cxn ang="T132">
                      <a:pos x="T60" y="T61"/>
                    </a:cxn>
                    <a:cxn ang="T133">
                      <a:pos x="T62" y="T63"/>
                    </a:cxn>
                    <a:cxn ang="T134">
                      <a:pos x="T64" y="T65"/>
                    </a:cxn>
                    <a:cxn ang="T135">
                      <a:pos x="T66" y="T67"/>
                    </a:cxn>
                    <a:cxn ang="T136">
                      <a:pos x="T68" y="T69"/>
                    </a:cxn>
                    <a:cxn ang="T137">
                      <a:pos x="T70" y="T71"/>
                    </a:cxn>
                    <a:cxn ang="T138">
                      <a:pos x="T72" y="T73"/>
                    </a:cxn>
                    <a:cxn ang="T139">
                      <a:pos x="T74" y="T75"/>
                    </a:cxn>
                    <a:cxn ang="T140">
                      <a:pos x="T76" y="T77"/>
                    </a:cxn>
                    <a:cxn ang="T141">
                      <a:pos x="T78" y="T79"/>
                    </a:cxn>
                    <a:cxn ang="T142">
                      <a:pos x="T80" y="T81"/>
                    </a:cxn>
                    <a:cxn ang="T143">
                      <a:pos x="T82" y="T83"/>
                    </a:cxn>
                    <a:cxn ang="T144">
                      <a:pos x="T84" y="T85"/>
                    </a:cxn>
                    <a:cxn ang="T145">
                      <a:pos x="T86" y="T87"/>
                    </a:cxn>
                    <a:cxn ang="T146">
                      <a:pos x="T88" y="T89"/>
                    </a:cxn>
                    <a:cxn ang="T147">
                      <a:pos x="T90" y="T91"/>
                    </a:cxn>
                    <a:cxn ang="T148">
                      <a:pos x="T92" y="T93"/>
                    </a:cxn>
                    <a:cxn ang="T149">
                      <a:pos x="T94" y="T95"/>
                    </a:cxn>
                    <a:cxn ang="T150">
                      <a:pos x="T96" y="T97"/>
                    </a:cxn>
                    <a:cxn ang="T151">
                      <a:pos x="T98" y="T99"/>
                    </a:cxn>
                    <a:cxn ang="T152">
                      <a:pos x="T100" y="T101"/>
                    </a:cxn>
                  </a:cxnLst>
                  <a:rect l="T153" t="T154" r="T155" b="T156"/>
                  <a:pathLst>
                    <a:path w="384" h="207">
                      <a:moveTo>
                        <a:pt x="192" y="0"/>
                      </a:moveTo>
                      <a:lnTo>
                        <a:pt x="154" y="0"/>
                      </a:lnTo>
                      <a:lnTo>
                        <a:pt x="117" y="2"/>
                      </a:lnTo>
                      <a:lnTo>
                        <a:pt x="85" y="3"/>
                      </a:lnTo>
                      <a:lnTo>
                        <a:pt x="56" y="7"/>
                      </a:lnTo>
                      <a:lnTo>
                        <a:pt x="45" y="9"/>
                      </a:lnTo>
                      <a:lnTo>
                        <a:pt x="33" y="11"/>
                      </a:lnTo>
                      <a:lnTo>
                        <a:pt x="23" y="14"/>
                      </a:lnTo>
                      <a:lnTo>
                        <a:pt x="15" y="15"/>
                      </a:lnTo>
                      <a:lnTo>
                        <a:pt x="9" y="17"/>
                      </a:lnTo>
                      <a:lnTo>
                        <a:pt x="4" y="20"/>
                      </a:lnTo>
                      <a:lnTo>
                        <a:pt x="1" y="23"/>
                      </a:lnTo>
                      <a:lnTo>
                        <a:pt x="0" y="25"/>
                      </a:lnTo>
                      <a:lnTo>
                        <a:pt x="0" y="182"/>
                      </a:lnTo>
                      <a:lnTo>
                        <a:pt x="1" y="184"/>
                      </a:lnTo>
                      <a:lnTo>
                        <a:pt x="4" y="187"/>
                      </a:lnTo>
                      <a:lnTo>
                        <a:pt x="9" y="190"/>
                      </a:lnTo>
                      <a:lnTo>
                        <a:pt x="15" y="192"/>
                      </a:lnTo>
                      <a:lnTo>
                        <a:pt x="23" y="195"/>
                      </a:lnTo>
                      <a:lnTo>
                        <a:pt x="33" y="196"/>
                      </a:lnTo>
                      <a:lnTo>
                        <a:pt x="45" y="199"/>
                      </a:lnTo>
                      <a:lnTo>
                        <a:pt x="56" y="200"/>
                      </a:lnTo>
                      <a:lnTo>
                        <a:pt x="85" y="204"/>
                      </a:lnTo>
                      <a:lnTo>
                        <a:pt x="117" y="205"/>
                      </a:lnTo>
                      <a:lnTo>
                        <a:pt x="154" y="207"/>
                      </a:lnTo>
                      <a:lnTo>
                        <a:pt x="192" y="207"/>
                      </a:lnTo>
                      <a:lnTo>
                        <a:pt x="230" y="207"/>
                      </a:lnTo>
                      <a:lnTo>
                        <a:pt x="267" y="205"/>
                      </a:lnTo>
                      <a:lnTo>
                        <a:pt x="299" y="204"/>
                      </a:lnTo>
                      <a:lnTo>
                        <a:pt x="328" y="200"/>
                      </a:lnTo>
                      <a:lnTo>
                        <a:pt x="340" y="199"/>
                      </a:lnTo>
                      <a:lnTo>
                        <a:pt x="351" y="196"/>
                      </a:lnTo>
                      <a:lnTo>
                        <a:pt x="362" y="195"/>
                      </a:lnTo>
                      <a:lnTo>
                        <a:pt x="369" y="192"/>
                      </a:lnTo>
                      <a:lnTo>
                        <a:pt x="376" y="190"/>
                      </a:lnTo>
                      <a:lnTo>
                        <a:pt x="381" y="187"/>
                      </a:lnTo>
                      <a:lnTo>
                        <a:pt x="383" y="184"/>
                      </a:lnTo>
                      <a:lnTo>
                        <a:pt x="384" y="182"/>
                      </a:lnTo>
                      <a:lnTo>
                        <a:pt x="384" y="25"/>
                      </a:lnTo>
                      <a:lnTo>
                        <a:pt x="383" y="23"/>
                      </a:lnTo>
                      <a:lnTo>
                        <a:pt x="381" y="20"/>
                      </a:lnTo>
                      <a:lnTo>
                        <a:pt x="376" y="17"/>
                      </a:lnTo>
                      <a:lnTo>
                        <a:pt x="369" y="15"/>
                      </a:lnTo>
                      <a:lnTo>
                        <a:pt x="362" y="14"/>
                      </a:lnTo>
                      <a:lnTo>
                        <a:pt x="351" y="11"/>
                      </a:lnTo>
                      <a:lnTo>
                        <a:pt x="340" y="9"/>
                      </a:lnTo>
                      <a:lnTo>
                        <a:pt x="328" y="7"/>
                      </a:lnTo>
                      <a:lnTo>
                        <a:pt x="299" y="3"/>
                      </a:lnTo>
                      <a:lnTo>
                        <a:pt x="267" y="2"/>
                      </a:lnTo>
                      <a:lnTo>
                        <a:pt x="230" y="0"/>
                      </a:lnTo>
                      <a:lnTo>
                        <a:pt x="192" y="0"/>
                      </a:lnTo>
                      <a:close/>
                    </a:path>
                  </a:pathLst>
                </a:custGeom>
                <a:noFill/>
                <a:ln w="5">
                  <a:solidFill>
                    <a:srgbClr val="DDDDDD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de-CH"/>
                </a:p>
              </p:txBody>
            </p:sp>
            <p:sp>
              <p:nvSpPr>
                <p:cNvPr id="21734" name="Freeform 39"/>
                <p:cNvSpPr>
                  <a:spLocks/>
                </p:cNvSpPr>
                <p:nvPr/>
              </p:nvSpPr>
              <p:spPr bwMode="auto">
                <a:xfrm>
                  <a:off x="288" y="2622"/>
                  <a:ext cx="192" cy="13"/>
                </a:xfrm>
                <a:custGeom>
                  <a:avLst/>
                  <a:gdLst>
                    <a:gd name="T0" fmla="*/ 0 w 384"/>
                    <a:gd name="T1" fmla="*/ 0 h 27"/>
                    <a:gd name="T2" fmla="*/ 1 w 384"/>
                    <a:gd name="T3" fmla="*/ 0 h 27"/>
                    <a:gd name="T4" fmla="*/ 1 w 384"/>
                    <a:gd name="T5" fmla="*/ 0 h 27"/>
                    <a:gd name="T6" fmla="*/ 1 w 384"/>
                    <a:gd name="T7" fmla="*/ 0 h 27"/>
                    <a:gd name="T8" fmla="*/ 1 w 384"/>
                    <a:gd name="T9" fmla="*/ 0 h 27"/>
                    <a:gd name="T10" fmla="*/ 1 w 384"/>
                    <a:gd name="T11" fmla="*/ 0 h 27"/>
                    <a:gd name="T12" fmla="*/ 2 w 384"/>
                    <a:gd name="T13" fmla="*/ 0 h 27"/>
                    <a:gd name="T14" fmla="*/ 2 w 384"/>
                    <a:gd name="T15" fmla="*/ 0 h 27"/>
                    <a:gd name="T16" fmla="*/ 2 w 384"/>
                    <a:gd name="T17" fmla="*/ 0 h 27"/>
                    <a:gd name="T18" fmla="*/ 3 w 384"/>
                    <a:gd name="T19" fmla="*/ 0 h 27"/>
                    <a:gd name="T20" fmla="*/ 3 w 384"/>
                    <a:gd name="T21" fmla="*/ 0 h 27"/>
                    <a:gd name="T22" fmla="*/ 5 w 384"/>
                    <a:gd name="T23" fmla="*/ 0 h 27"/>
                    <a:gd name="T24" fmla="*/ 6 w 384"/>
                    <a:gd name="T25" fmla="*/ 0 h 27"/>
                    <a:gd name="T26" fmla="*/ 7 w 384"/>
                    <a:gd name="T27" fmla="*/ 0 h 27"/>
                    <a:gd name="T28" fmla="*/ 9 w 384"/>
                    <a:gd name="T29" fmla="*/ 0 h 27"/>
                    <a:gd name="T30" fmla="*/ 10 w 384"/>
                    <a:gd name="T31" fmla="*/ 0 h 27"/>
                    <a:gd name="T32" fmla="*/ 11 w 384"/>
                    <a:gd name="T33" fmla="*/ 0 h 27"/>
                    <a:gd name="T34" fmla="*/ 11 w 384"/>
                    <a:gd name="T35" fmla="*/ 0 h 27"/>
                    <a:gd name="T36" fmla="*/ 11 w 384"/>
                    <a:gd name="T37" fmla="*/ 0 h 27"/>
                    <a:gd name="T38" fmla="*/ 12 w 384"/>
                    <a:gd name="T39" fmla="*/ 0 h 27"/>
                    <a:gd name="T40" fmla="*/ 12 w 384"/>
                    <a:gd name="T41" fmla="*/ 0 h 27"/>
                    <a:gd name="T42" fmla="*/ 12 w 384"/>
                    <a:gd name="T43" fmla="*/ 0 h 27"/>
                    <a:gd name="T44" fmla="*/ 12 w 384"/>
                    <a:gd name="T45" fmla="*/ 0 h 27"/>
                    <a:gd name="T46" fmla="*/ 12 w 384"/>
                    <a:gd name="T47" fmla="*/ 0 h 27"/>
                    <a:gd name="T48" fmla="*/ 12 w 384"/>
                    <a:gd name="T49" fmla="*/ 0 h 27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w 384"/>
                    <a:gd name="T76" fmla="*/ 0 h 27"/>
                    <a:gd name="T77" fmla="*/ 384 w 384"/>
                    <a:gd name="T78" fmla="*/ 27 h 27"/>
                  </a:gdLst>
                  <a:ahLst/>
                  <a:cxnLst>
                    <a:cxn ang="T50">
                      <a:pos x="T0" y="T1"/>
                    </a:cxn>
                    <a:cxn ang="T51">
                      <a:pos x="T2" y="T3"/>
                    </a:cxn>
                    <a:cxn ang="T52">
                      <a:pos x="T4" y="T5"/>
                    </a:cxn>
                    <a:cxn ang="T53">
                      <a:pos x="T6" y="T7"/>
                    </a:cxn>
                    <a:cxn ang="T54">
                      <a:pos x="T8" y="T9"/>
                    </a:cxn>
                    <a:cxn ang="T55">
                      <a:pos x="T10" y="T11"/>
                    </a:cxn>
                    <a:cxn ang="T56">
                      <a:pos x="T12" y="T13"/>
                    </a:cxn>
                    <a:cxn ang="T57">
                      <a:pos x="T14" y="T15"/>
                    </a:cxn>
                    <a:cxn ang="T58">
                      <a:pos x="T16" y="T17"/>
                    </a:cxn>
                    <a:cxn ang="T59">
                      <a:pos x="T18" y="T19"/>
                    </a:cxn>
                    <a:cxn ang="T60">
                      <a:pos x="T20" y="T21"/>
                    </a:cxn>
                    <a:cxn ang="T61">
                      <a:pos x="T22" y="T23"/>
                    </a:cxn>
                    <a:cxn ang="T62">
                      <a:pos x="T24" y="T25"/>
                    </a:cxn>
                    <a:cxn ang="T63">
                      <a:pos x="T26" y="T27"/>
                    </a:cxn>
                    <a:cxn ang="T64">
                      <a:pos x="T28" y="T29"/>
                    </a:cxn>
                    <a:cxn ang="T65">
                      <a:pos x="T30" y="T31"/>
                    </a:cxn>
                    <a:cxn ang="T66">
                      <a:pos x="T32" y="T33"/>
                    </a:cxn>
                    <a:cxn ang="T67">
                      <a:pos x="T34" y="T35"/>
                    </a:cxn>
                    <a:cxn ang="T68">
                      <a:pos x="T36" y="T37"/>
                    </a:cxn>
                    <a:cxn ang="T69">
                      <a:pos x="T38" y="T39"/>
                    </a:cxn>
                    <a:cxn ang="T70">
                      <a:pos x="T40" y="T41"/>
                    </a:cxn>
                    <a:cxn ang="T71">
                      <a:pos x="T42" y="T43"/>
                    </a:cxn>
                    <a:cxn ang="T72">
                      <a:pos x="T44" y="T45"/>
                    </a:cxn>
                    <a:cxn ang="T73">
                      <a:pos x="T46" y="T47"/>
                    </a:cxn>
                    <a:cxn ang="T74">
                      <a:pos x="T48" y="T49"/>
                    </a:cxn>
                  </a:cxnLst>
                  <a:rect l="T75" t="T76" r="T77" b="T78"/>
                  <a:pathLst>
                    <a:path w="384" h="27">
                      <a:moveTo>
                        <a:pt x="0" y="0"/>
                      </a:moveTo>
                      <a:lnTo>
                        <a:pt x="1" y="3"/>
                      </a:lnTo>
                      <a:lnTo>
                        <a:pt x="4" y="5"/>
                      </a:lnTo>
                      <a:lnTo>
                        <a:pt x="9" y="8"/>
                      </a:lnTo>
                      <a:lnTo>
                        <a:pt x="15" y="10"/>
                      </a:lnTo>
                      <a:lnTo>
                        <a:pt x="23" y="13"/>
                      </a:lnTo>
                      <a:lnTo>
                        <a:pt x="33" y="15"/>
                      </a:lnTo>
                      <a:lnTo>
                        <a:pt x="45" y="18"/>
                      </a:lnTo>
                      <a:lnTo>
                        <a:pt x="56" y="19"/>
                      </a:lnTo>
                      <a:lnTo>
                        <a:pt x="85" y="23"/>
                      </a:lnTo>
                      <a:lnTo>
                        <a:pt x="117" y="24"/>
                      </a:lnTo>
                      <a:lnTo>
                        <a:pt x="154" y="27"/>
                      </a:lnTo>
                      <a:lnTo>
                        <a:pt x="192" y="27"/>
                      </a:lnTo>
                      <a:lnTo>
                        <a:pt x="230" y="27"/>
                      </a:lnTo>
                      <a:lnTo>
                        <a:pt x="267" y="24"/>
                      </a:lnTo>
                      <a:lnTo>
                        <a:pt x="299" y="23"/>
                      </a:lnTo>
                      <a:lnTo>
                        <a:pt x="328" y="19"/>
                      </a:lnTo>
                      <a:lnTo>
                        <a:pt x="340" y="18"/>
                      </a:lnTo>
                      <a:lnTo>
                        <a:pt x="351" y="15"/>
                      </a:lnTo>
                      <a:lnTo>
                        <a:pt x="362" y="13"/>
                      </a:lnTo>
                      <a:lnTo>
                        <a:pt x="369" y="10"/>
                      </a:lnTo>
                      <a:lnTo>
                        <a:pt x="376" y="8"/>
                      </a:lnTo>
                      <a:lnTo>
                        <a:pt x="381" y="5"/>
                      </a:lnTo>
                      <a:lnTo>
                        <a:pt x="383" y="3"/>
                      </a:lnTo>
                      <a:lnTo>
                        <a:pt x="384" y="0"/>
                      </a:lnTo>
                    </a:path>
                  </a:pathLst>
                </a:custGeom>
                <a:noFill/>
                <a:ln w="5">
                  <a:solidFill>
                    <a:srgbClr val="DDDDDD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de-CH"/>
                </a:p>
              </p:txBody>
            </p:sp>
          </p:grpSp>
          <p:sp>
            <p:nvSpPr>
              <p:cNvPr id="21521" name="Rectangle 41"/>
              <p:cNvSpPr>
                <a:spLocks noChangeArrowheads="1"/>
              </p:cNvSpPr>
              <p:nvPr/>
            </p:nvSpPr>
            <p:spPr bwMode="auto">
              <a:xfrm>
                <a:off x="519" y="2732"/>
                <a:ext cx="218" cy="142"/>
              </a:xfrm>
              <a:prstGeom prst="rect">
                <a:avLst/>
              </a:prstGeom>
              <a:solidFill>
                <a:srgbClr val="EAEAEA"/>
              </a:solidFill>
              <a:ln w="5">
                <a:solidFill>
                  <a:srgbClr val="DDDDDD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de-DE"/>
              </a:p>
            </p:txBody>
          </p:sp>
          <p:grpSp>
            <p:nvGrpSpPr>
              <p:cNvPr id="21522" name="Group 46"/>
              <p:cNvGrpSpPr>
                <a:grpSpLocks/>
              </p:cNvGrpSpPr>
              <p:nvPr/>
            </p:nvGrpSpPr>
            <p:grpSpPr bwMode="auto">
              <a:xfrm>
                <a:off x="531" y="2609"/>
                <a:ext cx="192" cy="104"/>
                <a:chOff x="531" y="2609"/>
                <a:chExt cx="192" cy="104"/>
              </a:xfrm>
            </p:grpSpPr>
            <p:sp>
              <p:nvSpPr>
                <p:cNvPr id="21727" name="Freeform 42"/>
                <p:cNvSpPr>
                  <a:spLocks/>
                </p:cNvSpPr>
                <p:nvPr/>
              </p:nvSpPr>
              <p:spPr bwMode="auto">
                <a:xfrm>
                  <a:off x="531" y="2609"/>
                  <a:ext cx="192" cy="104"/>
                </a:xfrm>
                <a:custGeom>
                  <a:avLst/>
                  <a:gdLst>
                    <a:gd name="T0" fmla="*/ 6 w 384"/>
                    <a:gd name="T1" fmla="*/ 0 h 207"/>
                    <a:gd name="T2" fmla="*/ 5 w 384"/>
                    <a:gd name="T3" fmla="*/ 0 h 207"/>
                    <a:gd name="T4" fmla="*/ 3 w 384"/>
                    <a:gd name="T5" fmla="*/ 1 h 207"/>
                    <a:gd name="T6" fmla="*/ 3 w 384"/>
                    <a:gd name="T7" fmla="*/ 1 h 207"/>
                    <a:gd name="T8" fmla="*/ 2 w 384"/>
                    <a:gd name="T9" fmla="*/ 1 h 207"/>
                    <a:gd name="T10" fmla="*/ 2 w 384"/>
                    <a:gd name="T11" fmla="*/ 1 h 207"/>
                    <a:gd name="T12" fmla="*/ 2 w 384"/>
                    <a:gd name="T13" fmla="*/ 1 h 207"/>
                    <a:gd name="T14" fmla="*/ 1 w 384"/>
                    <a:gd name="T15" fmla="*/ 1 h 207"/>
                    <a:gd name="T16" fmla="*/ 1 w 384"/>
                    <a:gd name="T17" fmla="*/ 1 h 207"/>
                    <a:gd name="T18" fmla="*/ 1 w 384"/>
                    <a:gd name="T19" fmla="*/ 1 h 207"/>
                    <a:gd name="T20" fmla="*/ 1 w 384"/>
                    <a:gd name="T21" fmla="*/ 1 h 207"/>
                    <a:gd name="T22" fmla="*/ 1 w 384"/>
                    <a:gd name="T23" fmla="*/ 1 h 207"/>
                    <a:gd name="T24" fmla="*/ 0 w 384"/>
                    <a:gd name="T25" fmla="*/ 1 h 207"/>
                    <a:gd name="T26" fmla="*/ 0 w 384"/>
                    <a:gd name="T27" fmla="*/ 6 h 207"/>
                    <a:gd name="T28" fmla="*/ 1 w 384"/>
                    <a:gd name="T29" fmla="*/ 6 h 207"/>
                    <a:gd name="T30" fmla="*/ 1 w 384"/>
                    <a:gd name="T31" fmla="*/ 6 h 207"/>
                    <a:gd name="T32" fmla="*/ 1 w 384"/>
                    <a:gd name="T33" fmla="*/ 6 h 207"/>
                    <a:gd name="T34" fmla="*/ 1 w 384"/>
                    <a:gd name="T35" fmla="*/ 6 h 207"/>
                    <a:gd name="T36" fmla="*/ 1 w 384"/>
                    <a:gd name="T37" fmla="*/ 7 h 207"/>
                    <a:gd name="T38" fmla="*/ 2 w 384"/>
                    <a:gd name="T39" fmla="*/ 7 h 207"/>
                    <a:gd name="T40" fmla="*/ 2 w 384"/>
                    <a:gd name="T41" fmla="*/ 7 h 207"/>
                    <a:gd name="T42" fmla="*/ 2 w 384"/>
                    <a:gd name="T43" fmla="*/ 7 h 207"/>
                    <a:gd name="T44" fmla="*/ 3 w 384"/>
                    <a:gd name="T45" fmla="*/ 7 h 207"/>
                    <a:gd name="T46" fmla="*/ 3 w 384"/>
                    <a:gd name="T47" fmla="*/ 7 h 207"/>
                    <a:gd name="T48" fmla="*/ 5 w 384"/>
                    <a:gd name="T49" fmla="*/ 7 h 207"/>
                    <a:gd name="T50" fmla="*/ 6 w 384"/>
                    <a:gd name="T51" fmla="*/ 7 h 207"/>
                    <a:gd name="T52" fmla="*/ 7 w 384"/>
                    <a:gd name="T53" fmla="*/ 7 h 207"/>
                    <a:gd name="T54" fmla="*/ 9 w 384"/>
                    <a:gd name="T55" fmla="*/ 7 h 207"/>
                    <a:gd name="T56" fmla="*/ 10 w 384"/>
                    <a:gd name="T57" fmla="*/ 7 h 207"/>
                    <a:gd name="T58" fmla="*/ 11 w 384"/>
                    <a:gd name="T59" fmla="*/ 7 h 207"/>
                    <a:gd name="T60" fmla="*/ 11 w 384"/>
                    <a:gd name="T61" fmla="*/ 7 h 207"/>
                    <a:gd name="T62" fmla="*/ 11 w 384"/>
                    <a:gd name="T63" fmla="*/ 7 h 207"/>
                    <a:gd name="T64" fmla="*/ 12 w 384"/>
                    <a:gd name="T65" fmla="*/ 7 h 207"/>
                    <a:gd name="T66" fmla="*/ 12 w 384"/>
                    <a:gd name="T67" fmla="*/ 6 h 207"/>
                    <a:gd name="T68" fmla="*/ 12 w 384"/>
                    <a:gd name="T69" fmla="*/ 6 h 207"/>
                    <a:gd name="T70" fmla="*/ 12 w 384"/>
                    <a:gd name="T71" fmla="*/ 6 h 207"/>
                    <a:gd name="T72" fmla="*/ 12 w 384"/>
                    <a:gd name="T73" fmla="*/ 6 h 207"/>
                    <a:gd name="T74" fmla="*/ 12 w 384"/>
                    <a:gd name="T75" fmla="*/ 6 h 207"/>
                    <a:gd name="T76" fmla="*/ 12 w 384"/>
                    <a:gd name="T77" fmla="*/ 1 h 207"/>
                    <a:gd name="T78" fmla="*/ 12 w 384"/>
                    <a:gd name="T79" fmla="*/ 1 h 207"/>
                    <a:gd name="T80" fmla="*/ 12 w 384"/>
                    <a:gd name="T81" fmla="*/ 1 h 207"/>
                    <a:gd name="T82" fmla="*/ 12 w 384"/>
                    <a:gd name="T83" fmla="*/ 1 h 207"/>
                    <a:gd name="T84" fmla="*/ 12 w 384"/>
                    <a:gd name="T85" fmla="*/ 1 h 207"/>
                    <a:gd name="T86" fmla="*/ 12 w 384"/>
                    <a:gd name="T87" fmla="*/ 1 h 207"/>
                    <a:gd name="T88" fmla="*/ 11 w 384"/>
                    <a:gd name="T89" fmla="*/ 1 h 207"/>
                    <a:gd name="T90" fmla="*/ 11 w 384"/>
                    <a:gd name="T91" fmla="*/ 1 h 207"/>
                    <a:gd name="T92" fmla="*/ 11 w 384"/>
                    <a:gd name="T93" fmla="*/ 1 h 207"/>
                    <a:gd name="T94" fmla="*/ 10 w 384"/>
                    <a:gd name="T95" fmla="*/ 1 h 207"/>
                    <a:gd name="T96" fmla="*/ 9 w 384"/>
                    <a:gd name="T97" fmla="*/ 1 h 207"/>
                    <a:gd name="T98" fmla="*/ 7 w 384"/>
                    <a:gd name="T99" fmla="*/ 0 h 207"/>
                    <a:gd name="T100" fmla="*/ 6 w 384"/>
                    <a:gd name="T101" fmla="*/ 0 h 207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w 384"/>
                    <a:gd name="T154" fmla="*/ 0 h 207"/>
                    <a:gd name="T155" fmla="*/ 384 w 384"/>
                    <a:gd name="T156" fmla="*/ 207 h 207"/>
                  </a:gdLst>
                  <a:ahLst/>
                  <a:cxnLst>
                    <a:cxn ang="T102">
                      <a:pos x="T0" y="T1"/>
                    </a:cxn>
                    <a:cxn ang="T103">
                      <a:pos x="T2" y="T3"/>
                    </a:cxn>
                    <a:cxn ang="T104">
                      <a:pos x="T4" y="T5"/>
                    </a:cxn>
                    <a:cxn ang="T105">
                      <a:pos x="T6" y="T7"/>
                    </a:cxn>
                    <a:cxn ang="T106">
                      <a:pos x="T8" y="T9"/>
                    </a:cxn>
                    <a:cxn ang="T107">
                      <a:pos x="T10" y="T11"/>
                    </a:cxn>
                    <a:cxn ang="T108">
                      <a:pos x="T12" y="T13"/>
                    </a:cxn>
                    <a:cxn ang="T109">
                      <a:pos x="T14" y="T15"/>
                    </a:cxn>
                    <a:cxn ang="T110">
                      <a:pos x="T16" y="T17"/>
                    </a:cxn>
                    <a:cxn ang="T111">
                      <a:pos x="T18" y="T19"/>
                    </a:cxn>
                    <a:cxn ang="T112">
                      <a:pos x="T20" y="T21"/>
                    </a:cxn>
                    <a:cxn ang="T113">
                      <a:pos x="T22" y="T23"/>
                    </a:cxn>
                    <a:cxn ang="T114">
                      <a:pos x="T24" y="T25"/>
                    </a:cxn>
                    <a:cxn ang="T115">
                      <a:pos x="T26" y="T27"/>
                    </a:cxn>
                    <a:cxn ang="T116">
                      <a:pos x="T28" y="T29"/>
                    </a:cxn>
                    <a:cxn ang="T117">
                      <a:pos x="T30" y="T31"/>
                    </a:cxn>
                    <a:cxn ang="T118">
                      <a:pos x="T32" y="T33"/>
                    </a:cxn>
                    <a:cxn ang="T119">
                      <a:pos x="T34" y="T35"/>
                    </a:cxn>
                    <a:cxn ang="T120">
                      <a:pos x="T36" y="T37"/>
                    </a:cxn>
                    <a:cxn ang="T121">
                      <a:pos x="T38" y="T39"/>
                    </a:cxn>
                    <a:cxn ang="T122">
                      <a:pos x="T40" y="T41"/>
                    </a:cxn>
                    <a:cxn ang="T123">
                      <a:pos x="T42" y="T43"/>
                    </a:cxn>
                    <a:cxn ang="T124">
                      <a:pos x="T44" y="T45"/>
                    </a:cxn>
                    <a:cxn ang="T125">
                      <a:pos x="T46" y="T47"/>
                    </a:cxn>
                    <a:cxn ang="T126">
                      <a:pos x="T48" y="T49"/>
                    </a:cxn>
                    <a:cxn ang="T127">
                      <a:pos x="T50" y="T51"/>
                    </a:cxn>
                    <a:cxn ang="T128">
                      <a:pos x="T52" y="T53"/>
                    </a:cxn>
                    <a:cxn ang="T129">
                      <a:pos x="T54" y="T55"/>
                    </a:cxn>
                    <a:cxn ang="T130">
                      <a:pos x="T56" y="T57"/>
                    </a:cxn>
                    <a:cxn ang="T131">
                      <a:pos x="T58" y="T59"/>
                    </a:cxn>
                    <a:cxn ang="T132">
                      <a:pos x="T60" y="T61"/>
                    </a:cxn>
                    <a:cxn ang="T133">
                      <a:pos x="T62" y="T63"/>
                    </a:cxn>
                    <a:cxn ang="T134">
                      <a:pos x="T64" y="T65"/>
                    </a:cxn>
                    <a:cxn ang="T135">
                      <a:pos x="T66" y="T67"/>
                    </a:cxn>
                    <a:cxn ang="T136">
                      <a:pos x="T68" y="T69"/>
                    </a:cxn>
                    <a:cxn ang="T137">
                      <a:pos x="T70" y="T71"/>
                    </a:cxn>
                    <a:cxn ang="T138">
                      <a:pos x="T72" y="T73"/>
                    </a:cxn>
                    <a:cxn ang="T139">
                      <a:pos x="T74" y="T75"/>
                    </a:cxn>
                    <a:cxn ang="T140">
                      <a:pos x="T76" y="T77"/>
                    </a:cxn>
                    <a:cxn ang="T141">
                      <a:pos x="T78" y="T79"/>
                    </a:cxn>
                    <a:cxn ang="T142">
                      <a:pos x="T80" y="T81"/>
                    </a:cxn>
                    <a:cxn ang="T143">
                      <a:pos x="T82" y="T83"/>
                    </a:cxn>
                    <a:cxn ang="T144">
                      <a:pos x="T84" y="T85"/>
                    </a:cxn>
                    <a:cxn ang="T145">
                      <a:pos x="T86" y="T87"/>
                    </a:cxn>
                    <a:cxn ang="T146">
                      <a:pos x="T88" y="T89"/>
                    </a:cxn>
                    <a:cxn ang="T147">
                      <a:pos x="T90" y="T91"/>
                    </a:cxn>
                    <a:cxn ang="T148">
                      <a:pos x="T92" y="T93"/>
                    </a:cxn>
                    <a:cxn ang="T149">
                      <a:pos x="T94" y="T95"/>
                    </a:cxn>
                    <a:cxn ang="T150">
                      <a:pos x="T96" y="T97"/>
                    </a:cxn>
                    <a:cxn ang="T151">
                      <a:pos x="T98" y="T99"/>
                    </a:cxn>
                    <a:cxn ang="T152">
                      <a:pos x="T100" y="T101"/>
                    </a:cxn>
                  </a:cxnLst>
                  <a:rect l="T153" t="T154" r="T155" b="T156"/>
                  <a:pathLst>
                    <a:path w="384" h="207">
                      <a:moveTo>
                        <a:pt x="192" y="0"/>
                      </a:moveTo>
                      <a:lnTo>
                        <a:pt x="154" y="0"/>
                      </a:lnTo>
                      <a:lnTo>
                        <a:pt x="117" y="2"/>
                      </a:lnTo>
                      <a:lnTo>
                        <a:pt x="85" y="3"/>
                      </a:lnTo>
                      <a:lnTo>
                        <a:pt x="56" y="7"/>
                      </a:lnTo>
                      <a:lnTo>
                        <a:pt x="44" y="9"/>
                      </a:lnTo>
                      <a:lnTo>
                        <a:pt x="33" y="11"/>
                      </a:lnTo>
                      <a:lnTo>
                        <a:pt x="22" y="14"/>
                      </a:lnTo>
                      <a:lnTo>
                        <a:pt x="15" y="15"/>
                      </a:lnTo>
                      <a:lnTo>
                        <a:pt x="8" y="17"/>
                      </a:lnTo>
                      <a:lnTo>
                        <a:pt x="3" y="20"/>
                      </a:lnTo>
                      <a:lnTo>
                        <a:pt x="1" y="23"/>
                      </a:lnTo>
                      <a:lnTo>
                        <a:pt x="0" y="25"/>
                      </a:lnTo>
                      <a:lnTo>
                        <a:pt x="0" y="182"/>
                      </a:lnTo>
                      <a:lnTo>
                        <a:pt x="1" y="184"/>
                      </a:lnTo>
                      <a:lnTo>
                        <a:pt x="3" y="187"/>
                      </a:lnTo>
                      <a:lnTo>
                        <a:pt x="8" y="190"/>
                      </a:lnTo>
                      <a:lnTo>
                        <a:pt x="15" y="192"/>
                      </a:lnTo>
                      <a:lnTo>
                        <a:pt x="22" y="195"/>
                      </a:lnTo>
                      <a:lnTo>
                        <a:pt x="33" y="196"/>
                      </a:lnTo>
                      <a:lnTo>
                        <a:pt x="44" y="199"/>
                      </a:lnTo>
                      <a:lnTo>
                        <a:pt x="56" y="200"/>
                      </a:lnTo>
                      <a:lnTo>
                        <a:pt x="85" y="204"/>
                      </a:lnTo>
                      <a:lnTo>
                        <a:pt x="117" y="205"/>
                      </a:lnTo>
                      <a:lnTo>
                        <a:pt x="154" y="207"/>
                      </a:lnTo>
                      <a:lnTo>
                        <a:pt x="192" y="207"/>
                      </a:lnTo>
                      <a:lnTo>
                        <a:pt x="230" y="207"/>
                      </a:lnTo>
                      <a:lnTo>
                        <a:pt x="267" y="205"/>
                      </a:lnTo>
                      <a:lnTo>
                        <a:pt x="299" y="204"/>
                      </a:lnTo>
                      <a:lnTo>
                        <a:pt x="328" y="200"/>
                      </a:lnTo>
                      <a:lnTo>
                        <a:pt x="339" y="199"/>
                      </a:lnTo>
                      <a:lnTo>
                        <a:pt x="351" y="196"/>
                      </a:lnTo>
                      <a:lnTo>
                        <a:pt x="361" y="195"/>
                      </a:lnTo>
                      <a:lnTo>
                        <a:pt x="369" y="192"/>
                      </a:lnTo>
                      <a:lnTo>
                        <a:pt x="375" y="190"/>
                      </a:lnTo>
                      <a:lnTo>
                        <a:pt x="380" y="187"/>
                      </a:lnTo>
                      <a:lnTo>
                        <a:pt x="383" y="184"/>
                      </a:lnTo>
                      <a:lnTo>
                        <a:pt x="384" y="182"/>
                      </a:lnTo>
                      <a:lnTo>
                        <a:pt x="384" y="25"/>
                      </a:lnTo>
                      <a:lnTo>
                        <a:pt x="383" y="23"/>
                      </a:lnTo>
                      <a:lnTo>
                        <a:pt x="380" y="20"/>
                      </a:lnTo>
                      <a:lnTo>
                        <a:pt x="375" y="17"/>
                      </a:lnTo>
                      <a:lnTo>
                        <a:pt x="369" y="15"/>
                      </a:lnTo>
                      <a:lnTo>
                        <a:pt x="361" y="14"/>
                      </a:lnTo>
                      <a:lnTo>
                        <a:pt x="351" y="11"/>
                      </a:lnTo>
                      <a:lnTo>
                        <a:pt x="339" y="9"/>
                      </a:lnTo>
                      <a:lnTo>
                        <a:pt x="328" y="7"/>
                      </a:lnTo>
                      <a:lnTo>
                        <a:pt x="299" y="3"/>
                      </a:lnTo>
                      <a:lnTo>
                        <a:pt x="267" y="2"/>
                      </a:lnTo>
                      <a:lnTo>
                        <a:pt x="230" y="0"/>
                      </a:lnTo>
                      <a:lnTo>
                        <a:pt x="192" y="0"/>
                      </a:lnTo>
                      <a:close/>
                    </a:path>
                  </a:pathLst>
                </a:custGeom>
                <a:solidFill>
                  <a:srgbClr val="EAEAEA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de-CH"/>
                </a:p>
              </p:txBody>
            </p:sp>
            <p:sp>
              <p:nvSpPr>
                <p:cNvPr id="21728" name="Freeform 43"/>
                <p:cNvSpPr>
                  <a:spLocks/>
                </p:cNvSpPr>
                <p:nvPr/>
              </p:nvSpPr>
              <p:spPr bwMode="auto">
                <a:xfrm>
                  <a:off x="531" y="2609"/>
                  <a:ext cx="192" cy="26"/>
                </a:xfrm>
                <a:custGeom>
                  <a:avLst/>
                  <a:gdLst>
                    <a:gd name="T0" fmla="*/ 0 w 384"/>
                    <a:gd name="T1" fmla="*/ 1 h 52"/>
                    <a:gd name="T2" fmla="*/ 1 w 384"/>
                    <a:gd name="T3" fmla="*/ 1 h 52"/>
                    <a:gd name="T4" fmla="*/ 1 w 384"/>
                    <a:gd name="T5" fmla="*/ 1 h 52"/>
                    <a:gd name="T6" fmla="*/ 1 w 384"/>
                    <a:gd name="T7" fmla="*/ 2 h 52"/>
                    <a:gd name="T8" fmla="*/ 1 w 384"/>
                    <a:gd name="T9" fmla="*/ 2 h 52"/>
                    <a:gd name="T10" fmla="*/ 1 w 384"/>
                    <a:gd name="T11" fmla="*/ 2 h 52"/>
                    <a:gd name="T12" fmla="*/ 2 w 384"/>
                    <a:gd name="T13" fmla="*/ 2 h 52"/>
                    <a:gd name="T14" fmla="*/ 2 w 384"/>
                    <a:gd name="T15" fmla="*/ 2 h 52"/>
                    <a:gd name="T16" fmla="*/ 2 w 384"/>
                    <a:gd name="T17" fmla="*/ 2 h 52"/>
                    <a:gd name="T18" fmla="*/ 3 w 384"/>
                    <a:gd name="T19" fmla="*/ 2 h 52"/>
                    <a:gd name="T20" fmla="*/ 3 w 384"/>
                    <a:gd name="T21" fmla="*/ 2 h 52"/>
                    <a:gd name="T22" fmla="*/ 5 w 384"/>
                    <a:gd name="T23" fmla="*/ 2 h 52"/>
                    <a:gd name="T24" fmla="*/ 6 w 384"/>
                    <a:gd name="T25" fmla="*/ 2 h 52"/>
                    <a:gd name="T26" fmla="*/ 7 w 384"/>
                    <a:gd name="T27" fmla="*/ 2 h 52"/>
                    <a:gd name="T28" fmla="*/ 9 w 384"/>
                    <a:gd name="T29" fmla="*/ 2 h 52"/>
                    <a:gd name="T30" fmla="*/ 10 w 384"/>
                    <a:gd name="T31" fmla="*/ 2 h 52"/>
                    <a:gd name="T32" fmla="*/ 11 w 384"/>
                    <a:gd name="T33" fmla="*/ 2 h 52"/>
                    <a:gd name="T34" fmla="*/ 11 w 384"/>
                    <a:gd name="T35" fmla="*/ 2 h 52"/>
                    <a:gd name="T36" fmla="*/ 11 w 384"/>
                    <a:gd name="T37" fmla="*/ 2 h 52"/>
                    <a:gd name="T38" fmla="*/ 12 w 384"/>
                    <a:gd name="T39" fmla="*/ 2 h 52"/>
                    <a:gd name="T40" fmla="*/ 12 w 384"/>
                    <a:gd name="T41" fmla="*/ 2 h 52"/>
                    <a:gd name="T42" fmla="*/ 12 w 384"/>
                    <a:gd name="T43" fmla="*/ 2 h 52"/>
                    <a:gd name="T44" fmla="*/ 12 w 384"/>
                    <a:gd name="T45" fmla="*/ 1 h 52"/>
                    <a:gd name="T46" fmla="*/ 12 w 384"/>
                    <a:gd name="T47" fmla="*/ 1 h 52"/>
                    <a:gd name="T48" fmla="*/ 12 w 384"/>
                    <a:gd name="T49" fmla="*/ 1 h 52"/>
                    <a:gd name="T50" fmla="*/ 12 w 384"/>
                    <a:gd name="T51" fmla="*/ 1 h 52"/>
                    <a:gd name="T52" fmla="*/ 12 w 384"/>
                    <a:gd name="T53" fmla="*/ 1 h 52"/>
                    <a:gd name="T54" fmla="*/ 12 w 384"/>
                    <a:gd name="T55" fmla="*/ 1 h 52"/>
                    <a:gd name="T56" fmla="*/ 12 w 384"/>
                    <a:gd name="T57" fmla="*/ 1 h 52"/>
                    <a:gd name="T58" fmla="*/ 12 w 384"/>
                    <a:gd name="T59" fmla="*/ 1 h 52"/>
                    <a:gd name="T60" fmla="*/ 11 w 384"/>
                    <a:gd name="T61" fmla="*/ 1 h 52"/>
                    <a:gd name="T62" fmla="*/ 11 w 384"/>
                    <a:gd name="T63" fmla="*/ 1 h 52"/>
                    <a:gd name="T64" fmla="*/ 11 w 384"/>
                    <a:gd name="T65" fmla="*/ 1 h 52"/>
                    <a:gd name="T66" fmla="*/ 10 w 384"/>
                    <a:gd name="T67" fmla="*/ 1 h 52"/>
                    <a:gd name="T68" fmla="*/ 9 w 384"/>
                    <a:gd name="T69" fmla="*/ 1 h 52"/>
                    <a:gd name="T70" fmla="*/ 7 w 384"/>
                    <a:gd name="T71" fmla="*/ 0 h 52"/>
                    <a:gd name="T72" fmla="*/ 6 w 384"/>
                    <a:gd name="T73" fmla="*/ 0 h 52"/>
                    <a:gd name="T74" fmla="*/ 5 w 384"/>
                    <a:gd name="T75" fmla="*/ 0 h 52"/>
                    <a:gd name="T76" fmla="*/ 3 w 384"/>
                    <a:gd name="T77" fmla="*/ 1 h 52"/>
                    <a:gd name="T78" fmla="*/ 3 w 384"/>
                    <a:gd name="T79" fmla="*/ 1 h 52"/>
                    <a:gd name="T80" fmla="*/ 2 w 384"/>
                    <a:gd name="T81" fmla="*/ 1 h 52"/>
                    <a:gd name="T82" fmla="*/ 2 w 384"/>
                    <a:gd name="T83" fmla="*/ 1 h 52"/>
                    <a:gd name="T84" fmla="*/ 2 w 384"/>
                    <a:gd name="T85" fmla="*/ 1 h 52"/>
                    <a:gd name="T86" fmla="*/ 1 w 384"/>
                    <a:gd name="T87" fmla="*/ 1 h 52"/>
                    <a:gd name="T88" fmla="*/ 1 w 384"/>
                    <a:gd name="T89" fmla="*/ 1 h 52"/>
                    <a:gd name="T90" fmla="*/ 1 w 384"/>
                    <a:gd name="T91" fmla="*/ 1 h 52"/>
                    <a:gd name="T92" fmla="*/ 1 w 384"/>
                    <a:gd name="T93" fmla="*/ 1 h 52"/>
                    <a:gd name="T94" fmla="*/ 1 w 384"/>
                    <a:gd name="T95" fmla="*/ 1 h 52"/>
                    <a:gd name="T96" fmla="*/ 0 w 384"/>
                    <a:gd name="T97" fmla="*/ 1 h 52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w 384"/>
                    <a:gd name="T148" fmla="*/ 0 h 52"/>
                    <a:gd name="T149" fmla="*/ 384 w 384"/>
                    <a:gd name="T150" fmla="*/ 52 h 52"/>
                  </a:gdLst>
                  <a:ahLst/>
                  <a:cxnLst>
                    <a:cxn ang="T98">
                      <a:pos x="T0" y="T1"/>
                    </a:cxn>
                    <a:cxn ang="T99">
                      <a:pos x="T2" y="T3"/>
                    </a:cxn>
                    <a:cxn ang="T100">
                      <a:pos x="T4" y="T5"/>
                    </a:cxn>
                    <a:cxn ang="T101">
                      <a:pos x="T6" y="T7"/>
                    </a:cxn>
                    <a:cxn ang="T102">
                      <a:pos x="T8" y="T9"/>
                    </a:cxn>
                    <a:cxn ang="T103">
                      <a:pos x="T10" y="T11"/>
                    </a:cxn>
                    <a:cxn ang="T104">
                      <a:pos x="T12" y="T13"/>
                    </a:cxn>
                    <a:cxn ang="T105">
                      <a:pos x="T14" y="T15"/>
                    </a:cxn>
                    <a:cxn ang="T106">
                      <a:pos x="T16" y="T17"/>
                    </a:cxn>
                    <a:cxn ang="T107">
                      <a:pos x="T18" y="T19"/>
                    </a:cxn>
                    <a:cxn ang="T108">
                      <a:pos x="T20" y="T21"/>
                    </a:cxn>
                    <a:cxn ang="T109">
                      <a:pos x="T22" y="T23"/>
                    </a:cxn>
                    <a:cxn ang="T110">
                      <a:pos x="T24" y="T25"/>
                    </a:cxn>
                    <a:cxn ang="T111">
                      <a:pos x="T26" y="T27"/>
                    </a:cxn>
                    <a:cxn ang="T112">
                      <a:pos x="T28" y="T29"/>
                    </a:cxn>
                    <a:cxn ang="T113">
                      <a:pos x="T30" y="T31"/>
                    </a:cxn>
                    <a:cxn ang="T114">
                      <a:pos x="T32" y="T33"/>
                    </a:cxn>
                    <a:cxn ang="T115">
                      <a:pos x="T34" y="T35"/>
                    </a:cxn>
                    <a:cxn ang="T116">
                      <a:pos x="T36" y="T37"/>
                    </a:cxn>
                    <a:cxn ang="T117">
                      <a:pos x="T38" y="T39"/>
                    </a:cxn>
                    <a:cxn ang="T118">
                      <a:pos x="T40" y="T41"/>
                    </a:cxn>
                    <a:cxn ang="T119">
                      <a:pos x="T42" y="T43"/>
                    </a:cxn>
                    <a:cxn ang="T120">
                      <a:pos x="T44" y="T45"/>
                    </a:cxn>
                    <a:cxn ang="T121">
                      <a:pos x="T46" y="T47"/>
                    </a:cxn>
                    <a:cxn ang="T122">
                      <a:pos x="T48" y="T49"/>
                    </a:cxn>
                    <a:cxn ang="T123">
                      <a:pos x="T50" y="T51"/>
                    </a:cxn>
                    <a:cxn ang="T124">
                      <a:pos x="T52" y="T53"/>
                    </a:cxn>
                    <a:cxn ang="T125">
                      <a:pos x="T54" y="T55"/>
                    </a:cxn>
                    <a:cxn ang="T126">
                      <a:pos x="T56" y="T57"/>
                    </a:cxn>
                    <a:cxn ang="T127">
                      <a:pos x="T58" y="T59"/>
                    </a:cxn>
                    <a:cxn ang="T128">
                      <a:pos x="T60" y="T61"/>
                    </a:cxn>
                    <a:cxn ang="T129">
                      <a:pos x="T62" y="T63"/>
                    </a:cxn>
                    <a:cxn ang="T130">
                      <a:pos x="T64" y="T65"/>
                    </a:cxn>
                    <a:cxn ang="T131">
                      <a:pos x="T66" y="T67"/>
                    </a:cxn>
                    <a:cxn ang="T132">
                      <a:pos x="T68" y="T69"/>
                    </a:cxn>
                    <a:cxn ang="T133">
                      <a:pos x="T70" y="T71"/>
                    </a:cxn>
                    <a:cxn ang="T134">
                      <a:pos x="T72" y="T73"/>
                    </a:cxn>
                    <a:cxn ang="T135">
                      <a:pos x="T74" y="T75"/>
                    </a:cxn>
                    <a:cxn ang="T136">
                      <a:pos x="T76" y="T77"/>
                    </a:cxn>
                    <a:cxn ang="T137">
                      <a:pos x="T78" y="T79"/>
                    </a:cxn>
                    <a:cxn ang="T138">
                      <a:pos x="T80" y="T81"/>
                    </a:cxn>
                    <a:cxn ang="T139">
                      <a:pos x="T82" y="T83"/>
                    </a:cxn>
                    <a:cxn ang="T140">
                      <a:pos x="T84" y="T85"/>
                    </a:cxn>
                    <a:cxn ang="T141">
                      <a:pos x="T86" y="T87"/>
                    </a:cxn>
                    <a:cxn ang="T142">
                      <a:pos x="T88" y="T89"/>
                    </a:cxn>
                    <a:cxn ang="T143">
                      <a:pos x="T90" y="T91"/>
                    </a:cxn>
                    <a:cxn ang="T144">
                      <a:pos x="T92" y="T93"/>
                    </a:cxn>
                    <a:cxn ang="T145">
                      <a:pos x="T94" y="T95"/>
                    </a:cxn>
                    <a:cxn ang="T146">
                      <a:pos x="T96" y="T97"/>
                    </a:cxn>
                  </a:cxnLst>
                  <a:rect l="T147" t="T148" r="T149" b="T150"/>
                  <a:pathLst>
                    <a:path w="384" h="52">
                      <a:moveTo>
                        <a:pt x="0" y="25"/>
                      </a:moveTo>
                      <a:lnTo>
                        <a:pt x="1" y="28"/>
                      </a:lnTo>
                      <a:lnTo>
                        <a:pt x="3" y="30"/>
                      </a:lnTo>
                      <a:lnTo>
                        <a:pt x="8" y="33"/>
                      </a:lnTo>
                      <a:lnTo>
                        <a:pt x="15" y="35"/>
                      </a:lnTo>
                      <a:lnTo>
                        <a:pt x="22" y="38"/>
                      </a:lnTo>
                      <a:lnTo>
                        <a:pt x="33" y="40"/>
                      </a:lnTo>
                      <a:lnTo>
                        <a:pt x="44" y="43"/>
                      </a:lnTo>
                      <a:lnTo>
                        <a:pt x="56" y="44"/>
                      </a:lnTo>
                      <a:lnTo>
                        <a:pt x="85" y="48"/>
                      </a:lnTo>
                      <a:lnTo>
                        <a:pt x="117" y="49"/>
                      </a:lnTo>
                      <a:lnTo>
                        <a:pt x="154" y="52"/>
                      </a:lnTo>
                      <a:lnTo>
                        <a:pt x="192" y="52"/>
                      </a:lnTo>
                      <a:lnTo>
                        <a:pt x="230" y="52"/>
                      </a:lnTo>
                      <a:lnTo>
                        <a:pt x="267" y="49"/>
                      </a:lnTo>
                      <a:lnTo>
                        <a:pt x="299" y="48"/>
                      </a:lnTo>
                      <a:lnTo>
                        <a:pt x="328" y="44"/>
                      </a:lnTo>
                      <a:lnTo>
                        <a:pt x="339" y="43"/>
                      </a:lnTo>
                      <a:lnTo>
                        <a:pt x="351" y="40"/>
                      </a:lnTo>
                      <a:lnTo>
                        <a:pt x="361" y="38"/>
                      </a:lnTo>
                      <a:lnTo>
                        <a:pt x="369" y="35"/>
                      </a:lnTo>
                      <a:lnTo>
                        <a:pt x="375" y="33"/>
                      </a:lnTo>
                      <a:lnTo>
                        <a:pt x="380" y="30"/>
                      </a:lnTo>
                      <a:lnTo>
                        <a:pt x="383" y="28"/>
                      </a:lnTo>
                      <a:lnTo>
                        <a:pt x="384" y="25"/>
                      </a:lnTo>
                      <a:lnTo>
                        <a:pt x="383" y="23"/>
                      </a:lnTo>
                      <a:lnTo>
                        <a:pt x="380" y="20"/>
                      </a:lnTo>
                      <a:lnTo>
                        <a:pt x="375" y="17"/>
                      </a:lnTo>
                      <a:lnTo>
                        <a:pt x="369" y="15"/>
                      </a:lnTo>
                      <a:lnTo>
                        <a:pt x="361" y="14"/>
                      </a:lnTo>
                      <a:lnTo>
                        <a:pt x="351" y="11"/>
                      </a:lnTo>
                      <a:lnTo>
                        <a:pt x="339" y="9"/>
                      </a:lnTo>
                      <a:lnTo>
                        <a:pt x="328" y="7"/>
                      </a:lnTo>
                      <a:lnTo>
                        <a:pt x="299" y="3"/>
                      </a:lnTo>
                      <a:lnTo>
                        <a:pt x="267" y="2"/>
                      </a:lnTo>
                      <a:lnTo>
                        <a:pt x="230" y="0"/>
                      </a:lnTo>
                      <a:lnTo>
                        <a:pt x="192" y="0"/>
                      </a:lnTo>
                      <a:lnTo>
                        <a:pt x="154" y="0"/>
                      </a:lnTo>
                      <a:lnTo>
                        <a:pt x="117" y="2"/>
                      </a:lnTo>
                      <a:lnTo>
                        <a:pt x="85" y="3"/>
                      </a:lnTo>
                      <a:lnTo>
                        <a:pt x="56" y="7"/>
                      </a:lnTo>
                      <a:lnTo>
                        <a:pt x="44" y="9"/>
                      </a:lnTo>
                      <a:lnTo>
                        <a:pt x="33" y="11"/>
                      </a:lnTo>
                      <a:lnTo>
                        <a:pt x="22" y="14"/>
                      </a:lnTo>
                      <a:lnTo>
                        <a:pt x="15" y="15"/>
                      </a:lnTo>
                      <a:lnTo>
                        <a:pt x="8" y="17"/>
                      </a:lnTo>
                      <a:lnTo>
                        <a:pt x="3" y="20"/>
                      </a:lnTo>
                      <a:lnTo>
                        <a:pt x="1" y="23"/>
                      </a:lnTo>
                      <a:lnTo>
                        <a:pt x="0" y="25"/>
                      </a:lnTo>
                      <a:close/>
                    </a:path>
                  </a:pathLst>
                </a:custGeom>
                <a:solidFill>
                  <a:srgbClr val="EFEFE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de-CH"/>
                </a:p>
              </p:txBody>
            </p:sp>
            <p:sp>
              <p:nvSpPr>
                <p:cNvPr id="21729" name="Freeform 44"/>
                <p:cNvSpPr>
                  <a:spLocks/>
                </p:cNvSpPr>
                <p:nvPr/>
              </p:nvSpPr>
              <p:spPr bwMode="auto">
                <a:xfrm>
                  <a:off x="531" y="2609"/>
                  <a:ext cx="192" cy="104"/>
                </a:xfrm>
                <a:custGeom>
                  <a:avLst/>
                  <a:gdLst>
                    <a:gd name="T0" fmla="*/ 6 w 384"/>
                    <a:gd name="T1" fmla="*/ 0 h 207"/>
                    <a:gd name="T2" fmla="*/ 5 w 384"/>
                    <a:gd name="T3" fmla="*/ 0 h 207"/>
                    <a:gd name="T4" fmla="*/ 3 w 384"/>
                    <a:gd name="T5" fmla="*/ 1 h 207"/>
                    <a:gd name="T6" fmla="*/ 3 w 384"/>
                    <a:gd name="T7" fmla="*/ 1 h 207"/>
                    <a:gd name="T8" fmla="*/ 2 w 384"/>
                    <a:gd name="T9" fmla="*/ 1 h 207"/>
                    <a:gd name="T10" fmla="*/ 2 w 384"/>
                    <a:gd name="T11" fmla="*/ 1 h 207"/>
                    <a:gd name="T12" fmla="*/ 2 w 384"/>
                    <a:gd name="T13" fmla="*/ 1 h 207"/>
                    <a:gd name="T14" fmla="*/ 1 w 384"/>
                    <a:gd name="T15" fmla="*/ 1 h 207"/>
                    <a:gd name="T16" fmla="*/ 1 w 384"/>
                    <a:gd name="T17" fmla="*/ 1 h 207"/>
                    <a:gd name="T18" fmla="*/ 1 w 384"/>
                    <a:gd name="T19" fmla="*/ 1 h 207"/>
                    <a:gd name="T20" fmla="*/ 1 w 384"/>
                    <a:gd name="T21" fmla="*/ 1 h 207"/>
                    <a:gd name="T22" fmla="*/ 1 w 384"/>
                    <a:gd name="T23" fmla="*/ 1 h 207"/>
                    <a:gd name="T24" fmla="*/ 0 w 384"/>
                    <a:gd name="T25" fmla="*/ 1 h 207"/>
                    <a:gd name="T26" fmla="*/ 0 w 384"/>
                    <a:gd name="T27" fmla="*/ 6 h 207"/>
                    <a:gd name="T28" fmla="*/ 1 w 384"/>
                    <a:gd name="T29" fmla="*/ 6 h 207"/>
                    <a:gd name="T30" fmla="*/ 1 w 384"/>
                    <a:gd name="T31" fmla="*/ 6 h 207"/>
                    <a:gd name="T32" fmla="*/ 1 w 384"/>
                    <a:gd name="T33" fmla="*/ 6 h 207"/>
                    <a:gd name="T34" fmla="*/ 1 w 384"/>
                    <a:gd name="T35" fmla="*/ 6 h 207"/>
                    <a:gd name="T36" fmla="*/ 1 w 384"/>
                    <a:gd name="T37" fmla="*/ 7 h 207"/>
                    <a:gd name="T38" fmla="*/ 2 w 384"/>
                    <a:gd name="T39" fmla="*/ 7 h 207"/>
                    <a:gd name="T40" fmla="*/ 2 w 384"/>
                    <a:gd name="T41" fmla="*/ 7 h 207"/>
                    <a:gd name="T42" fmla="*/ 2 w 384"/>
                    <a:gd name="T43" fmla="*/ 7 h 207"/>
                    <a:gd name="T44" fmla="*/ 3 w 384"/>
                    <a:gd name="T45" fmla="*/ 7 h 207"/>
                    <a:gd name="T46" fmla="*/ 3 w 384"/>
                    <a:gd name="T47" fmla="*/ 7 h 207"/>
                    <a:gd name="T48" fmla="*/ 5 w 384"/>
                    <a:gd name="T49" fmla="*/ 7 h 207"/>
                    <a:gd name="T50" fmla="*/ 6 w 384"/>
                    <a:gd name="T51" fmla="*/ 7 h 207"/>
                    <a:gd name="T52" fmla="*/ 7 w 384"/>
                    <a:gd name="T53" fmla="*/ 7 h 207"/>
                    <a:gd name="T54" fmla="*/ 9 w 384"/>
                    <a:gd name="T55" fmla="*/ 7 h 207"/>
                    <a:gd name="T56" fmla="*/ 10 w 384"/>
                    <a:gd name="T57" fmla="*/ 7 h 207"/>
                    <a:gd name="T58" fmla="*/ 11 w 384"/>
                    <a:gd name="T59" fmla="*/ 7 h 207"/>
                    <a:gd name="T60" fmla="*/ 11 w 384"/>
                    <a:gd name="T61" fmla="*/ 7 h 207"/>
                    <a:gd name="T62" fmla="*/ 11 w 384"/>
                    <a:gd name="T63" fmla="*/ 7 h 207"/>
                    <a:gd name="T64" fmla="*/ 12 w 384"/>
                    <a:gd name="T65" fmla="*/ 7 h 207"/>
                    <a:gd name="T66" fmla="*/ 12 w 384"/>
                    <a:gd name="T67" fmla="*/ 6 h 207"/>
                    <a:gd name="T68" fmla="*/ 12 w 384"/>
                    <a:gd name="T69" fmla="*/ 6 h 207"/>
                    <a:gd name="T70" fmla="*/ 12 w 384"/>
                    <a:gd name="T71" fmla="*/ 6 h 207"/>
                    <a:gd name="T72" fmla="*/ 12 w 384"/>
                    <a:gd name="T73" fmla="*/ 6 h 207"/>
                    <a:gd name="T74" fmla="*/ 12 w 384"/>
                    <a:gd name="T75" fmla="*/ 6 h 207"/>
                    <a:gd name="T76" fmla="*/ 12 w 384"/>
                    <a:gd name="T77" fmla="*/ 1 h 207"/>
                    <a:gd name="T78" fmla="*/ 12 w 384"/>
                    <a:gd name="T79" fmla="*/ 1 h 207"/>
                    <a:gd name="T80" fmla="*/ 12 w 384"/>
                    <a:gd name="T81" fmla="*/ 1 h 207"/>
                    <a:gd name="T82" fmla="*/ 12 w 384"/>
                    <a:gd name="T83" fmla="*/ 1 h 207"/>
                    <a:gd name="T84" fmla="*/ 12 w 384"/>
                    <a:gd name="T85" fmla="*/ 1 h 207"/>
                    <a:gd name="T86" fmla="*/ 12 w 384"/>
                    <a:gd name="T87" fmla="*/ 1 h 207"/>
                    <a:gd name="T88" fmla="*/ 11 w 384"/>
                    <a:gd name="T89" fmla="*/ 1 h 207"/>
                    <a:gd name="T90" fmla="*/ 11 w 384"/>
                    <a:gd name="T91" fmla="*/ 1 h 207"/>
                    <a:gd name="T92" fmla="*/ 11 w 384"/>
                    <a:gd name="T93" fmla="*/ 1 h 207"/>
                    <a:gd name="T94" fmla="*/ 10 w 384"/>
                    <a:gd name="T95" fmla="*/ 1 h 207"/>
                    <a:gd name="T96" fmla="*/ 9 w 384"/>
                    <a:gd name="T97" fmla="*/ 1 h 207"/>
                    <a:gd name="T98" fmla="*/ 7 w 384"/>
                    <a:gd name="T99" fmla="*/ 0 h 207"/>
                    <a:gd name="T100" fmla="*/ 6 w 384"/>
                    <a:gd name="T101" fmla="*/ 0 h 207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w 384"/>
                    <a:gd name="T154" fmla="*/ 0 h 207"/>
                    <a:gd name="T155" fmla="*/ 384 w 384"/>
                    <a:gd name="T156" fmla="*/ 207 h 207"/>
                  </a:gdLst>
                  <a:ahLst/>
                  <a:cxnLst>
                    <a:cxn ang="T102">
                      <a:pos x="T0" y="T1"/>
                    </a:cxn>
                    <a:cxn ang="T103">
                      <a:pos x="T2" y="T3"/>
                    </a:cxn>
                    <a:cxn ang="T104">
                      <a:pos x="T4" y="T5"/>
                    </a:cxn>
                    <a:cxn ang="T105">
                      <a:pos x="T6" y="T7"/>
                    </a:cxn>
                    <a:cxn ang="T106">
                      <a:pos x="T8" y="T9"/>
                    </a:cxn>
                    <a:cxn ang="T107">
                      <a:pos x="T10" y="T11"/>
                    </a:cxn>
                    <a:cxn ang="T108">
                      <a:pos x="T12" y="T13"/>
                    </a:cxn>
                    <a:cxn ang="T109">
                      <a:pos x="T14" y="T15"/>
                    </a:cxn>
                    <a:cxn ang="T110">
                      <a:pos x="T16" y="T17"/>
                    </a:cxn>
                    <a:cxn ang="T111">
                      <a:pos x="T18" y="T19"/>
                    </a:cxn>
                    <a:cxn ang="T112">
                      <a:pos x="T20" y="T21"/>
                    </a:cxn>
                    <a:cxn ang="T113">
                      <a:pos x="T22" y="T23"/>
                    </a:cxn>
                    <a:cxn ang="T114">
                      <a:pos x="T24" y="T25"/>
                    </a:cxn>
                    <a:cxn ang="T115">
                      <a:pos x="T26" y="T27"/>
                    </a:cxn>
                    <a:cxn ang="T116">
                      <a:pos x="T28" y="T29"/>
                    </a:cxn>
                    <a:cxn ang="T117">
                      <a:pos x="T30" y="T31"/>
                    </a:cxn>
                    <a:cxn ang="T118">
                      <a:pos x="T32" y="T33"/>
                    </a:cxn>
                    <a:cxn ang="T119">
                      <a:pos x="T34" y="T35"/>
                    </a:cxn>
                    <a:cxn ang="T120">
                      <a:pos x="T36" y="T37"/>
                    </a:cxn>
                    <a:cxn ang="T121">
                      <a:pos x="T38" y="T39"/>
                    </a:cxn>
                    <a:cxn ang="T122">
                      <a:pos x="T40" y="T41"/>
                    </a:cxn>
                    <a:cxn ang="T123">
                      <a:pos x="T42" y="T43"/>
                    </a:cxn>
                    <a:cxn ang="T124">
                      <a:pos x="T44" y="T45"/>
                    </a:cxn>
                    <a:cxn ang="T125">
                      <a:pos x="T46" y="T47"/>
                    </a:cxn>
                    <a:cxn ang="T126">
                      <a:pos x="T48" y="T49"/>
                    </a:cxn>
                    <a:cxn ang="T127">
                      <a:pos x="T50" y="T51"/>
                    </a:cxn>
                    <a:cxn ang="T128">
                      <a:pos x="T52" y="T53"/>
                    </a:cxn>
                    <a:cxn ang="T129">
                      <a:pos x="T54" y="T55"/>
                    </a:cxn>
                    <a:cxn ang="T130">
                      <a:pos x="T56" y="T57"/>
                    </a:cxn>
                    <a:cxn ang="T131">
                      <a:pos x="T58" y="T59"/>
                    </a:cxn>
                    <a:cxn ang="T132">
                      <a:pos x="T60" y="T61"/>
                    </a:cxn>
                    <a:cxn ang="T133">
                      <a:pos x="T62" y="T63"/>
                    </a:cxn>
                    <a:cxn ang="T134">
                      <a:pos x="T64" y="T65"/>
                    </a:cxn>
                    <a:cxn ang="T135">
                      <a:pos x="T66" y="T67"/>
                    </a:cxn>
                    <a:cxn ang="T136">
                      <a:pos x="T68" y="T69"/>
                    </a:cxn>
                    <a:cxn ang="T137">
                      <a:pos x="T70" y="T71"/>
                    </a:cxn>
                    <a:cxn ang="T138">
                      <a:pos x="T72" y="T73"/>
                    </a:cxn>
                    <a:cxn ang="T139">
                      <a:pos x="T74" y="T75"/>
                    </a:cxn>
                    <a:cxn ang="T140">
                      <a:pos x="T76" y="T77"/>
                    </a:cxn>
                    <a:cxn ang="T141">
                      <a:pos x="T78" y="T79"/>
                    </a:cxn>
                    <a:cxn ang="T142">
                      <a:pos x="T80" y="T81"/>
                    </a:cxn>
                    <a:cxn ang="T143">
                      <a:pos x="T82" y="T83"/>
                    </a:cxn>
                    <a:cxn ang="T144">
                      <a:pos x="T84" y="T85"/>
                    </a:cxn>
                    <a:cxn ang="T145">
                      <a:pos x="T86" y="T87"/>
                    </a:cxn>
                    <a:cxn ang="T146">
                      <a:pos x="T88" y="T89"/>
                    </a:cxn>
                    <a:cxn ang="T147">
                      <a:pos x="T90" y="T91"/>
                    </a:cxn>
                    <a:cxn ang="T148">
                      <a:pos x="T92" y="T93"/>
                    </a:cxn>
                    <a:cxn ang="T149">
                      <a:pos x="T94" y="T95"/>
                    </a:cxn>
                    <a:cxn ang="T150">
                      <a:pos x="T96" y="T97"/>
                    </a:cxn>
                    <a:cxn ang="T151">
                      <a:pos x="T98" y="T99"/>
                    </a:cxn>
                    <a:cxn ang="T152">
                      <a:pos x="T100" y="T101"/>
                    </a:cxn>
                  </a:cxnLst>
                  <a:rect l="T153" t="T154" r="T155" b="T156"/>
                  <a:pathLst>
                    <a:path w="384" h="207">
                      <a:moveTo>
                        <a:pt x="192" y="0"/>
                      </a:moveTo>
                      <a:lnTo>
                        <a:pt x="154" y="0"/>
                      </a:lnTo>
                      <a:lnTo>
                        <a:pt x="117" y="2"/>
                      </a:lnTo>
                      <a:lnTo>
                        <a:pt x="85" y="3"/>
                      </a:lnTo>
                      <a:lnTo>
                        <a:pt x="56" y="7"/>
                      </a:lnTo>
                      <a:lnTo>
                        <a:pt x="44" y="9"/>
                      </a:lnTo>
                      <a:lnTo>
                        <a:pt x="33" y="11"/>
                      </a:lnTo>
                      <a:lnTo>
                        <a:pt x="22" y="14"/>
                      </a:lnTo>
                      <a:lnTo>
                        <a:pt x="15" y="15"/>
                      </a:lnTo>
                      <a:lnTo>
                        <a:pt x="8" y="17"/>
                      </a:lnTo>
                      <a:lnTo>
                        <a:pt x="3" y="20"/>
                      </a:lnTo>
                      <a:lnTo>
                        <a:pt x="1" y="23"/>
                      </a:lnTo>
                      <a:lnTo>
                        <a:pt x="0" y="25"/>
                      </a:lnTo>
                      <a:lnTo>
                        <a:pt x="0" y="182"/>
                      </a:lnTo>
                      <a:lnTo>
                        <a:pt x="1" y="184"/>
                      </a:lnTo>
                      <a:lnTo>
                        <a:pt x="3" y="187"/>
                      </a:lnTo>
                      <a:lnTo>
                        <a:pt x="8" y="190"/>
                      </a:lnTo>
                      <a:lnTo>
                        <a:pt x="15" y="192"/>
                      </a:lnTo>
                      <a:lnTo>
                        <a:pt x="22" y="195"/>
                      </a:lnTo>
                      <a:lnTo>
                        <a:pt x="33" y="196"/>
                      </a:lnTo>
                      <a:lnTo>
                        <a:pt x="44" y="199"/>
                      </a:lnTo>
                      <a:lnTo>
                        <a:pt x="56" y="200"/>
                      </a:lnTo>
                      <a:lnTo>
                        <a:pt x="85" y="204"/>
                      </a:lnTo>
                      <a:lnTo>
                        <a:pt x="117" y="205"/>
                      </a:lnTo>
                      <a:lnTo>
                        <a:pt x="154" y="207"/>
                      </a:lnTo>
                      <a:lnTo>
                        <a:pt x="192" y="207"/>
                      </a:lnTo>
                      <a:lnTo>
                        <a:pt x="230" y="207"/>
                      </a:lnTo>
                      <a:lnTo>
                        <a:pt x="267" y="205"/>
                      </a:lnTo>
                      <a:lnTo>
                        <a:pt x="299" y="204"/>
                      </a:lnTo>
                      <a:lnTo>
                        <a:pt x="328" y="200"/>
                      </a:lnTo>
                      <a:lnTo>
                        <a:pt x="339" y="199"/>
                      </a:lnTo>
                      <a:lnTo>
                        <a:pt x="351" y="196"/>
                      </a:lnTo>
                      <a:lnTo>
                        <a:pt x="361" y="195"/>
                      </a:lnTo>
                      <a:lnTo>
                        <a:pt x="369" y="192"/>
                      </a:lnTo>
                      <a:lnTo>
                        <a:pt x="375" y="190"/>
                      </a:lnTo>
                      <a:lnTo>
                        <a:pt x="380" y="187"/>
                      </a:lnTo>
                      <a:lnTo>
                        <a:pt x="383" y="184"/>
                      </a:lnTo>
                      <a:lnTo>
                        <a:pt x="384" y="182"/>
                      </a:lnTo>
                      <a:lnTo>
                        <a:pt x="384" y="25"/>
                      </a:lnTo>
                      <a:lnTo>
                        <a:pt x="383" y="23"/>
                      </a:lnTo>
                      <a:lnTo>
                        <a:pt x="380" y="20"/>
                      </a:lnTo>
                      <a:lnTo>
                        <a:pt x="375" y="17"/>
                      </a:lnTo>
                      <a:lnTo>
                        <a:pt x="369" y="15"/>
                      </a:lnTo>
                      <a:lnTo>
                        <a:pt x="361" y="14"/>
                      </a:lnTo>
                      <a:lnTo>
                        <a:pt x="351" y="11"/>
                      </a:lnTo>
                      <a:lnTo>
                        <a:pt x="339" y="9"/>
                      </a:lnTo>
                      <a:lnTo>
                        <a:pt x="328" y="7"/>
                      </a:lnTo>
                      <a:lnTo>
                        <a:pt x="299" y="3"/>
                      </a:lnTo>
                      <a:lnTo>
                        <a:pt x="267" y="2"/>
                      </a:lnTo>
                      <a:lnTo>
                        <a:pt x="230" y="0"/>
                      </a:lnTo>
                      <a:lnTo>
                        <a:pt x="192" y="0"/>
                      </a:lnTo>
                      <a:close/>
                    </a:path>
                  </a:pathLst>
                </a:custGeom>
                <a:noFill/>
                <a:ln w="5">
                  <a:solidFill>
                    <a:srgbClr val="DDDDDD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de-CH"/>
                </a:p>
              </p:txBody>
            </p:sp>
            <p:sp>
              <p:nvSpPr>
                <p:cNvPr id="21730" name="Freeform 45"/>
                <p:cNvSpPr>
                  <a:spLocks/>
                </p:cNvSpPr>
                <p:nvPr/>
              </p:nvSpPr>
              <p:spPr bwMode="auto">
                <a:xfrm>
                  <a:off x="531" y="2622"/>
                  <a:ext cx="192" cy="13"/>
                </a:xfrm>
                <a:custGeom>
                  <a:avLst/>
                  <a:gdLst>
                    <a:gd name="T0" fmla="*/ 0 w 384"/>
                    <a:gd name="T1" fmla="*/ 0 h 27"/>
                    <a:gd name="T2" fmla="*/ 1 w 384"/>
                    <a:gd name="T3" fmla="*/ 0 h 27"/>
                    <a:gd name="T4" fmla="*/ 1 w 384"/>
                    <a:gd name="T5" fmla="*/ 0 h 27"/>
                    <a:gd name="T6" fmla="*/ 1 w 384"/>
                    <a:gd name="T7" fmla="*/ 0 h 27"/>
                    <a:gd name="T8" fmla="*/ 1 w 384"/>
                    <a:gd name="T9" fmla="*/ 0 h 27"/>
                    <a:gd name="T10" fmla="*/ 1 w 384"/>
                    <a:gd name="T11" fmla="*/ 0 h 27"/>
                    <a:gd name="T12" fmla="*/ 2 w 384"/>
                    <a:gd name="T13" fmla="*/ 0 h 27"/>
                    <a:gd name="T14" fmla="*/ 2 w 384"/>
                    <a:gd name="T15" fmla="*/ 0 h 27"/>
                    <a:gd name="T16" fmla="*/ 2 w 384"/>
                    <a:gd name="T17" fmla="*/ 0 h 27"/>
                    <a:gd name="T18" fmla="*/ 3 w 384"/>
                    <a:gd name="T19" fmla="*/ 0 h 27"/>
                    <a:gd name="T20" fmla="*/ 3 w 384"/>
                    <a:gd name="T21" fmla="*/ 0 h 27"/>
                    <a:gd name="T22" fmla="*/ 5 w 384"/>
                    <a:gd name="T23" fmla="*/ 0 h 27"/>
                    <a:gd name="T24" fmla="*/ 6 w 384"/>
                    <a:gd name="T25" fmla="*/ 0 h 27"/>
                    <a:gd name="T26" fmla="*/ 7 w 384"/>
                    <a:gd name="T27" fmla="*/ 0 h 27"/>
                    <a:gd name="T28" fmla="*/ 9 w 384"/>
                    <a:gd name="T29" fmla="*/ 0 h 27"/>
                    <a:gd name="T30" fmla="*/ 10 w 384"/>
                    <a:gd name="T31" fmla="*/ 0 h 27"/>
                    <a:gd name="T32" fmla="*/ 11 w 384"/>
                    <a:gd name="T33" fmla="*/ 0 h 27"/>
                    <a:gd name="T34" fmla="*/ 11 w 384"/>
                    <a:gd name="T35" fmla="*/ 0 h 27"/>
                    <a:gd name="T36" fmla="*/ 11 w 384"/>
                    <a:gd name="T37" fmla="*/ 0 h 27"/>
                    <a:gd name="T38" fmla="*/ 12 w 384"/>
                    <a:gd name="T39" fmla="*/ 0 h 27"/>
                    <a:gd name="T40" fmla="*/ 12 w 384"/>
                    <a:gd name="T41" fmla="*/ 0 h 27"/>
                    <a:gd name="T42" fmla="*/ 12 w 384"/>
                    <a:gd name="T43" fmla="*/ 0 h 27"/>
                    <a:gd name="T44" fmla="*/ 12 w 384"/>
                    <a:gd name="T45" fmla="*/ 0 h 27"/>
                    <a:gd name="T46" fmla="*/ 12 w 384"/>
                    <a:gd name="T47" fmla="*/ 0 h 27"/>
                    <a:gd name="T48" fmla="*/ 12 w 384"/>
                    <a:gd name="T49" fmla="*/ 0 h 27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w 384"/>
                    <a:gd name="T76" fmla="*/ 0 h 27"/>
                    <a:gd name="T77" fmla="*/ 384 w 384"/>
                    <a:gd name="T78" fmla="*/ 27 h 27"/>
                  </a:gdLst>
                  <a:ahLst/>
                  <a:cxnLst>
                    <a:cxn ang="T50">
                      <a:pos x="T0" y="T1"/>
                    </a:cxn>
                    <a:cxn ang="T51">
                      <a:pos x="T2" y="T3"/>
                    </a:cxn>
                    <a:cxn ang="T52">
                      <a:pos x="T4" y="T5"/>
                    </a:cxn>
                    <a:cxn ang="T53">
                      <a:pos x="T6" y="T7"/>
                    </a:cxn>
                    <a:cxn ang="T54">
                      <a:pos x="T8" y="T9"/>
                    </a:cxn>
                    <a:cxn ang="T55">
                      <a:pos x="T10" y="T11"/>
                    </a:cxn>
                    <a:cxn ang="T56">
                      <a:pos x="T12" y="T13"/>
                    </a:cxn>
                    <a:cxn ang="T57">
                      <a:pos x="T14" y="T15"/>
                    </a:cxn>
                    <a:cxn ang="T58">
                      <a:pos x="T16" y="T17"/>
                    </a:cxn>
                    <a:cxn ang="T59">
                      <a:pos x="T18" y="T19"/>
                    </a:cxn>
                    <a:cxn ang="T60">
                      <a:pos x="T20" y="T21"/>
                    </a:cxn>
                    <a:cxn ang="T61">
                      <a:pos x="T22" y="T23"/>
                    </a:cxn>
                    <a:cxn ang="T62">
                      <a:pos x="T24" y="T25"/>
                    </a:cxn>
                    <a:cxn ang="T63">
                      <a:pos x="T26" y="T27"/>
                    </a:cxn>
                    <a:cxn ang="T64">
                      <a:pos x="T28" y="T29"/>
                    </a:cxn>
                    <a:cxn ang="T65">
                      <a:pos x="T30" y="T31"/>
                    </a:cxn>
                    <a:cxn ang="T66">
                      <a:pos x="T32" y="T33"/>
                    </a:cxn>
                    <a:cxn ang="T67">
                      <a:pos x="T34" y="T35"/>
                    </a:cxn>
                    <a:cxn ang="T68">
                      <a:pos x="T36" y="T37"/>
                    </a:cxn>
                    <a:cxn ang="T69">
                      <a:pos x="T38" y="T39"/>
                    </a:cxn>
                    <a:cxn ang="T70">
                      <a:pos x="T40" y="T41"/>
                    </a:cxn>
                    <a:cxn ang="T71">
                      <a:pos x="T42" y="T43"/>
                    </a:cxn>
                    <a:cxn ang="T72">
                      <a:pos x="T44" y="T45"/>
                    </a:cxn>
                    <a:cxn ang="T73">
                      <a:pos x="T46" y="T47"/>
                    </a:cxn>
                    <a:cxn ang="T74">
                      <a:pos x="T48" y="T49"/>
                    </a:cxn>
                  </a:cxnLst>
                  <a:rect l="T75" t="T76" r="T77" b="T78"/>
                  <a:pathLst>
                    <a:path w="384" h="27">
                      <a:moveTo>
                        <a:pt x="0" y="0"/>
                      </a:moveTo>
                      <a:lnTo>
                        <a:pt x="1" y="3"/>
                      </a:lnTo>
                      <a:lnTo>
                        <a:pt x="3" y="5"/>
                      </a:lnTo>
                      <a:lnTo>
                        <a:pt x="8" y="8"/>
                      </a:lnTo>
                      <a:lnTo>
                        <a:pt x="15" y="10"/>
                      </a:lnTo>
                      <a:lnTo>
                        <a:pt x="22" y="13"/>
                      </a:lnTo>
                      <a:lnTo>
                        <a:pt x="33" y="15"/>
                      </a:lnTo>
                      <a:lnTo>
                        <a:pt x="44" y="18"/>
                      </a:lnTo>
                      <a:lnTo>
                        <a:pt x="56" y="19"/>
                      </a:lnTo>
                      <a:lnTo>
                        <a:pt x="85" y="23"/>
                      </a:lnTo>
                      <a:lnTo>
                        <a:pt x="117" y="24"/>
                      </a:lnTo>
                      <a:lnTo>
                        <a:pt x="154" y="27"/>
                      </a:lnTo>
                      <a:lnTo>
                        <a:pt x="192" y="27"/>
                      </a:lnTo>
                      <a:lnTo>
                        <a:pt x="230" y="27"/>
                      </a:lnTo>
                      <a:lnTo>
                        <a:pt x="267" y="24"/>
                      </a:lnTo>
                      <a:lnTo>
                        <a:pt x="299" y="23"/>
                      </a:lnTo>
                      <a:lnTo>
                        <a:pt x="328" y="19"/>
                      </a:lnTo>
                      <a:lnTo>
                        <a:pt x="339" y="18"/>
                      </a:lnTo>
                      <a:lnTo>
                        <a:pt x="351" y="15"/>
                      </a:lnTo>
                      <a:lnTo>
                        <a:pt x="361" y="13"/>
                      </a:lnTo>
                      <a:lnTo>
                        <a:pt x="369" y="10"/>
                      </a:lnTo>
                      <a:lnTo>
                        <a:pt x="375" y="8"/>
                      </a:lnTo>
                      <a:lnTo>
                        <a:pt x="380" y="5"/>
                      </a:lnTo>
                      <a:lnTo>
                        <a:pt x="383" y="3"/>
                      </a:lnTo>
                      <a:lnTo>
                        <a:pt x="384" y="0"/>
                      </a:lnTo>
                    </a:path>
                  </a:pathLst>
                </a:custGeom>
                <a:noFill/>
                <a:ln w="5">
                  <a:solidFill>
                    <a:srgbClr val="DDDDDD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de-CH"/>
                </a:p>
              </p:txBody>
            </p:sp>
          </p:grpSp>
          <p:sp>
            <p:nvSpPr>
              <p:cNvPr id="21523" name="Rectangle 47"/>
              <p:cNvSpPr>
                <a:spLocks noChangeArrowheads="1"/>
              </p:cNvSpPr>
              <p:nvPr/>
            </p:nvSpPr>
            <p:spPr bwMode="auto">
              <a:xfrm>
                <a:off x="180" y="2659"/>
                <a:ext cx="652" cy="18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21524" name="Rectangle 48"/>
              <p:cNvSpPr>
                <a:spLocks noChangeArrowheads="1"/>
              </p:cNvSpPr>
              <p:nvPr/>
            </p:nvSpPr>
            <p:spPr bwMode="auto">
              <a:xfrm>
                <a:off x="365" y="2680"/>
                <a:ext cx="342" cy="8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de-DE" sz="800" b="1">
                    <a:solidFill>
                      <a:srgbClr val="292929"/>
                    </a:solidFill>
                  </a:rPr>
                  <a:t>Operative </a:t>
                </a:r>
                <a:endParaRPr lang="de-DE"/>
              </a:p>
            </p:txBody>
          </p:sp>
          <p:sp>
            <p:nvSpPr>
              <p:cNvPr id="21525" name="Rectangle 49"/>
              <p:cNvSpPr>
                <a:spLocks noChangeArrowheads="1"/>
              </p:cNvSpPr>
              <p:nvPr/>
            </p:nvSpPr>
            <p:spPr bwMode="auto">
              <a:xfrm>
                <a:off x="380" y="2754"/>
                <a:ext cx="291" cy="8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de-DE" sz="800" b="1">
                    <a:solidFill>
                      <a:srgbClr val="292929"/>
                    </a:solidFill>
                  </a:rPr>
                  <a:t>Systeme</a:t>
                </a:r>
                <a:endParaRPr lang="de-DE"/>
              </a:p>
            </p:txBody>
          </p:sp>
          <p:sp>
            <p:nvSpPr>
              <p:cNvPr id="21526" name="Rectangle 50"/>
              <p:cNvSpPr>
                <a:spLocks noChangeArrowheads="1"/>
              </p:cNvSpPr>
              <p:nvPr/>
            </p:nvSpPr>
            <p:spPr bwMode="auto">
              <a:xfrm>
                <a:off x="396" y="2016"/>
                <a:ext cx="220" cy="11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21527" name="Rectangle 51"/>
              <p:cNvSpPr>
                <a:spLocks noChangeArrowheads="1"/>
              </p:cNvSpPr>
              <p:nvPr/>
            </p:nvSpPr>
            <p:spPr bwMode="auto">
              <a:xfrm>
                <a:off x="433" y="2038"/>
                <a:ext cx="183" cy="8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de-DE" sz="800" b="1">
                    <a:solidFill>
                      <a:srgbClr val="292929"/>
                    </a:solidFill>
                  </a:rPr>
                  <a:t>DWH</a:t>
                </a:r>
                <a:endParaRPr lang="de-DE"/>
              </a:p>
            </p:txBody>
          </p:sp>
          <p:sp>
            <p:nvSpPr>
              <p:cNvPr id="21528" name="Rectangle 52"/>
              <p:cNvSpPr>
                <a:spLocks noChangeArrowheads="1"/>
              </p:cNvSpPr>
              <p:nvPr/>
            </p:nvSpPr>
            <p:spPr bwMode="auto">
              <a:xfrm>
                <a:off x="334" y="1282"/>
                <a:ext cx="244" cy="18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endParaRPr lang="de-DE"/>
              </a:p>
            </p:txBody>
          </p:sp>
          <p:sp>
            <p:nvSpPr>
              <p:cNvPr id="21529" name="Rectangle 53"/>
              <p:cNvSpPr>
                <a:spLocks noChangeArrowheads="1"/>
              </p:cNvSpPr>
              <p:nvPr/>
            </p:nvSpPr>
            <p:spPr bwMode="auto">
              <a:xfrm>
                <a:off x="388" y="1303"/>
                <a:ext cx="169" cy="8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de-DE" sz="800" b="1">
                    <a:solidFill>
                      <a:srgbClr val="292929"/>
                    </a:solidFill>
                  </a:rPr>
                  <a:t>Data</a:t>
                </a:r>
                <a:endParaRPr lang="de-DE"/>
              </a:p>
            </p:txBody>
          </p:sp>
          <p:sp>
            <p:nvSpPr>
              <p:cNvPr id="21530" name="Rectangle 54"/>
              <p:cNvSpPr>
                <a:spLocks noChangeArrowheads="1"/>
              </p:cNvSpPr>
              <p:nvPr/>
            </p:nvSpPr>
            <p:spPr bwMode="auto">
              <a:xfrm>
                <a:off x="520" y="1303"/>
                <a:ext cx="52" cy="8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de-DE" sz="800" b="1">
                    <a:solidFill>
                      <a:srgbClr val="292929"/>
                    </a:solidFill>
                  </a:rPr>
                  <a:t>-</a:t>
                </a:r>
                <a:endParaRPr lang="de-DE"/>
              </a:p>
            </p:txBody>
          </p:sp>
          <p:sp>
            <p:nvSpPr>
              <p:cNvPr id="21531" name="Rectangle 55"/>
              <p:cNvSpPr>
                <a:spLocks noChangeArrowheads="1"/>
              </p:cNvSpPr>
              <p:nvPr/>
            </p:nvSpPr>
            <p:spPr bwMode="auto">
              <a:xfrm>
                <a:off x="374" y="1376"/>
                <a:ext cx="200" cy="8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de-DE" sz="800" b="1">
                    <a:solidFill>
                      <a:srgbClr val="292929"/>
                    </a:solidFill>
                  </a:rPr>
                  <a:t>Marts</a:t>
                </a:r>
                <a:endParaRPr lang="de-DE"/>
              </a:p>
            </p:txBody>
          </p:sp>
          <p:sp>
            <p:nvSpPr>
              <p:cNvPr id="21532" name="Freeform 56"/>
              <p:cNvSpPr>
                <a:spLocks/>
              </p:cNvSpPr>
              <p:nvPr/>
            </p:nvSpPr>
            <p:spPr bwMode="auto">
              <a:xfrm>
                <a:off x="416" y="2322"/>
                <a:ext cx="178" cy="153"/>
              </a:xfrm>
              <a:custGeom>
                <a:avLst/>
                <a:gdLst>
                  <a:gd name="T0" fmla="*/ 0 w 357"/>
                  <a:gd name="T1" fmla="*/ 3 h 306"/>
                  <a:gd name="T2" fmla="*/ 2 w 357"/>
                  <a:gd name="T3" fmla="*/ 3 h 306"/>
                  <a:gd name="T4" fmla="*/ 2 w 357"/>
                  <a:gd name="T5" fmla="*/ 10 h 306"/>
                  <a:gd name="T6" fmla="*/ 8 w 357"/>
                  <a:gd name="T7" fmla="*/ 10 h 306"/>
                  <a:gd name="T8" fmla="*/ 8 w 357"/>
                  <a:gd name="T9" fmla="*/ 3 h 306"/>
                  <a:gd name="T10" fmla="*/ 11 w 357"/>
                  <a:gd name="T11" fmla="*/ 3 h 306"/>
                  <a:gd name="T12" fmla="*/ 5 w 357"/>
                  <a:gd name="T13" fmla="*/ 0 h 306"/>
                  <a:gd name="T14" fmla="*/ 0 w 357"/>
                  <a:gd name="T15" fmla="*/ 3 h 30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357"/>
                  <a:gd name="T25" fmla="*/ 0 h 306"/>
                  <a:gd name="T26" fmla="*/ 357 w 357"/>
                  <a:gd name="T27" fmla="*/ 306 h 30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357" h="306">
                    <a:moveTo>
                      <a:pt x="0" y="97"/>
                    </a:moveTo>
                    <a:lnTo>
                      <a:pt x="83" y="97"/>
                    </a:lnTo>
                    <a:lnTo>
                      <a:pt x="83" y="306"/>
                    </a:lnTo>
                    <a:lnTo>
                      <a:pt x="274" y="306"/>
                    </a:lnTo>
                    <a:lnTo>
                      <a:pt x="274" y="97"/>
                    </a:lnTo>
                    <a:lnTo>
                      <a:pt x="357" y="97"/>
                    </a:lnTo>
                    <a:lnTo>
                      <a:pt x="178" y="0"/>
                    </a:lnTo>
                    <a:lnTo>
                      <a:pt x="0" y="97"/>
                    </a:lnTo>
                    <a:close/>
                  </a:path>
                </a:pathLst>
              </a:custGeom>
              <a:solidFill>
                <a:srgbClr val="EAEAEA"/>
              </a:solidFill>
              <a:ln w="5">
                <a:solidFill>
                  <a:srgbClr val="DDDDDD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de-CH"/>
              </a:p>
            </p:txBody>
          </p:sp>
          <p:sp>
            <p:nvSpPr>
              <p:cNvPr id="21533" name="Freeform 57"/>
              <p:cNvSpPr>
                <a:spLocks/>
              </p:cNvSpPr>
              <p:nvPr/>
            </p:nvSpPr>
            <p:spPr bwMode="auto">
              <a:xfrm>
                <a:off x="416" y="1618"/>
                <a:ext cx="178" cy="153"/>
              </a:xfrm>
              <a:custGeom>
                <a:avLst/>
                <a:gdLst>
                  <a:gd name="T0" fmla="*/ 0 w 357"/>
                  <a:gd name="T1" fmla="*/ 3 h 306"/>
                  <a:gd name="T2" fmla="*/ 2 w 357"/>
                  <a:gd name="T3" fmla="*/ 3 h 306"/>
                  <a:gd name="T4" fmla="*/ 2 w 357"/>
                  <a:gd name="T5" fmla="*/ 10 h 306"/>
                  <a:gd name="T6" fmla="*/ 8 w 357"/>
                  <a:gd name="T7" fmla="*/ 10 h 306"/>
                  <a:gd name="T8" fmla="*/ 8 w 357"/>
                  <a:gd name="T9" fmla="*/ 3 h 306"/>
                  <a:gd name="T10" fmla="*/ 11 w 357"/>
                  <a:gd name="T11" fmla="*/ 3 h 306"/>
                  <a:gd name="T12" fmla="*/ 5 w 357"/>
                  <a:gd name="T13" fmla="*/ 0 h 306"/>
                  <a:gd name="T14" fmla="*/ 0 w 357"/>
                  <a:gd name="T15" fmla="*/ 3 h 30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357"/>
                  <a:gd name="T25" fmla="*/ 0 h 306"/>
                  <a:gd name="T26" fmla="*/ 357 w 357"/>
                  <a:gd name="T27" fmla="*/ 306 h 30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357" h="306">
                    <a:moveTo>
                      <a:pt x="0" y="97"/>
                    </a:moveTo>
                    <a:lnTo>
                      <a:pt x="83" y="97"/>
                    </a:lnTo>
                    <a:lnTo>
                      <a:pt x="83" y="306"/>
                    </a:lnTo>
                    <a:lnTo>
                      <a:pt x="274" y="306"/>
                    </a:lnTo>
                    <a:lnTo>
                      <a:pt x="274" y="97"/>
                    </a:lnTo>
                    <a:lnTo>
                      <a:pt x="357" y="97"/>
                    </a:lnTo>
                    <a:lnTo>
                      <a:pt x="178" y="0"/>
                    </a:lnTo>
                    <a:lnTo>
                      <a:pt x="0" y="97"/>
                    </a:lnTo>
                    <a:close/>
                  </a:path>
                </a:pathLst>
              </a:custGeom>
              <a:solidFill>
                <a:srgbClr val="EAEAEA"/>
              </a:solidFill>
              <a:ln w="5">
                <a:solidFill>
                  <a:srgbClr val="DDDDDD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de-CH"/>
              </a:p>
            </p:txBody>
          </p:sp>
          <p:grpSp>
            <p:nvGrpSpPr>
              <p:cNvPr id="21534" name="Group 117"/>
              <p:cNvGrpSpPr>
                <a:grpSpLocks/>
              </p:cNvGrpSpPr>
              <p:nvPr/>
            </p:nvGrpSpPr>
            <p:grpSpPr bwMode="auto">
              <a:xfrm>
                <a:off x="241" y="2412"/>
                <a:ext cx="3269" cy="6"/>
                <a:chOff x="241" y="2412"/>
                <a:chExt cx="3269" cy="6"/>
              </a:xfrm>
            </p:grpSpPr>
            <p:sp>
              <p:nvSpPr>
                <p:cNvPr id="21668" name="Rectangle 58"/>
                <p:cNvSpPr>
                  <a:spLocks noChangeArrowheads="1"/>
                </p:cNvSpPr>
                <p:nvPr/>
              </p:nvSpPr>
              <p:spPr bwMode="auto">
                <a:xfrm>
                  <a:off x="3469" y="2412"/>
                  <a:ext cx="41" cy="5"/>
                </a:xfrm>
                <a:prstGeom prst="rect">
                  <a:avLst/>
                </a:prstGeom>
                <a:solidFill>
                  <a:srgbClr val="B2B2B2"/>
                </a:solid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de-DE"/>
                </a:p>
              </p:txBody>
            </p:sp>
            <p:sp>
              <p:nvSpPr>
                <p:cNvPr id="21669" name="Rectangle 59"/>
                <p:cNvSpPr>
                  <a:spLocks noChangeArrowheads="1"/>
                </p:cNvSpPr>
                <p:nvPr/>
              </p:nvSpPr>
              <p:spPr bwMode="auto">
                <a:xfrm>
                  <a:off x="3413" y="2412"/>
                  <a:ext cx="41" cy="5"/>
                </a:xfrm>
                <a:prstGeom prst="rect">
                  <a:avLst/>
                </a:prstGeom>
                <a:solidFill>
                  <a:srgbClr val="B2B2B2"/>
                </a:solid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de-DE"/>
                </a:p>
              </p:txBody>
            </p:sp>
            <p:sp>
              <p:nvSpPr>
                <p:cNvPr id="21670" name="Rectangle 60"/>
                <p:cNvSpPr>
                  <a:spLocks noChangeArrowheads="1"/>
                </p:cNvSpPr>
                <p:nvPr/>
              </p:nvSpPr>
              <p:spPr bwMode="auto">
                <a:xfrm>
                  <a:off x="3357" y="2412"/>
                  <a:ext cx="41" cy="5"/>
                </a:xfrm>
                <a:prstGeom prst="rect">
                  <a:avLst/>
                </a:prstGeom>
                <a:solidFill>
                  <a:srgbClr val="B2B2B2"/>
                </a:solid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de-DE"/>
                </a:p>
              </p:txBody>
            </p:sp>
            <p:sp>
              <p:nvSpPr>
                <p:cNvPr id="21671" name="Rectangle 61"/>
                <p:cNvSpPr>
                  <a:spLocks noChangeArrowheads="1"/>
                </p:cNvSpPr>
                <p:nvPr/>
              </p:nvSpPr>
              <p:spPr bwMode="auto">
                <a:xfrm>
                  <a:off x="3301" y="2412"/>
                  <a:ext cx="41" cy="5"/>
                </a:xfrm>
                <a:prstGeom prst="rect">
                  <a:avLst/>
                </a:prstGeom>
                <a:solidFill>
                  <a:srgbClr val="B2B2B2"/>
                </a:solid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de-DE"/>
                </a:p>
              </p:txBody>
            </p:sp>
            <p:sp>
              <p:nvSpPr>
                <p:cNvPr id="21672" name="Rectangle 62"/>
                <p:cNvSpPr>
                  <a:spLocks noChangeArrowheads="1"/>
                </p:cNvSpPr>
                <p:nvPr/>
              </p:nvSpPr>
              <p:spPr bwMode="auto">
                <a:xfrm>
                  <a:off x="3245" y="2412"/>
                  <a:ext cx="41" cy="5"/>
                </a:xfrm>
                <a:prstGeom prst="rect">
                  <a:avLst/>
                </a:prstGeom>
                <a:solidFill>
                  <a:srgbClr val="B2B2B2"/>
                </a:solid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de-DE"/>
                </a:p>
              </p:txBody>
            </p:sp>
            <p:sp>
              <p:nvSpPr>
                <p:cNvPr id="21673" name="Rectangle 63"/>
                <p:cNvSpPr>
                  <a:spLocks noChangeArrowheads="1"/>
                </p:cNvSpPr>
                <p:nvPr/>
              </p:nvSpPr>
              <p:spPr bwMode="auto">
                <a:xfrm>
                  <a:off x="3189" y="2412"/>
                  <a:ext cx="41" cy="5"/>
                </a:xfrm>
                <a:prstGeom prst="rect">
                  <a:avLst/>
                </a:prstGeom>
                <a:solidFill>
                  <a:srgbClr val="B2B2B2"/>
                </a:solid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de-DE"/>
                </a:p>
              </p:txBody>
            </p:sp>
            <p:sp>
              <p:nvSpPr>
                <p:cNvPr id="21674" name="Rectangle 64"/>
                <p:cNvSpPr>
                  <a:spLocks noChangeArrowheads="1"/>
                </p:cNvSpPr>
                <p:nvPr/>
              </p:nvSpPr>
              <p:spPr bwMode="auto">
                <a:xfrm>
                  <a:off x="3133" y="2412"/>
                  <a:ext cx="41" cy="5"/>
                </a:xfrm>
                <a:prstGeom prst="rect">
                  <a:avLst/>
                </a:prstGeom>
                <a:solidFill>
                  <a:srgbClr val="B2B2B2"/>
                </a:solid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de-DE"/>
                </a:p>
              </p:txBody>
            </p:sp>
            <p:sp>
              <p:nvSpPr>
                <p:cNvPr id="21675" name="Rectangle 65"/>
                <p:cNvSpPr>
                  <a:spLocks noChangeArrowheads="1"/>
                </p:cNvSpPr>
                <p:nvPr/>
              </p:nvSpPr>
              <p:spPr bwMode="auto">
                <a:xfrm>
                  <a:off x="3077" y="2412"/>
                  <a:ext cx="41" cy="5"/>
                </a:xfrm>
                <a:prstGeom prst="rect">
                  <a:avLst/>
                </a:prstGeom>
                <a:solidFill>
                  <a:srgbClr val="B2B2B2"/>
                </a:solid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de-DE"/>
                </a:p>
              </p:txBody>
            </p:sp>
            <p:sp>
              <p:nvSpPr>
                <p:cNvPr id="21676" name="Rectangle 66"/>
                <p:cNvSpPr>
                  <a:spLocks noChangeArrowheads="1"/>
                </p:cNvSpPr>
                <p:nvPr/>
              </p:nvSpPr>
              <p:spPr bwMode="auto">
                <a:xfrm>
                  <a:off x="3021" y="2412"/>
                  <a:ext cx="41" cy="5"/>
                </a:xfrm>
                <a:prstGeom prst="rect">
                  <a:avLst/>
                </a:prstGeom>
                <a:solidFill>
                  <a:srgbClr val="B2B2B2"/>
                </a:solid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de-DE"/>
                </a:p>
              </p:txBody>
            </p:sp>
            <p:sp>
              <p:nvSpPr>
                <p:cNvPr id="21677" name="Rectangle 67"/>
                <p:cNvSpPr>
                  <a:spLocks noChangeArrowheads="1"/>
                </p:cNvSpPr>
                <p:nvPr/>
              </p:nvSpPr>
              <p:spPr bwMode="auto">
                <a:xfrm>
                  <a:off x="2965" y="2412"/>
                  <a:ext cx="41" cy="5"/>
                </a:xfrm>
                <a:prstGeom prst="rect">
                  <a:avLst/>
                </a:prstGeom>
                <a:solidFill>
                  <a:srgbClr val="B2B2B2"/>
                </a:solid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de-DE"/>
                </a:p>
              </p:txBody>
            </p:sp>
            <p:sp>
              <p:nvSpPr>
                <p:cNvPr id="21678" name="Rectangle 68"/>
                <p:cNvSpPr>
                  <a:spLocks noChangeArrowheads="1"/>
                </p:cNvSpPr>
                <p:nvPr/>
              </p:nvSpPr>
              <p:spPr bwMode="auto">
                <a:xfrm>
                  <a:off x="2909" y="2412"/>
                  <a:ext cx="41" cy="5"/>
                </a:xfrm>
                <a:prstGeom prst="rect">
                  <a:avLst/>
                </a:prstGeom>
                <a:solidFill>
                  <a:srgbClr val="B2B2B2"/>
                </a:solid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de-DE"/>
                </a:p>
              </p:txBody>
            </p:sp>
            <p:sp>
              <p:nvSpPr>
                <p:cNvPr id="21679" name="Rectangle 69"/>
                <p:cNvSpPr>
                  <a:spLocks noChangeArrowheads="1"/>
                </p:cNvSpPr>
                <p:nvPr/>
              </p:nvSpPr>
              <p:spPr bwMode="auto">
                <a:xfrm>
                  <a:off x="2853" y="2412"/>
                  <a:ext cx="41" cy="5"/>
                </a:xfrm>
                <a:prstGeom prst="rect">
                  <a:avLst/>
                </a:prstGeom>
                <a:solidFill>
                  <a:srgbClr val="B2B2B2"/>
                </a:solid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de-DE"/>
                </a:p>
              </p:txBody>
            </p:sp>
            <p:sp>
              <p:nvSpPr>
                <p:cNvPr id="21680" name="Rectangle 70"/>
                <p:cNvSpPr>
                  <a:spLocks noChangeArrowheads="1"/>
                </p:cNvSpPr>
                <p:nvPr/>
              </p:nvSpPr>
              <p:spPr bwMode="auto">
                <a:xfrm>
                  <a:off x="2797" y="2412"/>
                  <a:ext cx="41" cy="5"/>
                </a:xfrm>
                <a:prstGeom prst="rect">
                  <a:avLst/>
                </a:prstGeom>
                <a:solidFill>
                  <a:srgbClr val="B2B2B2"/>
                </a:solid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de-DE"/>
                </a:p>
              </p:txBody>
            </p:sp>
            <p:sp>
              <p:nvSpPr>
                <p:cNvPr id="21681" name="Rectangle 71"/>
                <p:cNvSpPr>
                  <a:spLocks noChangeArrowheads="1"/>
                </p:cNvSpPr>
                <p:nvPr/>
              </p:nvSpPr>
              <p:spPr bwMode="auto">
                <a:xfrm>
                  <a:off x="2741" y="2412"/>
                  <a:ext cx="41" cy="5"/>
                </a:xfrm>
                <a:prstGeom prst="rect">
                  <a:avLst/>
                </a:prstGeom>
                <a:solidFill>
                  <a:srgbClr val="B2B2B2"/>
                </a:solid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de-DE"/>
                </a:p>
              </p:txBody>
            </p:sp>
            <p:sp>
              <p:nvSpPr>
                <p:cNvPr id="21682" name="Freeform 72"/>
                <p:cNvSpPr>
                  <a:spLocks/>
                </p:cNvSpPr>
                <p:nvPr/>
              </p:nvSpPr>
              <p:spPr bwMode="auto">
                <a:xfrm>
                  <a:off x="2685" y="2412"/>
                  <a:ext cx="41" cy="5"/>
                </a:xfrm>
                <a:custGeom>
                  <a:avLst/>
                  <a:gdLst>
                    <a:gd name="T0" fmla="*/ 3 w 81"/>
                    <a:gd name="T1" fmla="*/ 0 h 12"/>
                    <a:gd name="T2" fmla="*/ 3 w 81"/>
                    <a:gd name="T3" fmla="*/ 0 h 12"/>
                    <a:gd name="T4" fmla="*/ 0 w 81"/>
                    <a:gd name="T5" fmla="*/ 0 h 12"/>
                    <a:gd name="T6" fmla="*/ 0 w 81"/>
                    <a:gd name="T7" fmla="*/ 0 h 12"/>
                    <a:gd name="T8" fmla="*/ 3 w 81"/>
                    <a:gd name="T9" fmla="*/ 0 h 1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81"/>
                    <a:gd name="T16" fmla="*/ 0 h 12"/>
                    <a:gd name="T17" fmla="*/ 81 w 81"/>
                    <a:gd name="T18" fmla="*/ 12 h 1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81" h="12">
                      <a:moveTo>
                        <a:pt x="81" y="10"/>
                      </a:moveTo>
                      <a:lnTo>
                        <a:pt x="81" y="0"/>
                      </a:lnTo>
                      <a:lnTo>
                        <a:pt x="0" y="2"/>
                      </a:lnTo>
                      <a:lnTo>
                        <a:pt x="0" y="12"/>
                      </a:lnTo>
                      <a:lnTo>
                        <a:pt x="81" y="10"/>
                      </a:lnTo>
                      <a:close/>
                    </a:path>
                  </a:pathLst>
                </a:custGeom>
                <a:solidFill>
                  <a:srgbClr val="B2B2B2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de-CH"/>
                </a:p>
              </p:txBody>
            </p:sp>
            <p:sp>
              <p:nvSpPr>
                <p:cNvPr id="21683" name="Rectangle 73"/>
                <p:cNvSpPr>
                  <a:spLocks noChangeArrowheads="1"/>
                </p:cNvSpPr>
                <p:nvPr/>
              </p:nvSpPr>
              <p:spPr bwMode="auto">
                <a:xfrm>
                  <a:off x="2629" y="2412"/>
                  <a:ext cx="41" cy="5"/>
                </a:xfrm>
                <a:prstGeom prst="rect">
                  <a:avLst/>
                </a:prstGeom>
                <a:solidFill>
                  <a:srgbClr val="B2B2B2"/>
                </a:solid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de-DE"/>
                </a:p>
              </p:txBody>
            </p:sp>
            <p:sp>
              <p:nvSpPr>
                <p:cNvPr id="21684" name="Rectangle 74"/>
                <p:cNvSpPr>
                  <a:spLocks noChangeArrowheads="1"/>
                </p:cNvSpPr>
                <p:nvPr/>
              </p:nvSpPr>
              <p:spPr bwMode="auto">
                <a:xfrm>
                  <a:off x="2573" y="2412"/>
                  <a:ext cx="41" cy="5"/>
                </a:xfrm>
                <a:prstGeom prst="rect">
                  <a:avLst/>
                </a:prstGeom>
                <a:solidFill>
                  <a:srgbClr val="B2B2B2"/>
                </a:solid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de-DE"/>
                </a:p>
              </p:txBody>
            </p:sp>
            <p:sp>
              <p:nvSpPr>
                <p:cNvPr id="21685" name="Rectangle 75"/>
                <p:cNvSpPr>
                  <a:spLocks noChangeArrowheads="1"/>
                </p:cNvSpPr>
                <p:nvPr/>
              </p:nvSpPr>
              <p:spPr bwMode="auto">
                <a:xfrm>
                  <a:off x="2517" y="2412"/>
                  <a:ext cx="41" cy="5"/>
                </a:xfrm>
                <a:prstGeom prst="rect">
                  <a:avLst/>
                </a:prstGeom>
                <a:solidFill>
                  <a:srgbClr val="B2B2B2"/>
                </a:solid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de-DE"/>
                </a:p>
              </p:txBody>
            </p:sp>
            <p:sp>
              <p:nvSpPr>
                <p:cNvPr id="21686" name="Rectangle 76"/>
                <p:cNvSpPr>
                  <a:spLocks noChangeArrowheads="1"/>
                </p:cNvSpPr>
                <p:nvPr/>
              </p:nvSpPr>
              <p:spPr bwMode="auto">
                <a:xfrm>
                  <a:off x="2461" y="2412"/>
                  <a:ext cx="41" cy="5"/>
                </a:xfrm>
                <a:prstGeom prst="rect">
                  <a:avLst/>
                </a:prstGeom>
                <a:solidFill>
                  <a:srgbClr val="B2B2B2"/>
                </a:solid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de-DE"/>
                </a:p>
              </p:txBody>
            </p:sp>
            <p:sp>
              <p:nvSpPr>
                <p:cNvPr id="21687" name="Rectangle 77"/>
                <p:cNvSpPr>
                  <a:spLocks noChangeArrowheads="1"/>
                </p:cNvSpPr>
                <p:nvPr/>
              </p:nvSpPr>
              <p:spPr bwMode="auto">
                <a:xfrm>
                  <a:off x="2405" y="2412"/>
                  <a:ext cx="41" cy="5"/>
                </a:xfrm>
                <a:prstGeom prst="rect">
                  <a:avLst/>
                </a:prstGeom>
                <a:solidFill>
                  <a:srgbClr val="B2B2B2"/>
                </a:solid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de-DE"/>
                </a:p>
              </p:txBody>
            </p:sp>
            <p:sp>
              <p:nvSpPr>
                <p:cNvPr id="21688" name="Rectangle 78"/>
                <p:cNvSpPr>
                  <a:spLocks noChangeArrowheads="1"/>
                </p:cNvSpPr>
                <p:nvPr/>
              </p:nvSpPr>
              <p:spPr bwMode="auto">
                <a:xfrm>
                  <a:off x="2349" y="2412"/>
                  <a:ext cx="41" cy="5"/>
                </a:xfrm>
                <a:prstGeom prst="rect">
                  <a:avLst/>
                </a:prstGeom>
                <a:solidFill>
                  <a:srgbClr val="B2B2B2"/>
                </a:solid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de-DE"/>
                </a:p>
              </p:txBody>
            </p:sp>
            <p:sp>
              <p:nvSpPr>
                <p:cNvPr id="21689" name="Rectangle 79"/>
                <p:cNvSpPr>
                  <a:spLocks noChangeArrowheads="1"/>
                </p:cNvSpPr>
                <p:nvPr/>
              </p:nvSpPr>
              <p:spPr bwMode="auto">
                <a:xfrm>
                  <a:off x="2293" y="2412"/>
                  <a:ext cx="41" cy="5"/>
                </a:xfrm>
                <a:prstGeom prst="rect">
                  <a:avLst/>
                </a:prstGeom>
                <a:solidFill>
                  <a:srgbClr val="B2B2B2"/>
                </a:solid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de-DE"/>
                </a:p>
              </p:txBody>
            </p:sp>
            <p:sp>
              <p:nvSpPr>
                <p:cNvPr id="21690" name="Rectangle 80"/>
                <p:cNvSpPr>
                  <a:spLocks noChangeArrowheads="1"/>
                </p:cNvSpPr>
                <p:nvPr/>
              </p:nvSpPr>
              <p:spPr bwMode="auto">
                <a:xfrm>
                  <a:off x="2237" y="2412"/>
                  <a:ext cx="41" cy="5"/>
                </a:xfrm>
                <a:prstGeom prst="rect">
                  <a:avLst/>
                </a:prstGeom>
                <a:solidFill>
                  <a:srgbClr val="B2B2B2"/>
                </a:solid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de-DE"/>
                </a:p>
              </p:txBody>
            </p:sp>
            <p:sp>
              <p:nvSpPr>
                <p:cNvPr id="21691" name="Rectangle 81"/>
                <p:cNvSpPr>
                  <a:spLocks noChangeArrowheads="1"/>
                </p:cNvSpPr>
                <p:nvPr/>
              </p:nvSpPr>
              <p:spPr bwMode="auto">
                <a:xfrm>
                  <a:off x="2181" y="2412"/>
                  <a:ext cx="41" cy="5"/>
                </a:xfrm>
                <a:prstGeom prst="rect">
                  <a:avLst/>
                </a:prstGeom>
                <a:solidFill>
                  <a:srgbClr val="B2B2B2"/>
                </a:solid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de-DE"/>
                </a:p>
              </p:txBody>
            </p:sp>
            <p:sp>
              <p:nvSpPr>
                <p:cNvPr id="21692" name="Rectangle 82"/>
                <p:cNvSpPr>
                  <a:spLocks noChangeArrowheads="1"/>
                </p:cNvSpPr>
                <p:nvPr/>
              </p:nvSpPr>
              <p:spPr bwMode="auto">
                <a:xfrm>
                  <a:off x="2125" y="2412"/>
                  <a:ext cx="41" cy="5"/>
                </a:xfrm>
                <a:prstGeom prst="rect">
                  <a:avLst/>
                </a:prstGeom>
                <a:solidFill>
                  <a:srgbClr val="B2B2B2"/>
                </a:solid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de-DE"/>
                </a:p>
              </p:txBody>
            </p:sp>
            <p:sp>
              <p:nvSpPr>
                <p:cNvPr id="21693" name="Rectangle 83"/>
                <p:cNvSpPr>
                  <a:spLocks noChangeArrowheads="1"/>
                </p:cNvSpPr>
                <p:nvPr/>
              </p:nvSpPr>
              <p:spPr bwMode="auto">
                <a:xfrm>
                  <a:off x="2069" y="2412"/>
                  <a:ext cx="41" cy="5"/>
                </a:xfrm>
                <a:prstGeom prst="rect">
                  <a:avLst/>
                </a:prstGeom>
                <a:solidFill>
                  <a:srgbClr val="B2B2B2"/>
                </a:solid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de-DE"/>
                </a:p>
              </p:txBody>
            </p:sp>
            <p:sp>
              <p:nvSpPr>
                <p:cNvPr id="21694" name="Rectangle 84"/>
                <p:cNvSpPr>
                  <a:spLocks noChangeArrowheads="1"/>
                </p:cNvSpPr>
                <p:nvPr/>
              </p:nvSpPr>
              <p:spPr bwMode="auto">
                <a:xfrm>
                  <a:off x="2013" y="2412"/>
                  <a:ext cx="41" cy="5"/>
                </a:xfrm>
                <a:prstGeom prst="rect">
                  <a:avLst/>
                </a:prstGeom>
                <a:solidFill>
                  <a:srgbClr val="B2B2B2"/>
                </a:solid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de-DE"/>
                </a:p>
              </p:txBody>
            </p:sp>
            <p:sp>
              <p:nvSpPr>
                <p:cNvPr id="21695" name="Rectangle 85"/>
                <p:cNvSpPr>
                  <a:spLocks noChangeArrowheads="1"/>
                </p:cNvSpPr>
                <p:nvPr/>
              </p:nvSpPr>
              <p:spPr bwMode="auto">
                <a:xfrm>
                  <a:off x="1957" y="2412"/>
                  <a:ext cx="41" cy="5"/>
                </a:xfrm>
                <a:prstGeom prst="rect">
                  <a:avLst/>
                </a:prstGeom>
                <a:solidFill>
                  <a:srgbClr val="B2B2B2"/>
                </a:solid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de-DE"/>
                </a:p>
              </p:txBody>
            </p:sp>
            <p:sp>
              <p:nvSpPr>
                <p:cNvPr id="21696" name="Rectangle 86"/>
                <p:cNvSpPr>
                  <a:spLocks noChangeArrowheads="1"/>
                </p:cNvSpPr>
                <p:nvPr/>
              </p:nvSpPr>
              <p:spPr bwMode="auto">
                <a:xfrm>
                  <a:off x="1901" y="2412"/>
                  <a:ext cx="41" cy="5"/>
                </a:xfrm>
                <a:prstGeom prst="rect">
                  <a:avLst/>
                </a:prstGeom>
                <a:solidFill>
                  <a:srgbClr val="B2B2B2"/>
                </a:solid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de-DE"/>
                </a:p>
              </p:txBody>
            </p:sp>
            <p:sp>
              <p:nvSpPr>
                <p:cNvPr id="21697" name="Rectangle 87"/>
                <p:cNvSpPr>
                  <a:spLocks noChangeArrowheads="1"/>
                </p:cNvSpPr>
                <p:nvPr/>
              </p:nvSpPr>
              <p:spPr bwMode="auto">
                <a:xfrm>
                  <a:off x="1845" y="2412"/>
                  <a:ext cx="41" cy="5"/>
                </a:xfrm>
                <a:prstGeom prst="rect">
                  <a:avLst/>
                </a:prstGeom>
                <a:solidFill>
                  <a:srgbClr val="B2B2B2"/>
                </a:solid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de-DE"/>
                </a:p>
              </p:txBody>
            </p:sp>
            <p:sp>
              <p:nvSpPr>
                <p:cNvPr id="21698" name="Rectangle 88"/>
                <p:cNvSpPr>
                  <a:spLocks noChangeArrowheads="1"/>
                </p:cNvSpPr>
                <p:nvPr/>
              </p:nvSpPr>
              <p:spPr bwMode="auto">
                <a:xfrm>
                  <a:off x="1789" y="2412"/>
                  <a:ext cx="40" cy="5"/>
                </a:xfrm>
                <a:prstGeom prst="rect">
                  <a:avLst/>
                </a:prstGeom>
                <a:solidFill>
                  <a:srgbClr val="B2B2B2"/>
                </a:solid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de-DE"/>
                </a:p>
              </p:txBody>
            </p:sp>
            <p:sp>
              <p:nvSpPr>
                <p:cNvPr id="21699" name="Rectangle 89"/>
                <p:cNvSpPr>
                  <a:spLocks noChangeArrowheads="1"/>
                </p:cNvSpPr>
                <p:nvPr/>
              </p:nvSpPr>
              <p:spPr bwMode="auto">
                <a:xfrm>
                  <a:off x="1733" y="2412"/>
                  <a:ext cx="40" cy="5"/>
                </a:xfrm>
                <a:prstGeom prst="rect">
                  <a:avLst/>
                </a:prstGeom>
                <a:solidFill>
                  <a:srgbClr val="B2B2B2"/>
                </a:solid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de-DE"/>
                </a:p>
              </p:txBody>
            </p:sp>
            <p:sp>
              <p:nvSpPr>
                <p:cNvPr id="21700" name="Rectangle 90"/>
                <p:cNvSpPr>
                  <a:spLocks noChangeArrowheads="1"/>
                </p:cNvSpPr>
                <p:nvPr/>
              </p:nvSpPr>
              <p:spPr bwMode="auto">
                <a:xfrm>
                  <a:off x="1677" y="2412"/>
                  <a:ext cx="40" cy="5"/>
                </a:xfrm>
                <a:prstGeom prst="rect">
                  <a:avLst/>
                </a:prstGeom>
                <a:solidFill>
                  <a:srgbClr val="B2B2B2"/>
                </a:solid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de-DE"/>
                </a:p>
              </p:txBody>
            </p:sp>
            <p:sp>
              <p:nvSpPr>
                <p:cNvPr id="21701" name="Rectangle 91"/>
                <p:cNvSpPr>
                  <a:spLocks noChangeArrowheads="1"/>
                </p:cNvSpPr>
                <p:nvPr/>
              </p:nvSpPr>
              <p:spPr bwMode="auto">
                <a:xfrm>
                  <a:off x="1621" y="2412"/>
                  <a:ext cx="40" cy="5"/>
                </a:xfrm>
                <a:prstGeom prst="rect">
                  <a:avLst/>
                </a:prstGeom>
                <a:solidFill>
                  <a:srgbClr val="B2B2B2"/>
                </a:solid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de-DE"/>
                </a:p>
              </p:txBody>
            </p:sp>
            <p:sp>
              <p:nvSpPr>
                <p:cNvPr id="21702" name="Rectangle 92"/>
                <p:cNvSpPr>
                  <a:spLocks noChangeArrowheads="1"/>
                </p:cNvSpPr>
                <p:nvPr/>
              </p:nvSpPr>
              <p:spPr bwMode="auto">
                <a:xfrm>
                  <a:off x="1565" y="2412"/>
                  <a:ext cx="40" cy="5"/>
                </a:xfrm>
                <a:prstGeom prst="rect">
                  <a:avLst/>
                </a:prstGeom>
                <a:solidFill>
                  <a:srgbClr val="B2B2B2"/>
                </a:solid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de-DE"/>
                </a:p>
              </p:txBody>
            </p:sp>
            <p:sp>
              <p:nvSpPr>
                <p:cNvPr id="21703" name="Rectangle 93"/>
                <p:cNvSpPr>
                  <a:spLocks noChangeArrowheads="1"/>
                </p:cNvSpPr>
                <p:nvPr/>
              </p:nvSpPr>
              <p:spPr bwMode="auto">
                <a:xfrm>
                  <a:off x="1509" y="2412"/>
                  <a:ext cx="40" cy="5"/>
                </a:xfrm>
                <a:prstGeom prst="rect">
                  <a:avLst/>
                </a:prstGeom>
                <a:solidFill>
                  <a:srgbClr val="B2B2B2"/>
                </a:solid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de-DE"/>
                </a:p>
              </p:txBody>
            </p:sp>
            <p:sp>
              <p:nvSpPr>
                <p:cNvPr id="21704" name="Rectangle 94"/>
                <p:cNvSpPr>
                  <a:spLocks noChangeArrowheads="1"/>
                </p:cNvSpPr>
                <p:nvPr/>
              </p:nvSpPr>
              <p:spPr bwMode="auto">
                <a:xfrm>
                  <a:off x="1453" y="2412"/>
                  <a:ext cx="40" cy="5"/>
                </a:xfrm>
                <a:prstGeom prst="rect">
                  <a:avLst/>
                </a:prstGeom>
                <a:solidFill>
                  <a:srgbClr val="B2B2B2"/>
                </a:solid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de-DE"/>
                </a:p>
              </p:txBody>
            </p:sp>
            <p:sp>
              <p:nvSpPr>
                <p:cNvPr id="21705" name="Rectangle 95"/>
                <p:cNvSpPr>
                  <a:spLocks noChangeArrowheads="1"/>
                </p:cNvSpPr>
                <p:nvPr/>
              </p:nvSpPr>
              <p:spPr bwMode="auto">
                <a:xfrm>
                  <a:off x="1397" y="2412"/>
                  <a:ext cx="40" cy="5"/>
                </a:xfrm>
                <a:prstGeom prst="rect">
                  <a:avLst/>
                </a:prstGeom>
                <a:solidFill>
                  <a:srgbClr val="B2B2B2"/>
                </a:solid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de-DE"/>
                </a:p>
              </p:txBody>
            </p:sp>
            <p:sp>
              <p:nvSpPr>
                <p:cNvPr id="21706" name="Rectangle 96"/>
                <p:cNvSpPr>
                  <a:spLocks noChangeArrowheads="1"/>
                </p:cNvSpPr>
                <p:nvPr/>
              </p:nvSpPr>
              <p:spPr bwMode="auto">
                <a:xfrm>
                  <a:off x="1341" y="2412"/>
                  <a:ext cx="40" cy="5"/>
                </a:xfrm>
                <a:prstGeom prst="rect">
                  <a:avLst/>
                </a:prstGeom>
                <a:solidFill>
                  <a:srgbClr val="B2B2B2"/>
                </a:solid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de-DE"/>
                </a:p>
              </p:txBody>
            </p:sp>
            <p:sp>
              <p:nvSpPr>
                <p:cNvPr id="21707" name="Rectangle 97"/>
                <p:cNvSpPr>
                  <a:spLocks noChangeArrowheads="1"/>
                </p:cNvSpPr>
                <p:nvPr/>
              </p:nvSpPr>
              <p:spPr bwMode="auto">
                <a:xfrm>
                  <a:off x="1285" y="2412"/>
                  <a:ext cx="40" cy="5"/>
                </a:xfrm>
                <a:prstGeom prst="rect">
                  <a:avLst/>
                </a:prstGeom>
                <a:solidFill>
                  <a:srgbClr val="B2B2B2"/>
                </a:solid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de-DE"/>
                </a:p>
              </p:txBody>
            </p:sp>
            <p:sp>
              <p:nvSpPr>
                <p:cNvPr id="21708" name="Rectangle 98"/>
                <p:cNvSpPr>
                  <a:spLocks noChangeArrowheads="1"/>
                </p:cNvSpPr>
                <p:nvPr/>
              </p:nvSpPr>
              <p:spPr bwMode="auto">
                <a:xfrm>
                  <a:off x="1229" y="2412"/>
                  <a:ext cx="40" cy="5"/>
                </a:xfrm>
                <a:prstGeom prst="rect">
                  <a:avLst/>
                </a:prstGeom>
                <a:solidFill>
                  <a:srgbClr val="B2B2B2"/>
                </a:solid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de-DE"/>
                </a:p>
              </p:txBody>
            </p:sp>
            <p:sp>
              <p:nvSpPr>
                <p:cNvPr id="21709" name="Rectangle 99"/>
                <p:cNvSpPr>
                  <a:spLocks noChangeArrowheads="1"/>
                </p:cNvSpPr>
                <p:nvPr/>
              </p:nvSpPr>
              <p:spPr bwMode="auto">
                <a:xfrm>
                  <a:off x="1173" y="2412"/>
                  <a:ext cx="40" cy="5"/>
                </a:xfrm>
                <a:prstGeom prst="rect">
                  <a:avLst/>
                </a:prstGeom>
                <a:solidFill>
                  <a:srgbClr val="B2B2B2"/>
                </a:solid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de-DE"/>
                </a:p>
              </p:txBody>
            </p:sp>
            <p:sp>
              <p:nvSpPr>
                <p:cNvPr id="21710" name="Rectangle 100"/>
                <p:cNvSpPr>
                  <a:spLocks noChangeArrowheads="1"/>
                </p:cNvSpPr>
                <p:nvPr/>
              </p:nvSpPr>
              <p:spPr bwMode="auto">
                <a:xfrm>
                  <a:off x="1117" y="2412"/>
                  <a:ext cx="40" cy="5"/>
                </a:xfrm>
                <a:prstGeom prst="rect">
                  <a:avLst/>
                </a:prstGeom>
                <a:solidFill>
                  <a:srgbClr val="B2B2B2"/>
                </a:solid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de-DE"/>
                </a:p>
              </p:txBody>
            </p:sp>
            <p:sp>
              <p:nvSpPr>
                <p:cNvPr id="21711" name="Rectangle 101"/>
                <p:cNvSpPr>
                  <a:spLocks noChangeArrowheads="1"/>
                </p:cNvSpPr>
                <p:nvPr/>
              </p:nvSpPr>
              <p:spPr bwMode="auto">
                <a:xfrm>
                  <a:off x="1061" y="2412"/>
                  <a:ext cx="40" cy="5"/>
                </a:xfrm>
                <a:prstGeom prst="rect">
                  <a:avLst/>
                </a:prstGeom>
                <a:solidFill>
                  <a:srgbClr val="B2B2B2"/>
                </a:solid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de-DE"/>
                </a:p>
              </p:txBody>
            </p:sp>
            <p:sp>
              <p:nvSpPr>
                <p:cNvPr id="21712" name="Rectangle 102"/>
                <p:cNvSpPr>
                  <a:spLocks noChangeArrowheads="1"/>
                </p:cNvSpPr>
                <p:nvPr/>
              </p:nvSpPr>
              <p:spPr bwMode="auto">
                <a:xfrm>
                  <a:off x="1005" y="2413"/>
                  <a:ext cx="40" cy="5"/>
                </a:xfrm>
                <a:prstGeom prst="rect">
                  <a:avLst/>
                </a:prstGeom>
                <a:solidFill>
                  <a:srgbClr val="B2B2B2"/>
                </a:solid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de-DE"/>
                </a:p>
              </p:txBody>
            </p:sp>
            <p:sp>
              <p:nvSpPr>
                <p:cNvPr id="21713" name="Rectangle 103"/>
                <p:cNvSpPr>
                  <a:spLocks noChangeArrowheads="1"/>
                </p:cNvSpPr>
                <p:nvPr/>
              </p:nvSpPr>
              <p:spPr bwMode="auto">
                <a:xfrm>
                  <a:off x="949" y="2413"/>
                  <a:ext cx="40" cy="5"/>
                </a:xfrm>
                <a:prstGeom prst="rect">
                  <a:avLst/>
                </a:prstGeom>
                <a:solidFill>
                  <a:srgbClr val="B2B2B2"/>
                </a:solid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de-DE"/>
                </a:p>
              </p:txBody>
            </p:sp>
            <p:sp>
              <p:nvSpPr>
                <p:cNvPr id="21714" name="Rectangle 104"/>
                <p:cNvSpPr>
                  <a:spLocks noChangeArrowheads="1"/>
                </p:cNvSpPr>
                <p:nvPr/>
              </p:nvSpPr>
              <p:spPr bwMode="auto">
                <a:xfrm>
                  <a:off x="893" y="2413"/>
                  <a:ext cx="40" cy="5"/>
                </a:xfrm>
                <a:prstGeom prst="rect">
                  <a:avLst/>
                </a:prstGeom>
                <a:solidFill>
                  <a:srgbClr val="B2B2B2"/>
                </a:solid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de-DE"/>
                </a:p>
              </p:txBody>
            </p:sp>
            <p:sp>
              <p:nvSpPr>
                <p:cNvPr id="21715" name="Rectangle 105"/>
                <p:cNvSpPr>
                  <a:spLocks noChangeArrowheads="1"/>
                </p:cNvSpPr>
                <p:nvPr/>
              </p:nvSpPr>
              <p:spPr bwMode="auto">
                <a:xfrm>
                  <a:off x="837" y="2413"/>
                  <a:ext cx="40" cy="5"/>
                </a:xfrm>
                <a:prstGeom prst="rect">
                  <a:avLst/>
                </a:prstGeom>
                <a:solidFill>
                  <a:srgbClr val="B2B2B2"/>
                </a:solid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de-DE"/>
                </a:p>
              </p:txBody>
            </p:sp>
            <p:sp>
              <p:nvSpPr>
                <p:cNvPr id="21716" name="Rectangle 106"/>
                <p:cNvSpPr>
                  <a:spLocks noChangeArrowheads="1"/>
                </p:cNvSpPr>
                <p:nvPr/>
              </p:nvSpPr>
              <p:spPr bwMode="auto">
                <a:xfrm>
                  <a:off x="781" y="2413"/>
                  <a:ext cx="40" cy="5"/>
                </a:xfrm>
                <a:prstGeom prst="rect">
                  <a:avLst/>
                </a:prstGeom>
                <a:solidFill>
                  <a:srgbClr val="B2B2B2"/>
                </a:solid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de-DE"/>
                </a:p>
              </p:txBody>
            </p:sp>
            <p:sp>
              <p:nvSpPr>
                <p:cNvPr id="21717" name="Rectangle 107"/>
                <p:cNvSpPr>
                  <a:spLocks noChangeArrowheads="1"/>
                </p:cNvSpPr>
                <p:nvPr/>
              </p:nvSpPr>
              <p:spPr bwMode="auto">
                <a:xfrm>
                  <a:off x="725" y="2413"/>
                  <a:ext cx="40" cy="5"/>
                </a:xfrm>
                <a:prstGeom prst="rect">
                  <a:avLst/>
                </a:prstGeom>
                <a:solidFill>
                  <a:srgbClr val="B2B2B2"/>
                </a:solid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de-DE"/>
                </a:p>
              </p:txBody>
            </p:sp>
            <p:sp>
              <p:nvSpPr>
                <p:cNvPr id="21718" name="Rectangle 108"/>
                <p:cNvSpPr>
                  <a:spLocks noChangeArrowheads="1"/>
                </p:cNvSpPr>
                <p:nvPr/>
              </p:nvSpPr>
              <p:spPr bwMode="auto">
                <a:xfrm>
                  <a:off x="669" y="2413"/>
                  <a:ext cx="40" cy="5"/>
                </a:xfrm>
                <a:prstGeom prst="rect">
                  <a:avLst/>
                </a:prstGeom>
                <a:solidFill>
                  <a:srgbClr val="B2B2B2"/>
                </a:solid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de-DE"/>
                </a:p>
              </p:txBody>
            </p:sp>
            <p:sp>
              <p:nvSpPr>
                <p:cNvPr id="21719" name="Rectangle 109"/>
                <p:cNvSpPr>
                  <a:spLocks noChangeArrowheads="1"/>
                </p:cNvSpPr>
                <p:nvPr/>
              </p:nvSpPr>
              <p:spPr bwMode="auto">
                <a:xfrm>
                  <a:off x="613" y="2413"/>
                  <a:ext cx="40" cy="5"/>
                </a:xfrm>
                <a:prstGeom prst="rect">
                  <a:avLst/>
                </a:prstGeom>
                <a:solidFill>
                  <a:srgbClr val="B2B2B2"/>
                </a:solid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de-DE"/>
                </a:p>
              </p:txBody>
            </p:sp>
            <p:sp>
              <p:nvSpPr>
                <p:cNvPr id="21720" name="Rectangle 110"/>
                <p:cNvSpPr>
                  <a:spLocks noChangeArrowheads="1"/>
                </p:cNvSpPr>
                <p:nvPr/>
              </p:nvSpPr>
              <p:spPr bwMode="auto">
                <a:xfrm>
                  <a:off x="557" y="2413"/>
                  <a:ext cx="40" cy="5"/>
                </a:xfrm>
                <a:prstGeom prst="rect">
                  <a:avLst/>
                </a:prstGeom>
                <a:solidFill>
                  <a:srgbClr val="B2B2B2"/>
                </a:solid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de-DE"/>
                </a:p>
              </p:txBody>
            </p:sp>
            <p:sp>
              <p:nvSpPr>
                <p:cNvPr id="21721" name="Rectangle 111"/>
                <p:cNvSpPr>
                  <a:spLocks noChangeArrowheads="1"/>
                </p:cNvSpPr>
                <p:nvPr/>
              </p:nvSpPr>
              <p:spPr bwMode="auto">
                <a:xfrm>
                  <a:off x="501" y="2413"/>
                  <a:ext cx="40" cy="5"/>
                </a:xfrm>
                <a:prstGeom prst="rect">
                  <a:avLst/>
                </a:prstGeom>
                <a:solidFill>
                  <a:srgbClr val="B2B2B2"/>
                </a:solid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de-DE"/>
                </a:p>
              </p:txBody>
            </p:sp>
            <p:sp>
              <p:nvSpPr>
                <p:cNvPr id="21722" name="Rectangle 112"/>
                <p:cNvSpPr>
                  <a:spLocks noChangeArrowheads="1"/>
                </p:cNvSpPr>
                <p:nvPr/>
              </p:nvSpPr>
              <p:spPr bwMode="auto">
                <a:xfrm>
                  <a:off x="445" y="2413"/>
                  <a:ext cx="40" cy="5"/>
                </a:xfrm>
                <a:prstGeom prst="rect">
                  <a:avLst/>
                </a:prstGeom>
                <a:solidFill>
                  <a:srgbClr val="B2B2B2"/>
                </a:solid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de-DE"/>
                </a:p>
              </p:txBody>
            </p:sp>
            <p:sp>
              <p:nvSpPr>
                <p:cNvPr id="21723" name="Rectangle 113"/>
                <p:cNvSpPr>
                  <a:spLocks noChangeArrowheads="1"/>
                </p:cNvSpPr>
                <p:nvPr/>
              </p:nvSpPr>
              <p:spPr bwMode="auto">
                <a:xfrm>
                  <a:off x="389" y="2413"/>
                  <a:ext cx="40" cy="5"/>
                </a:xfrm>
                <a:prstGeom prst="rect">
                  <a:avLst/>
                </a:prstGeom>
                <a:solidFill>
                  <a:srgbClr val="B2B2B2"/>
                </a:solid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de-DE"/>
                </a:p>
              </p:txBody>
            </p:sp>
            <p:sp>
              <p:nvSpPr>
                <p:cNvPr id="21724" name="Rectangle 114"/>
                <p:cNvSpPr>
                  <a:spLocks noChangeArrowheads="1"/>
                </p:cNvSpPr>
                <p:nvPr/>
              </p:nvSpPr>
              <p:spPr bwMode="auto">
                <a:xfrm>
                  <a:off x="333" y="2413"/>
                  <a:ext cx="40" cy="5"/>
                </a:xfrm>
                <a:prstGeom prst="rect">
                  <a:avLst/>
                </a:prstGeom>
                <a:solidFill>
                  <a:srgbClr val="B2B2B2"/>
                </a:solid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de-DE"/>
                </a:p>
              </p:txBody>
            </p:sp>
            <p:sp>
              <p:nvSpPr>
                <p:cNvPr id="21725" name="Rectangle 115"/>
                <p:cNvSpPr>
                  <a:spLocks noChangeArrowheads="1"/>
                </p:cNvSpPr>
                <p:nvPr/>
              </p:nvSpPr>
              <p:spPr bwMode="auto">
                <a:xfrm>
                  <a:off x="277" y="2413"/>
                  <a:ext cx="40" cy="5"/>
                </a:xfrm>
                <a:prstGeom prst="rect">
                  <a:avLst/>
                </a:prstGeom>
                <a:solidFill>
                  <a:srgbClr val="B2B2B2"/>
                </a:solid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de-DE"/>
                </a:p>
              </p:txBody>
            </p:sp>
            <p:sp>
              <p:nvSpPr>
                <p:cNvPr id="21726" name="Rectangle 116"/>
                <p:cNvSpPr>
                  <a:spLocks noChangeArrowheads="1"/>
                </p:cNvSpPr>
                <p:nvPr/>
              </p:nvSpPr>
              <p:spPr bwMode="auto">
                <a:xfrm>
                  <a:off x="241" y="2413"/>
                  <a:ext cx="20" cy="5"/>
                </a:xfrm>
                <a:prstGeom prst="rect">
                  <a:avLst/>
                </a:prstGeom>
                <a:solidFill>
                  <a:srgbClr val="B2B2B2"/>
                </a:solid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de-DE"/>
                </a:p>
              </p:txBody>
            </p:sp>
          </p:grpSp>
          <p:grpSp>
            <p:nvGrpSpPr>
              <p:cNvPr id="21535" name="Group 178"/>
              <p:cNvGrpSpPr>
                <a:grpSpLocks/>
              </p:cNvGrpSpPr>
              <p:nvPr/>
            </p:nvGrpSpPr>
            <p:grpSpPr bwMode="auto">
              <a:xfrm>
                <a:off x="211" y="1708"/>
                <a:ext cx="3329" cy="6"/>
                <a:chOff x="211" y="1708"/>
                <a:chExt cx="3329" cy="6"/>
              </a:xfrm>
            </p:grpSpPr>
            <p:sp>
              <p:nvSpPr>
                <p:cNvPr id="21608" name="Rectangle 118"/>
                <p:cNvSpPr>
                  <a:spLocks noChangeArrowheads="1"/>
                </p:cNvSpPr>
                <p:nvPr/>
              </p:nvSpPr>
              <p:spPr bwMode="auto">
                <a:xfrm>
                  <a:off x="211" y="1709"/>
                  <a:ext cx="40" cy="5"/>
                </a:xfrm>
                <a:prstGeom prst="rect">
                  <a:avLst/>
                </a:prstGeom>
                <a:solidFill>
                  <a:srgbClr val="B2B2B2"/>
                </a:solid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de-DE"/>
                </a:p>
              </p:txBody>
            </p:sp>
            <p:sp>
              <p:nvSpPr>
                <p:cNvPr id="21609" name="Rectangle 119"/>
                <p:cNvSpPr>
                  <a:spLocks noChangeArrowheads="1"/>
                </p:cNvSpPr>
                <p:nvPr/>
              </p:nvSpPr>
              <p:spPr bwMode="auto">
                <a:xfrm>
                  <a:off x="267" y="1709"/>
                  <a:ext cx="40" cy="5"/>
                </a:xfrm>
                <a:prstGeom prst="rect">
                  <a:avLst/>
                </a:prstGeom>
                <a:solidFill>
                  <a:srgbClr val="B2B2B2"/>
                </a:solid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de-DE"/>
                </a:p>
              </p:txBody>
            </p:sp>
            <p:sp>
              <p:nvSpPr>
                <p:cNvPr id="21610" name="Rectangle 120"/>
                <p:cNvSpPr>
                  <a:spLocks noChangeArrowheads="1"/>
                </p:cNvSpPr>
                <p:nvPr/>
              </p:nvSpPr>
              <p:spPr bwMode="auto">
                <a:xfrm>
                  <a:off x="323" y="1709"/>
                  <a:ext cx="40" cy="5"/>
                </a:xfrm>
                <a:prstGeom prst="rect">
                  <a:avLst/>
                </a:prstGeom>
                <a:solidFill>
                  <a:srgbClr val="B2B2B2"/>
                </a:solid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de-DE"/>
                </a:p>
              </p:txBody>
            </p:sp>
            <p:sp>
              <p:nvSpPr>
                <p:cNvPr id="21611" name="Rectangle 121"/>
                <p:cNvSpPr>
                  <a:spLocks noChangeArrowheads="1"/>
                </p:cNvSpPr>
                <p:nvPr/>
              </p:nvSpPr>
              <p:spPr bwMode="auto">
                <a:xfrm>
                  <a:off x="379" y="1709"/>
                  <a:ext cx="40" cy="5"/>
                </a:xfrm>
                <a:prstGeom prst="rect">
                  <a:avLst/>
                </a:prstGeom>
                <a:solidFill>
                  <a:srgbClr val="B2B2B2"/>
                </a:solid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de-DE"/>
                </a:p>
              </p:txBody>
            </p:sp>
            <p:sp>
              <p:nvSpPr>
                <p:cNvPr id="21612" name="Rectangle 122"/>
                <p:cNvSpPr>
                  <a:spLocks noChangeArrowheads="1"/>
                </p:cNvSpPr>
                <p:nvPr/>
              </p:nvSpPr>
              <p:spPr bwMode="auto">
                <a:xfrm>
                  <a:off x="435" y="1709"/>
                  <a:ext cx="40" cy="5"/>
                </a:xfrm>
                <a:prstGeom prst="rect">
                  <a:avLst/>
                </a:prstGeom>
                <a:solidFill>
                  <a:srgbClr val="B2B2B2"/>
                </a:solid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de-DE"/>
                </a:p>
              </p:txBody>
            </p:sp>
            <p:sp>
              <p:nvSpPr>
                <p:cNvPr id="21613" name="Rectangle 123"/>
                <p:cNvSpPr>
                  <a:spLocks noChangeArrowheads="1"/>
                </p:cNvSpPr>
                <p:nvPr/>
              </p:nvSpPr>
              <p:spPr bwMode="auto">
                <a:xfrm>
                  <a:off x="491" y="1709"/>
                  <a:ext cx="40" cy="5"/>
                </a:xfrm>
                <a:prstGeom prst="rect">
                  <a:avLst/>
                </a:prstGeom>
                <a:solidFill>
                  <a:srgbClr val="B2B2B2"/>
                </a:solid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de-DE"/>
                </a:p>
              </p:txBody>
            </p:sp>
            <p:sp>
              <p:nvSpPr>
                <p:cNvPr id="21614" name="Rectangle 124"/>
                <p:cNvSpPr>
                  <a:spLocks noChangeArrowheads="1"/>
                </p:cNvSpPr>
                <p:nvPr/>
              </p:nvSpPr>
              <p:spPr bwMode="auto">
                <a:xfrm>
                  <a:off x="547" y="1709"/>
                  <a:ext cx="40" cy="5"/>
                </a:xfrm>
                <a:prstGeom prst="rect">
                  <a:avLst/>
                </a:prstGeom>
                <a:solidFill>
                  <a:srgbClr val="B2B2B2"/>
                </a:solid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de-DE"/>
                </a:p>
              </p:txBody>
            </p:sp>
            <p:sp>
              <p:nvSpPr>
                <p:cNvPr id="21615" name="Rectangle 125"/>
                <p:cNvSpPr>
                  <a:spLocks noChangeArrowheads="1"/>
                </p:cNvSpPr>
                <p:nvPr/>
              </p:nvSpPr>
              <p:spPr bwMode="auto">
                <a:xfrm>
                  <a:off x="603" y="1709"/>
                  <a:ext cx="40" cy="5"/>
                </a:xfrm>
                <a:prstGeom prst="rect">
                  <a:avLst/>
                </a:prstGeom>
                <a:solidFill>
                  <a:srgbClr val="B2B2B2"/>
                </a:solid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de-DE"/>
                </a:p>
              </p:txBody>
            </p:sp>
            <p:sp>
              <p:nvSpPr>
                <p:cNvPr id="21616" name="Rectangle 126"/>
                <p:cNvSpPr>
                  <a:spLocks noChangeArrowheads="1"/>
                </p:cNvSpPr>
                <p:nvPr/>
              </p:nvSpPr>
              <p:spPr bwMode="auto">
                <a:xfrm>
                  <a:off x="659" y="1709"/>
                  <a:ext cx="40" cy="5"/>
                </a:xfrm>
                <a:prstGeom prst="rect">
                  <a:avLst/>
                </a:prstGeom>
                <a:solidFill>
                  <a:srgbClr val="B2B2B2"/>
                </a:solid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de-DE"/>
                </a:p>
              </p:txBody>
            </p:sp>
            <p:sp>
              <p:nvSpPr>
                <p:cNvPr id="21617" name="Rectangle 127"/>
                <p:cNvSpPr>
                  <a:spLocks noChangeArrowheads="1"/>
                </p:cNvSpPr>
                <p:nvPr/>
              </p:nvSpPr>
              <p:spPr bwMode="auto">
                <a:xfrm>
                  <a:off x="715" y="1709"/>
                  <a:ext cx="40" cy="5"/>
                </a:xfrm>
                <a:prstGeom prst="rect">
                  <a:avLst/>
                </a:prstGeom>
                <a:solidFill>
                  <a:srgbClr val="B2B2B2"/>
                </a:solid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de-DE"/>
                </a:p>
              </p:txBody>
            </p:sp>
            <p:sp>
              <p:nvSpPr>
                <p:cNvPr id="21618" name="Rectangle 128"/>
                <p:cNvSpPr>
                  <a:spLocks noChangeArrowheads="1"/>
                </p:cNvSpPr>
                <p:nvPr/>
              </p:nvSpPr>
              <p:spPr bwMode="auto">
                <a:xfrm>
                  <a:off x="771" y="1709"/>
                  <a:ext cx="40" cy="5"/>
                </a:xfrm>
                <a:prstGeom prst="rect">
                  <a:avLst/>
                </a:prstGeom>
                <a:solidFill>
                  <a:srgbClr val="B2B2B2"/>
                </a:solid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de-DE"/>
                </a:p>
              </p:txBody>
            </p:sp>
            <p:sp>
              <p:nvSpPr>
                <p:cNvPr id="21619" name="Rectangle 129"/>
                <p:cNvSpPr>
                  <a:spLocks noChangeArrowheads="1"/>
                </p:cNvSpPr>
                <p:nvPr/>
              </p:nvSpPr>
              <p:spPr bwMode="auto">
                <a:xfrm>
                  <a:off x="827" y="1709"/>
                  <a:ext cx="40" cy="5"/>
                </a:xfrm>
                <a:prstGeom prst="rect">
                  <a:avLst/>
                </a:prstGeom>
                <a:solidFill>
                  <a:srgbClr val="B2B2B2"/>
                </a:solid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de-DE"/>
                </a:p>
              </p:txBody>
            </p:sp>
            <p:sp>
              <p:nvSpPr>
                <p:cNvPr id="21620" name="Rectangle 130"/>
                <p:cNvSpPr>
                  <a:spLocks noChangeArrowheads="1"/>
                </p:cNvSpPr>
                <p:nvPr/>
              </p:nvSpPr>
              <p:spPr bwMode="auto">
                <a:xfrm>
                  <a:off x="883" y="1709"/>
                  <a:ext cx="40" cy="5"/>
                </a:xfrm>
                <a:prstGeom prst="rect">
                  <a:avLst/>
                </a:prstGeom>
                <a:solidFill>
                  <a:srgbClr val="B2B2B2"/>
                </a:solid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de-DE"/>
                </a:p>
              </p:txBody>
            </p:sp>
            <p:sp>
              <p:nvSpPr>
                <p:cNvPr id="21621" name="Rectangle 131"/>
                <p:cNvSpPr>
                  <a:spLocks noChangeArrowheads="1"/>
                </p:cNvSpPr>
                <p:nvPr/>
              </p:nvSpPr>
              <p:spPr bwMode="auto">
                <a:xfrm>
                  <a:off x="939" y="1709"/>
                  <a:ext cx="40" cy="5"/>
                </a:xfrm>
                <a:prstGeom prst="rect">
                  <a:avLst/>
                </a:prstGeom>
                <a:solidFill>
                  <a:srgbClr val="B2B2B2"/>
                </a:solid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de-DE"/>
                </a:p>
              </p:txBody>
            </p:sp>
            <p:sp>
              <p:nvSpPr>
                <p:cNvPr id="21622" name="Rectangle 132"/>
                <p:cNvSpPr>
                  <a:spLocks noChangeArrowheads="1"/>
                </p:cNvSpPr>
                <p:nvPr/>
              </p:nvSpPr>
              <p:spPr bwMode="auto">
                <a:xfrm>
                  <a:off x="995" y="1709"/>
                  <a:ext cx="40" cy="5"/>
                </a:xfrm>
                <a:prstGeom prst="rect">
                  <a:avLst/>
                </a:prstGeom>
                <a:solidFill>
                  <a:srgbClr val="B2B2B2"/>
                </a:solid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de-DE"/>
                </a:p>
              </p:txBody>
            </p:sp>
            <p:sp>
              <p:nvSpPr>
                <p:cNvPr id="21623" name="Rectangle 133"/>
                <p:cNvSpPr>
                  <a:spLocks noChangeArrowheads="1"/>
                </p:cNvSpPr>
                <p:nvPr/>
              </p:nvSpPr>
              <p:spPr bwMode="auto">
                <a:xfrm>
                  <a:off x="1051" y="1708"/>
                  <a:ext cx="40" cy="5"/>
                </a:xfrm>
                <a:prstGeom prst="rect">
                  <a:avLst/>
                </a:prstGeom>
                <a:solidFill>
                  <a:srgbClr val="B2B2B2"/>
                </a:solid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de-DE"/>
                </a:p>
              </p:txBody>
            </p:sp>
            <p:sp>
              <p:nvSpPr>
                <p:cNvPr id="21624" name="Rectangle 134"/>
                <p:cNvSpPr>
                  <a:spLocks noChangeArrowheads="1"/>
                </p:cNvSpPr>
                <p:nvPr/>
              </p:nvSpPr>
              <p:spPr bwMode="auto">
                <a:xfrm>
                  <a:off x="1107" y="1708"/>
                  <a:ext cx="40" cy="5"/>
                </a:xfrm>
                <a:prstGeom prst="rect">
                  <a:avLst/>
                </a:prstGeom>
                <a:solidFill>
                  <a:srgbClr val="B2B2B2"/>
                </a:solid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de-DE"/>
                </a:p>
              </p:txBody>
            </p:sp>
            <p:sp>
              <p:nvSpPr>
                <p:cNvPr id="21625" name="Rectangle 135"/>
                <p:cNvSpPr>
                  <a:spLocks noChangeArrowheads="1"/>
                </p:cNvSpPr>
                <p:nvPr/>
              </p:nvSpPr>
              <p:spPr bwMode="auto">
                <a:xfrm>
                  <a:off x="1163" y="1708"/>
                  <a:ext cx="40" cy="5"/>
                </a:xfrm>
                <a:prstGeom prst="rect">
                  <a:avLst/>
                </a:prstGeom>
                <a:solidFill>
                  <a:srgbClr val="B2B2B2"/>
                </a:solid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de-DE"/>
                </a:p>
              </p:txBody>
            </p:sp>
            <p:sp>
              <p:nvSpPr>
                <p:cNvPr id="21626" name="Rectangle 136"/>
                <p:cNvSpPr>
                  <a:spLocks noChangeArrowheads="1"/>
                </p:cNvSpPr>
                <p:nvPr/>
              </p:nvSpPr>
              <p:spPr bwMode="auto">
                <a:xfrm>
                  <a:off x="1219" y="1708"/>
                  <a:ext cx="40" cy="5"/>
                </a:xfrm>
                <a:prstGeom prst="rect">
                  <a:avLst/>
                </a:prstGeom>
                <a:solidFill>
                  <a:srgbClr val="B2B2B2"/>
                </a:solid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de-DE"/>
                </a:p>
              </p:txBody>
            </p:sp>
            <p:sp>
              <p:nvSpPr>
                <p:cNvPr id="21627" name="Rectangle 137"/>
                <p:cNvSpPr>
                  <a:spLocks noChangeArrowheads="1"/>
                </p:cNvSpPr>
                <p:nvPr/>
              </p:nvSpPr>
              <p:spPr bwMode="auto">
                <a:xfrm>
                  <a:off x="1275" y="1708"/>
                  <a:ext cx="40" cy="5"/>
                </a:xfrm>
                <a:prstGeom prst="rect">
                  <a:avLst/>
                </a:prstGeom>
                <a:solidFill>
                  <a:srgbClr val="B2B2B2"/>
                </a:solid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de-DE"/>
                </a:p>
              </p:txBody>
            </p:sp>
            <p:sp>
              <p:nvSpPr>
                <p:cNvPr id="21628" name="Rectangle 138"/>
                <p:cNvSpPr>
                  <a:spLocks noChangeArrowheads="1"/>
                </p:cNvSpPr>
                <p:nvPr/>
              </p:nvSpPr>
              <p:spPr bwMode="auto">
                <a:xfrm>
                  <a:off x="1331" y="1708"/>
                  <a:ext cx="40" cy="5"/>
                </a:xfrm>
                <a:prstGeom prst="rect">
                  <a:avLst/>
                </a:prstGeom>
                <a:solidFill>
                  <a:srgbClr val="B2B2B2"/>
                </a:solid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de-DE"/>
                </a:p>
              </p:txBody>
            </p:sp>
            <p:sp>
              <p:nvSpPr>
                <p:cNvPr id="21629" name="Rectangle 139"/>
                <p:cNvSpPr>
                  <a:spLocks noChangeArrowheads="1"/>
                </p:cNvSpPr>
                <p:nvPr/>
              </p:nvSpPr>
              <p:spPr bwMode="auto">
                <a:xfrm>
                  <a:off x="1387" y="1708"/>
                  <a:ext cx="40" cy="5"/>
                </a:xfrm>
                <a:prstGeom prst="rect">
                  <a:avLst/>
                </a:prstGeom>
                <a:solidFill>
                  <a:srgbClr val="B2B2B2"/>
                </a:solid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de-DE"/>
                </a:p>
              </p:txBody>
            </p:sp>
            <p:sp>
              <p:nvSpPr>
                <p:cNvPr id="21630" name="Rectangle 140"/>
                <p:cNvSpPr>
                  <a:spLocks noChangeArrowheads="1"/>
                </p:cNvSpPr>
                <p:nvPr/>
              </p:nvSpPr>
              <p:spPr bwMode="auto">
                <a:xfrm>
                  <a:off x="1443" y="1708"/>
                  <a:ext cx="40" cy="5"/>
                </a:xfrm>
                <a:prstGeom prst="rect">
                  <a:avLst/>
                </a:prstGeom>
                <a:solidFill>
                  <a:srgbClr val="B2B2B2"/>
                </a:solid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de-DE"/>
                </a:p>
              </p:txBody>
            </p:sp>
            <p:sp>
              <p:nvSpPr>
                <p:cNvPr id="21631" name="Rectangle 141"/>
                <p:cNvSpPr>
                  <a:spLocks noChangeArrowheads="1"/>
                </p:cNvSpPr>
                <p:nvPr/>
              </p:nvSpPr>
              <p:spPr bwMode="auto">
                <a:xfrm>
                  <a:off x="1499" y="1708"/>
                  <a:ext cx="40" cy="5"/>
                </a:xfrm>
                <a:prstGeom prst="rect">
                  <a:avLst/>
                </a:prstGeom>
                <a:solidFill>
                  <a:srgbClr val="B2B2B2"/>
                </a:solid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de-DE"/>
                </a:p>
              </p:txBody>
            </p:sp>
            <p:sp>
              <p:nvSpPr>
                <p:cNvPr id="21632" name="Rectangle 142"/>
                <p:cNvSpPr>
                  <a:spLocks noChangeArrowheads="1"/>
                </p:cNvSpPr>
                <p:nvPr/>
              </p:nvSpPr>
              <p:spPr bwMode="auto">
                <a:xfrm>
                  <a:off x="1555" y="1708"/>
                  <a:ext cx="40" cy="5"/>
                </a:xfrm>
                <a:prstGeom prst="rect">
                  <a:avLst/>
                </a:prstGeom>
                <a:solidFill>
                  <a:srgbClr val="B2B2B2"/>
                </a:solid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de-DE"/>
                </a:p>
              </p:txBody>
            </p:sp>
            <p:sp>
              <p:nvSpPr>
                <p:cNvPr id="21633" name="Rectangle 143"/>
                <p:cNvSpPr>
                  <a:spLocks noChangeArrowheads="1"/>
                </p:cNvSpPr>
                <p:nvPr/>
              </p:nvSpPr>
              <p:spPr bwMode="auto">
                <a:xfrm>
                  <a:off x="1611" y="1708"/>
                  <a:ext cx="40" cy="5"/>
                </a:xfrm>
                <a:prstGeom prst="rect">
                  <a:avLst/>
                </a:prstGeom>
                <a:solidFill>
                  <a:srgbClr val="B2B2B2"/>
                </a:solid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de-DE"/>
                </a:p>
              </p:txBody>
            </p:sp>
            <p:sp>
              <p:nvSpPr>
                <p:cNvPr id="21634" name="Rectangle 144"/>
                <p:cNvSpPr>
                  <a:spLocks noChangeArrowheads="1"/>
                </p:cNvSpPr>
                <p:nvPr/>
              </p:nvSpPr>
              <p:spPr bwMode="auto">
                <a:xfrm>
                  <a:off x="1667" y="1708"/>
                  <a:ext cx="40" cy="5"/>
                </a:xfrm>
                <a:prstGeom prst="rect">
                  <a:avLst/>
                </a:prstGeom>
                <a:solidFill>
                  <a:srgbClr val="B2B2B2"/>
                </a:solid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de-DE"/>
                </a:p>
              </p:txBody>
            </p:sp>
            <p:sp>
              <p:nvSpPr>
                <p:cNvPr id="21635" name="Rectangle 145"/>
                <p:cNvSpPr>
                  <a:spLocks noChangeArrowheads="1"/>
                </p:cNvSpPr>
                <p:nvPr/>
              </p:nvSpPr>
              <p:spPr bwMode="auto">
                <a:xfrm>
                  <a:off x="1723" y="1708"/>
                  <a:ext cx="40" cy="5"/>
                </a:xfrm>
                <a:prstGeom prst="rect">
                  <a:avLst/>
                </a:prstGeom>
                <a:solidFill>
                  <a:srgbClr val="B2B2B2"/>
                </a:solid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de-DE"/>
                </a:p>
              </p:txBody>
            </p:sp>
            <p:sp>
              <p:nvSpPr>
                <p:cNvPr id="21636" name="Rectangle 146"/>
                <p:cNvSpPr>
                  <a:spLocks noChangeArrowheads="1"/>
                </p:cNvSpPr>
                <p:nvPr/>
              </p:nvSpPr>
              <p:spPr bwMode="auto">
                <a:xfrm>
                  <a:off x="1779" y="1708"/>
                  <a:ext cx="40" cy="5"/>
                </a:xfrm>
                <a:prstGeom prst="rect">
                  <a:avLst/>
                </a:prstGeom>
                <a:solidFill>
                  <a:srgbClr val="B2B2B2"/>
                </a:solid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de-DE"/>
                </a:p>
              </p:txBody>
            </p:sp>
            <p:sp>
              <p:nvSpPr>
                <p:cNvPr id="21637" name="Rectangle 147"/>
                <p:cNvSpPr>
                  <a:spLocks noChangeArrowheads="1"/>
                </p:cNvSpPr>
                <p:nvPr/>
              </p:nvSpPr>
              <p:spPr bwMode="auto">
                <a:xfrm>
                  <a:off x="1835" y="1708"/>
                  <a:ext cx="40" cy="5"/>
                </a:xfrm>
                <a:prstGeom prst="rect">
                  <a:avLst/>
                </a:prstGeom>
                <a:solidFill>
                  <a:srgbClr val="B2B2B2"/>
                </a:solid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de-DE"/>
                </a:p>
              </p:txBody>
            </p:sp>
            <p:sp>
              <p:nvSpPr>
                <p:cNvPr id="21638" name="Rectangle 148"/>
                <p:cNvSpPr>
                  <a:spLocks noChangeArrowheads="1"/>
                </p:cNvSpPr>
                <p:nvPr/>
              </p:nvSpPr>
              <p:spPr bwMode="auto">
                <a:xfrm>
                  <a:off x="1891" y="1708"/>
                  <a:ext cx="40" cy="5"/>
                </a:xfrm>
                <a:prstGeom prst="rect">
                  <a:avLst/>
                </a:prstGeom>
                <a:solidFill>
                  <a:srgbClr val="B2B2B2"/>
                </a:solid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de-DE"/>
                </a:p>
              </p:txBody>
            </p:sp>
            <p:sp>
              <p:nvSpPr>
                <p:cNvPr id="21639" name="Rectangle 149"/>
                <p:cNvSpPr>
                  <a:spLocks noChangeArrowheads="1"/>
                </p:cNvSpPr>
                <p:nvPr/>
              </p:nvSpPr>
              <p:spPr bwMode="auto">
                <a:xfrm>
                  <a:off x="1947" y="1708"/>
                  <a:ext cx="40" cy="5"/>
                </a:xfrm>
                <a:prstGeom prst="rect">
                  <a:avLst/>
                </a:prstGeom>
                <a:solidFill>
                  <a:srgbClr val="B2B2B2"/>
                </a:solid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de-DE"/>
                </a:p>
              </p:txBody>
            </p:sp>
            <p:sp>
              <p:nvSpPr>
                <p:cNvPr id="21640" name="Rectangle 150"/>
                <p:cNvSpPr>
                  <a:spLocks noChangeArrowheads="1"/>
                </p:cNvSpPr>
                <p:nvPr/>
              </p:nvSpPr>
              <p:spPr bwMode="auto">
                <a:xfrm>
                  <a:off x="2003" y="1708"/>
                  <a:ext cx="40" cy="5"/>
                </a:xfrm>
                <a:prstGeom prst="rect">
                  <a:avLst/>
                </a:prstGeom>
                <a:solidFill>
                  <a:srgbClr val="B2B2B2"/>
                </a:solid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de-DE"/>
                </a:p>
              </p:txBody>
            </p:sp>
            <p:sp>
              <p:nvSpPr>
                <p:cNvPr id="21641" name="Rectangle 151"/>
                <p:cNvSpPr>
                  <a:spLocks noChangeArrowheads="1"/>
                </p:cNvSpPr>
                <p:nvPr/>
              </p:nvSpPr>
              <p:spPr bwMode="auto">
                <a:xfrm>
                  <a:off x="2059" y="1708"/>
                  <a:ext cx="40" cy="5"/>
                </a:xfrm>
                <a:prstGeom prst="rect">
                  <a:avLst/>
                </a:prstGeom>
                <a:solidFill>
                  <a:srgbClr val="B2B2B2"/>
                </a:solid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de-DE"/>
                </a:p>
              </p:txBody>
            </p:sp>
            <p:sp>
              <p:nvSpPr>
                <p:cNvPr id="21642" name="Rectangle 152"/>
                <p:cNvSpPr>
                  <a:spLocks noChangeArrowheads="1"/>
                </p:cNvSpPr>
                <p:nvPr/>
              </p:nvSpPr>
              <p:spPr bwMode="auto">
                <a:xfrm>
                  <a:off x="2115" y="1708"/>
                  <a:ext cx="40" cy="5"/>
                </a:xfrm>
                <a:prstGeom prst="rect">
                  <a:avLst/>
                </a:prstGeom>
                <a:solidFill>
                  <a:srgbClr val="B2B2B2"/>
                </a:solid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de-DE"/>
                </a:p>
              </p:txBody>
            </p:sp>
            <p:sp>
              <p:nvSpPr>
                <p:cNvPr id="21643" name="Rectangle 153"/>
                <p:cNvSpPr>
                  <a:spLocks noChangeArrowheads="1"/>
                </p:cNvSpPr>
                <p:nvPr/>
              </p:nvSpPr>
              <p:spPr bwMode="auto">
                <a:xfrm>
                  <a:off x="2171" y="1708"/>
                  <a:ext cx="40" cy="5"/>
                </a:xfrm>
                <a:prstGeom prst="rect">
                  <a:avLst/>
                </a:prstGeom>
                <a:solidFill>
                  <a:srgbClr val="B2B2B2"/>
                </a:solid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de-DE"/>
                </a:p>
              </p:txBody>
            </p:sp>
            <p:sp>
              <p:nvSpPr>
                <p:cNvPr id="21644" name="Rectangle 154"/>
                <p:cNvSpPr>
                  <a:spLocks noChangeArrowheads="1"/>
                </p:cNvSpPr>
                <p:nvPr/>
              </p:nvSpPr>
              <p:spPr bwMode="auto">
                <a:xfrm>
                  <a:off x="2227" y="1708"/>
                  <a:ext cx="40" cy="5"/>
                </a:xfrm>
                <a:prstGeom prst="rect">
                  <a:avLst/>
                </a:prstGeom>
                <a:solidFill>
                  <a:srgbClr val="B2B2B2"/>
                </a:solid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de-DE"/>
                </a:p>
              </p:txBody>
            </p:sp>
            <p:sp>
              <p:nvSpPr>
                <p:cNvPr id="21645" name="Rectangle 155"/>
                <p:cNvSpPr>
                  <a:spLocks noChangeArrowheads="1"/>
                </p:cNvSpPr>
                <p:nvPr/>
              </p:nvSpPr>
              <p:spPr bwMode="auto">
                <a:xfrm>
                  <a:off x="2283" y="1708"/>
                  <a:ext cx="40" cy="5"/>
                </a:xfrm>
                <a:prstGeom prst="rect">
                  <a:avLst/>
                </a:prstGeom>
                <a:solidFill>
                  <a:srgbClr val="B2B2B2"/>
                </a:solid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de-DE"/>
                </a:p>
              </p:txBody>
            </p:sp>
            <p:sp>
              <p:nvSpPr>
                <p:cNvPr id="21646" name="Rectangle 156"/>
                <p:cNvSpPr>
                  <a:spLocks noChangeArrowheads="1"/>
                </p:cNvSpPr>
                <p:nvPr/>
              </p:nvSpPr>
              <p:spPr bwMode="auto">
                <a:xfrm>
                  <a:off x="2339" y="1708"/>
                  <a:ext cx="40" cy="5"/>
                </a:xfrm>
                <a:prstGeom prst="rect">
                  <a:avLst/>
                </a:prstGeom>
                <a:solidFill>
                  <a:srgbClr val="B2B2B2"/>
                </a:solid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de-DE"/>
                </a:p>
              </p:txBody>
            </p:sp>
            <p:sp>
              <p:nvSpPr>
                <p:cNvPr id="21647" name="Rectangle 157"/>
                <p:cNvSpPr>
                  <a:spLocks noChangeArrowheads="1"/>
                </p:cNvSpPr>
                <p:nvPr/>
              </p:nvSpPr>
              <p:spPr bwMode="auto">
                <a:xfrm>
                  <a:off x="2395" y="1708"/>
                  <a:ext cx="40" cy="5"/>
                </a:xfrm>
                <a:prstGeom prst="rect">
                  <a:avLst/>
                </a:prstGeom>
                <a:solidFill>
                  <a:srgbClr val="B2B2B2"/>
                </a:solid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de-DE"/>
                </a:p>
              </p:txBody>
            </p:sp>
            <p:sp>
              <p:nvSpPr>
                <p:cNvPr id="21648" name="Rectangle 158"/>
                <p:cNvSpPr>
                  <a:spLocks noChangeArrowheads="1"/>
                </p:cNvSpPr>
                <p:nvPr/>
              </p:nvSpPr>
              <p:spPr bwMode="auto">
                <a:xfrm>
                  <a:off x="2451" y="1708"/>
                  <a:ext cx="40" cy="5"/>
                </a:xfrm>
                <a:prstGeom prst="rect">
                  <a:avLst/>
                </a:prstGeom>
                <a:solidFill>
                  <a:srgbClr val="B2B2B2"/>
                </a:solid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de-DE"/>
                </a:p>
              </p:txBody>
            </p:sp>
            <p:sp>
              <p:nvSpPr>
                <p:cNvPr id="21649" name="Rectangle 159"/>
                <p:cNvSpPr>
                  <a:spLocks noChangeArrowheads="1"/>
                </p:cNvSpPr>
                <p:nvPr/>
              </p:nvSpPr>
              <p:spPr bwMode="auto">
                <a:xfrm>
                  <a:off x="2507" y="1708"/>
                  <a:ext cx="40" cy="5"/>
                </a:xfrm>
                <a:prstGeom prst="rect">
                  <a:avLst/>
                </a:prstGeom>
                <a:solidFill>
                  <a:srgbClr val="B2B2B2"/>
                </a:solid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de-DE"/>
                </a:p>
              </p:txBody>
            </p:sp>
            <p:sp>
              <p:nvSpPr>
                <p:cNvPr id="21650" name="Rectangle 160"/>
                <p:cNvSpPr>
                  <a:spLocks noChangeArrowheads="1"/>
                </p:cNvSpPr>
                <p:nvPr/>
              </p:nvSpPr>
              <p:spPr bwMode="auto">
                <a:xfrm>
                  <a:off x="2563" y="1708"/>
                  <a:ext cx="40" cy="5"/>
                </a:xfrm>
                <a:prstGeom prst="rect">
                  <a:avLst/>
                </a:prstGeom>
                <a:solidFill>
                  <a:srgbClr val="B2B2B2"/>
                </a:solid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de-DE"/>
                </a:p>
              </p:txBody>
            </p:sp>
            <p:sp>
              <p:nvSpPr>
                <p:cNvPr id="21651" name="Rectangle 161"/>
                <p:cNvSpPr>
                  <a:spLocks noChangeArrowheads="1"/>
                </p:cNvSpPr>
                <p:nvPr/>
              </p:nvSpPr>
              <p:spPr bwMode="auto">
                <a:xfrm>
                  <a:off x="2619" y="1708"/>
                  <a:ext cx="40" cy="5"/>
                </a:xfrm>
                <a:prstGeom prst="rect">
                  <a:avLst/>
                </a:prstGeom>
                <a:solidFill>
                  <a:srgbClr val="B2B2B2"/>
                </a:solid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de-DE"/>
                </a:p>
              </p:txBody>
            </p:sp>
            <p:sp>
              <p:nvSpPr>
                <p:cNvPr id="21652" name="Freeform 162"/>
                <p:cNvSpPr>
                  <a:spLocks/>
                </p:cNvSpPr>
                <p:nvPr/>
              </p:nvSpPr>
              <p:spPr bwMode="auto">
                <a:xfrm>
                  <a:off x="2675" y="1708"/>
                  <a:ext cx="40" cy="5"/>
                </a:xfrm>
                <a:custGeom>
                  <a:avLst/>
                  <a:gdLst>
                    <a:gd name="T0" fmla="*/ 0 w 82"/>
                    <a:gd name="T1" fmla="*/ 0 h 12"/>
                    <a:gd name="T2" fmla="*/ 0 w 82"/>
                    <a:gd name="T3" fmla="*/ 0 h 12"/>
                    <a:gd name="T4" fmla="*/ 2 w 82"/>
                    <a:gd name="T5" fmla="*/ 0 h 12"/>
                    <a:gd name="T6" fmla="*/ 2 w 82"/>
                    <a:gd name="T7" fmla="*/ 0 h 12"/>
                    <a:gd name="T8" fmla="*/ 0 w 82"/>
                    <a:gd name="T9" fmla="*/ 0 h 1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82"/>
                    <a:gd name="T16" fmla="*/ 0 h 12"/>
                    <a:gd name="T17" fmla="*/ 82 w 82"/>
                    <a:gd name="T18" fmla="*/ 12 h 1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82" h="12">
                      <a:moveTo>
                        <a:pt x="0" y="2"/>
                      </a:moveTo>
                      <a:lnTo>
                        <a:pt x="0" y="12"/>
                      </a:lnTo>
                      <a:lnTo>
                        <a:pt x="82" y="10"/>
                      </a:lnTo>
                      <a:lnTo>
                        <a:pt x="82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solidFill>
                  <a:srgbClr val="B2B2B2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de-CH"/>
                </a:p>
              </p:txBody>
            </p:sp>
            <p:sp>
              <p:nvSpPr>
                <p:cNvPr id="21653" name="Rectangle 163"/>
                <p:cNvSpPr>
                  <a:spLocks noChangeArrowheads="1"/>
                </p:cNvSpPr>
                <p:nvPr/>
              </p:nvSpPr>
              <p:spPr bwMode="auto">
                <a:xfrm>
                  <a:off x="2731" y="1708"/>
                  <a:ext cx="40" cy="5"/>
                </a:xfrm>
                <a:prstGeom prst="rect">
                  <a:avLst/>
                </a:prstGeom>
                <a:solidFill>
                  <a:srgbClr val="B2B2B2"/>
                </a:solid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de-DE"/>
                </a:p>
              </p:txBody>
            </p:sp>
            <p:sp>
              <p:nvSpPr>
                <p:cNvPr id="21654" name="Rectangle 164"/>
                <p:cNvSpPr>
                  <a:spLocks noChangeArrowheads="1"/>
                </p:cNvSpPr>
                <p:nvPr/>
              </p:nvSpPr>
              <p:spPr bwMode="auto">
                <a:xfrm>
                  <a:off x="2787" y="1708"/>
                  <a:ext cx="40" cy="5"/>
                </a:xfrm>
                <a:prstGeom prst="rect">
                  <a:avLst/>
                </a:prstGeom>
                <a:solidFill>
                  <a:srgbClr val="B2B2B2"/>
                </a:solid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de-DE"/>
                </a:p>
              </p:txBody>
            </p:sp>
            <p:sp>
              <p:nvSpPr>
                <p:cNvPr id="21655" name="Rectangle 165"/>
                <p:cNvSpPr>
                  <a:spLocks noChangeArrowheads="1"/>
                </p:cNvSpPr>
                <p:nvPr/>
              </p:nvSpPr>
              <p:spPr bwMode="auto">
                <a:xfrm>
                  <a:off x="2843" y="1708"/>
                  <a:ext cx="40" cy="5"/>
                </a:xfrm>
                <a:prstGeom prst="rect">
                  <a:avLst/>
                </a:prstGeom>
                <a:solidFill>
                  <a:srgbClr val="B2B2B2"/>
                </a:solid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de-DE"/>
                </a:p>
              </p:txBody>
            </p:sp>
            <p:sp>
              <p:nvSpPr>
                <p:cNvPr id="21656" name="Rectangle 166"/>
                <p:cNvSpPr>
                  <a:spLocks noChangeArrowheads="1"/>
                </p:cNvSpPr>
                <p:nvPr/>
              </p:nvSpPr>
              <p:spPr bwMode="auto">
                <a:xfrm>
                  <a:off x="2899" y="1708"/>
                  <a:ext cx="40" cy="5"/>
                </a:xfrm>
                <a:prstGeom prst="rect">
                  <a:avLst/>
                </a:prstGeom>
                <a:solidFill>
                  <a:srgbClr val="B2B2B2"/>
                </a:solid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de-DE"/>
                </a:p>
              </p:txBody>
            </p:sp>
            <p:sp>
              <p:nvSpPr>
                <p:cNvPr id="21657" name="Rectangle 167"/>
                <p:cNvSpPr>
                  <a:spLocks noChangeArrowheads="1"/>
                </p:cNvSpPr>
                <p:nvPr/>
              </p:nvSpPr>
              <p:spPr bwMode="auto">
                <a:xfrm>
                  <a:off x="2955" y="1708"/>
                  <a:ext cx="40" cy="5"/>
                </a:xfrm>
                <a:prstGeom prst="rect">
                  <a:avLst/>
                </a:prstGeom>
                <a:solidFill>
                  <a:srgbClr val="B2B2B2"/>
                </a:solid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de-DE"/>
                </a:p>
              </p:txBody>
            </p:sp>
            <p:sp>
              <p:nvSpPr>
                <p:cNvPr id="21658" name="Rectangle 168"/>
                <p:cNvSpPr>
                  <a:spLocks noChangeArrowheads="1"/>
                </p:cNvSpPr>
                <p:nvPr/>
              </p:nvSpPr>
              <p:spPr bwMode="auto">
                <a:xfrm>
                  <a:off x="3011" y="1708"/>
                  <a:ext cx="40" cy="5"/>
                </a:xfrm>
                <a:prstGeom prst="rect">
                  <a:avLst/>
                </a:prstGeom>
                <a:solidFill>
                  <a:srgbClr val="B2B2B2"/>
                </a:solid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de-DE"/>
                </a:p>
              </p:txBody>
            </p:sp>
            <p:sp>
              <p:nvSpPr>
                <p:cNvPr id="21659" name="Rectangle 169"/>
                <p:cNvSpPr>
                  <a:spLocks noChangeArrowheads="1"/>
                </p:cNvSpPr>
                <p:nvPr/>
              </p:nvSpPr>
              <p:spPr bwMode="auto">
                <a:xfrm>
                  <a:off x="3067" y="1708"/>
                  <a:ext cx="40" cy="5"/>
                </a:xfrm>
                <a:prstGeom prst="rect">
                  <a:avLst/>
                </a:prstGeom>
                <a:solidFill>
                  <a:srgbClr val="B2B2B2"/>
                </a:solid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de-DE"/>
                </a:p>
              </p:txBody>
            </p:sp>
            <p:sp>
              <p:nvSpPr>
                <p:cNvPr id="21660" name="Rectangle 170"/>
                <p:cNvSpPr>
                  <a:spLocks noChangeArrowheads="1"/>
                </p:cNvSpPr>
                <p:nvPr/>
              </p:nvSpPr>
              <p:spPr bwMode="auto">
                <a:xfrm>
                  <a:off x="3123" y="1708"/>
                  <a:ext cx="40" cy="5"/>
                </a:xfrm>
                <a:prstGeom prst="rect">
                  <a:avLst/>
                </a:prstGeom>
                <a:solidFill>
                  <a:srgbClr val="B2B2B2"/>
                </a:solid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de-DE"/>
                </a:p>
              </p:txBody>
            </p:sp>
            <p:sp>
              <p:nvSpPr>
                <p:cNvPr id="21661" name="Rectangle 171"/>
                <p:cNvSpPr>
                  <a:spLocks noChangeArrowheads="1"/>
                </p:cNvSpPr>
                <p:nvPr/>
              </p:nvSpPr>
              <p:spPr bwMode="auto">
                <a:xfrm>
                  <a:off x="3179" y="1708"/>
                  <a:ext cx="40" cy="5"/>
                </a:xfrm>
                <a:prstGeom prst="rect">
                  <a:avLst/>
                </a:prstGeom>
                <a:solidFill>
                  <a:srgbClr val="B2B2B2"/>
                </a:solid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de-DE"/>
                </a:p>
              </p:txBody>
            </p:sp>
            <p:sp>
              <p:nvSpPr>
                <p:cNvPr id="21662" name="Rectangle 172"/>
                <p:cNvSpPr>
                  <a:spLocks noChangeArrowheads="1"/>
                </p:cNvSpPr>
                <p:nvPr/>
              </p:nvSpPr>
              <p:spPr bwMode="auto">
                <a:xfrm>
                  <a:off x="3235" y="1708"/>
                  <a:ext cx="40" cy="5"/>
                </a:xfrm>
                <a:prstGeom prst="rect">
                  <a:avLst/>
                </a:prstGeom>
                <a:solidFill>
                  <a:srgbClr val="B2B2B2"/>
                </a:solid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de-DE"/>
                </a:p>
              </p:txBody>
            </p:sp>
            <p:sp>
              <p:nvSpPr>
                <p:cNvPr id="21663" name="Rectangle 173"/>
                <p:cNvSpPr>
                  <a:spLocks noChangeArrowheads="1"/>
                </p:cNvSpPr>
                <p:nvPr/>
              </p:nvSpPr>
              <p:spPr bwMode="auto">
                <a:xfrm>
                  <a:off x="3291" y="1708"/>
                  <a:ext cx="40" cy="5"/>
                </a:xfrm>
                <a:prstGeom prst="rect">
                  <a:avLst/>
                </a:prstGeom>
                <a:solidFill>
                  <a:srgbClr val="B2B2B2"/>
                </a:solid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de-DE"/>
                </a:p>
              </p:txBody>
            </p:sp>
            <p:sp>
              <p:nvSpPr>
                <p:cNvPr id="21664" name="Rectangle 174"/>
                <p:cNvSpPr>
                  <a:spLocks noChangeArrowheads="1"/>
                </p:cNvSpPr>
                <p:nvPr/>
              </p:nvSpPr>
              <p:spPr bwMode="auto">
                <a:xfrm>
                  <a:off x="3347" y="1708"/>
                  <a:ext cx="40" cy="5"/>
                </a:xfrm>
                <a:prstGeom prst="rect">
                  <a:avLst/>
                </a:prstGeom>
                <a:solidFill>
                  <a:srgbClr val="B2B2B2"/>
                </a:solid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de-DE"/>
                </a:p>
              </p:txBody>
            </p:sp>
            <p:sp>
              <p:nvSpPr>
                <p:cNvPr id="21665" name="Rectangle 175"/>
                <p:cNvSpPr>
                  <a:spLocks noChangeArrowheads="1"/>
                </p:cNvSpPr>
                <p:nvPr/>
              </p:nvSpPr>
              <p:spPr bwMode="auto">
                <a:xfrm>
                  <a:off x="3403" y="1708"/>
                  <a:ext cx="40" cy="5"/>
                </a:xfrm>
                <a:prstGeom prst="rect">
                  <a:avLst/>
                </a:prstGeom>
                <a:solidFill>
                  <a:srgbClr val="B2B2B2"/>
                </a:solid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de-DE"/>
                </a:p>
              </p:txBody>
            </p:sp>
            <p:sp>
              <p:nvSpPr>
                <p:cNvPr id="21666" name="Rectangle 176"/>
                <p:cNvSpPr>
                  <a:spLocks noChangeArrowheads="1"/>
                </p:cNvSpPr>
                <p:nvPr/>
              </p:nvSpPr>
              <p:spPr bwMode="auto">
                <a:xfrm>
                  <a:off x="3459" y="1708"/>
                  <a:ext cx="40" cy="5"/>
                </a:xfrm>
                <a:prstGeom prst="rect">
                  <a:avLst/>
                </a:prstGeom>
                <a:solidFill>
                  <a:srgbClr val="B2B2B2"/>
                </a:solid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de-DE"/>
                </a:p>
              </p:txBody>
            </p:sp>
            <p:sp>
              <p:nvSpPr>
                <p:cNvPr id="21667" name="Rectangle 177"/>
                <p:cNvSpPr>
                  <a:spLocks noChangeArrowheads="1"/>
                </p:cNvSpPr>
                <p:nvPr/>
              </p:nvSpPr>
              <p:spPr bwMode="auto">
                <a:xfrm>
                  <a:off x="3515" y="1708"/>
                  <a:ext cx="25" cy="5"/>
                </a:xfrm>
                <a:prstGeom prst="rect">
                  <a:avLst/>
                </a:prstGeom>
                <a:solidFill>
                  <a:srgbClr val="B2B2B2"/>
                </a:solid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de-DE"/>
                </a:p>
              </p:txBody>
            </p:sp>
          </p:grpSp>
          <p:grpSp>
            <p:nvGrpSpPr>
              <p:cNvPr id="21536" name="Group 183"/>
              <p:cNvGrpSpPr>
                <a:grpSpLocks/>
              </p:cNvGrpSpPr>
              <p:nvPr/>
            </p:nvGrpSpPr>
            <p:grpSpPr bwMode="auto">
              <a:xfrm>
                <a:off x="771" y="945"/>
                <a:ext cx="1762" cy="827"/>
                <a:chOff x="771" y="945"/>
                <a:chExt cx="1762" cy="827"/>
              </a:xfrm>
            </p:grpSpPr>
            <p:sp>
              <p:nvSpPr>
                <p:cNvPr id="21604" name="Rectangle 179"/>
                <p:cNvSpPr>
                  <a:spLocks noChangeArrowheads="1"/>
                </p:cNvSpPr>
                <p:nvPr/>
              </p:nvSpPr>
              <p:spPr bwMode="auto">
                <a:xfrm>
                  <a:off x="771" y="945"/>
                  <a:ext cx="1761" cy="826"/>
                </a:xfrm>
                <a:prstGeom prst="rect">
                  <a:avLst/>
                </a:prstGeom>
                <a:solidFill>
                  <a:srgbClr val="FFFF00"/>
                </a:solid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de-DE"/>
                </a:p>
              </p:txBody>
            </p:sp>
            <p:sp>
              <p:nvSpPr>
                <p:cNvPr id="21605" name="Rectangle 180"/>
                <p:cNvSpPr>
                  <a:spLocks noChangeArrowheads="1"/>
                </p:cNvSpPr>
                <p:nvPr/>
              </p:nvSpPr>
              <p:spPr bwMode="auto">
                <a:xfrm>
                  <a:off x="771" y="945"/>
                  <a:ext cx="1761" cy="826"/>
                </a:xfrm>
                <a:prstGeom prst="rect">
                  <a:avLst/>
                </a:prstGeom>
                <a:solidFill>
                  <a:srgbClr val="FFFF00"/>
                </a:solidFill>
                <a:ln w="0">
                  <a:solidFill>
                    <a:srgbClr val="FFFFFF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de-DE"/>
                </a:p>
              </p:txBody>
            </p:sp>
            <p:sp>
              <p:nvSpPr>
                <p:cNvPr id="21606" name="Rectangle 181"/>
                <p:cNvSpPr>
                  <a:spLocks noChangeArrowheads="1"/>
                </p:cNvSpPr>
                <p:nvPr/>
              </p:nvSpPr>
              <p:spPr bwMode="auto">
                <a:xfrm>
                  <a:off x="771" y="945"/>
                  <a:ext cx="1762" cy="827"/>
                </a:xfrm>
                <a:prstGeom prst="rect">
                  <a:avLst/>
                </a:prstGeom>
                <a:blipFill dpi="0" rotWithShape="0">
                  <a:blip r:embed="rId2" cstate="print"/>
                  <a:srcRect/>
                  <a:tile tx="0" ty="0" sx="100000" sy="100000" flip="none" algn="tl"/>
                </a:blip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de-DE"/>
                </a:p>
              </p:txBody>
            </p:sp>
            <p:sp>
              <p:nvSpPr>
                <p:cNvPr id="21607" name="Rectangle 182"/>
                <p:cNvSpPr>
                  <a:spLocks noChangeArrowheads="1"/>
                </p:cNvSpPr>
                <p:nvPr/>
              </p:nvSpPr>
              <p:spPr bwMode="auto">
                <a:xfrm>
                  <a:off x="771" y="945"/>
                  <a:ext cx="1761" cy="826"/>
                </a:xfrm>
                <a:prstGeom prst="rect">
                  <a:avLst/>
                </a:prstGeom>
                <a:solidFill>
                  <a:srgbClr val="FFFF00"/>
                </a:solid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de-DE"/>
                </a:p>
              </p:txBody>
            </p:sp>
          </p:grpSp>
          <p:sp>
            <p:nvSpPr>
              <p:cNvPr id="21537" name="Rectangle 184"/>
              <p:cNvSpPr>
                <a:spLocks noChangeArrowheads="1"/>
              </p:cNvSpPr>
              <p:nvPr/>
            </p:nvSpPr>
            <p:spPr bwMode="auto">
              <a:xfrm>
                <a:off x="792" y="952"/>
                <a:ext cx="774" cy="9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de-DE" sz="900" b="1">
                    <a:solidFill>
                      <a:srgbClr val="000000"/>
                    </a:solidFill>
                  </a:rPr>
                  <a:t>Rolle Geschäftsfelder</a:t>
                </a:r>
                <a:endParaRPr lang="de-DE"/>
              </a:p>
            </p:txBody>
          </p:sp>
          <p:sp>
            <p:nvSpPr>
              <p:cNvPr id="21538" name="Rectangle 185"/>
              <p:cNvSpPr>
                <a:spLocks noChangeArrowheads="1"/>
              </p:cNvSpPr>
              <p:nvPr/>
            </p:nvSpPr>
            <p:spPr bwMode="auto">
              <a:xfrm>
                <a:off x="792" y="1051"/>
                <a:ext cx="50" cy="8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de-DE" sz="800">
                    <a:solidFill>
                      <a:srgbClr val="000000"/>
                    </a:solidFill>
                  </a:rPr>
                  <a:t>•</a:t>
                </a:r>
                <a:endParaRPr lang="de-DE"/>
              </a:p>
            </p:txBody>
          </p:sp>
          <p:sp>
            <p:nvSpPr>
              <p:cNvPr id="21539" name="Rectangle 186"/>
              <p:cNvSpPr>
                <a:spLocks noChangeArrowheads="1"/>
              </p:cNvSpPr>
              <p:nvPr/>
            </p:nvSpPr>
            <p:spPr bwMode="auto">
              <a:xfrm>
                <a:off x="865" y="1051"/>
                <a:ext cx="183" cy="8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de-DE" sz="800">
                    <a:solidFill>
                      <a:srgbClr val="000000"/>
                    </a:solidFill>
                  </a:rPr>
                  <a:t>DWH</a:t>
                </a:r>
                <a:endParaRPr lang="de-DE"/>
              </a:p>
            </p:txBody>
          </p:sp>
          <p:sp>
            <p:nvSpPr>
              <p:cNvPr id="21540" name="Rectangle 187"/>
              <p:cNvSpPr>
                <a:spLocks noChangeArrowheads="1"/>
              </p:cNvSpPr>
              <p:nvPr/>
            </p:nvSpPr>
            <p:spPr bwMode="auto">
              <a:xfrm>
                <a:off x="1011" y="1051"/>
                <a:ext cx="49" cy="8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de-DE" sz="800">
                    <a:solidFill>
                      <a:srgbClr val="000000"/>
                    </a:solidFill>
                  </a:rPr>
                  <a:t>-</a:t>
                </a:r>
                <a:endParaRPr lang="de-DE"/>
              </a:p>
            </p:txBody>
          </p:sp>
          <p:sp>
            <p:nvSpPr>
              <p:cNvPr id="21541" name="Rectangle 188"/>
              <p:cNvSpPr>
                <a:spLocks noChangeArrowheads="1"/>
              </p:cNvSpPr>
              <p:nvPr/>
            </p:nvSpPr>
            <p:spPr bwMode="auto">
              <a:xfrm>
                <a:off x="1031" y="1051"/>
                <a:ext cx="265" cy="8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de-DE" sz="800">
                    <a:solidFill>
                      <a:srgbClr val="000000"/>
                    </a:solidFill>
                  </a:rPr>
                  <a:t>Nutzung</a:t>
                </a:r>
                <a:endParaRPr lang="de-DE"/>
              </a:p>
            </p:txBody>
          </p:sp>
          <p:sp>
            <p:nvSpPr>
              <p:cNvPr id="21542" name="Rectangle 189"/>
              <p:cNvSpPr>
                <a:spLocks noChangeArrowheads="1"/>
              </p:cNvSpPr>
              <p:nvPr/>
            </p:nvSpPr>
            <p:spPr bwMode="auto">
              <a:xfrm>
                <a:off x="792" y="1135"/>
                <a:ext cx="50" cy="8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de-DE" sz="800">
                    <a:solidFill>
                      <a:srgbClr val="000000"/>
                    </a:solidFill>
                  </a:rPr>
                  <a:t>•</a:t>
                </a:r>
                <a:endParaRPr lang="de-DE"/>
              </a:p>
            </p:txBody>
          </p:sp>
          <p:sp>
            <p:nvSpPr>
              <p:cNvPr id="21543" name="Rectangle 190"/>
              <p:cNvSpPr>
                <a:spLocks noChangeArrowheads="1"/>
              </p:cNvSpPr>
              <p:nvPr/>
            </p:nvSpPr>
            <p:spPr bwMode="auto">
              <a:xfrm>
                <a:off x="865" y="1135"/>
                <a:ext cx="846" cy="8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de-DE" sz="800">
                    <a:solidFill>
                      <a:srgbClr val="000000"/>
                    </a:solidFill>
                  </a:rPr>
                  <a:t>Definition der Anforderungen</a:t>
                </a:r>
                <a:endParaRPr lang="de-DE"/>
              </a:p>
            </p:txBody>
          </p:sp>
          <p:sp>
            <p:nvSpPr>
              <p:cNvPr id="21544" name="Rectangle 191"/>
              <p:cNvSpPr>
                <a:spLocks noChangeArrowheads="1"/>
              </p:cNvSpPr>
              <p:nvPr/>
            </p:nvSpPr>
            <p:spPr bwMode="auto">
              <a:xfrm>
                <a:off x="792" y="1220"/>
                <a:ext cx="50" cy="8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de-DE" sz="800">
                    <a:solidFill>
                      <a:srgbClr val="000000"/>
                    </a:solidFill>
                  </a:rPr>
                  <a:t>•</a:t>
                </a:r>
                <a:endParaRPr lang="de-DE"/>
              </a:p>
            </p:txBody>
          </p:sp>
          <p:sp>
            <p:nvSpPr>
              <p:cNvPr id="21545" name="Rectangle 192"/>
              <p:cNvSpPr>
                <a:spLocks noChangeArrowheads="1"/>
              </p:cNvSpPr>
              <p:nvPr/>
            </p:nvSpPr>
            <p:spPr bwMode="auto">
              <a:xfrm>
                <a:off x="865" y="1220"/>
                <a:ext cx="891" cy="7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de-DE" sz="800">
                    <a:solidFill>
                      <a:srgbClr val="000000"/>
                    </a:solidFill>
                  </a:rPr>
                  <a:t>Wahrnehmung </a:t>
                </a:r>
                <a:r>
                  <a:rPr lang="de-DE" sz="800" smtClean="0">
                    <a:solidFill>
                      <a:srgbClr val="000000"/>
                    </a:solidFill>
                  </a:rPr>
                  <a:t>des Data-Ownership </a:t>
                </a:r>
                <a:endParaRPr lang="de-DE"/>
              </a:p>
            </p:txBody>
          </p:sp>
          <p:sp>
            <p:nvSpPr>
              <p:cNvPr id="21549" name="Rectangle 196"/>
              <p:cNvSpPr>
                <a:spLocks noChangeArrowheads="1"/>
              </p:cNvSpPr>
              <p:nvPr/>
            </p:nvSpPr>
            <p:spPr bwMode="auto">
              <a:xfrm>
                <a:off x="792" y="1305"/>
                <a:ext cx="50" cy="8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de-DE" sz="800">
                    <a:solidFill>
                      <a:srgbClr val="000000"/>
                    </a:solidFill>
                  </a:rPr>
                  <a:t>•</a:t>
                </a:r>
                <a:endParaRPr lang="de-DE"/>
              </a:p>
            </p:txBody>
          </p:sp>
          <p:sp>
            <p:nvSpPr>
              <p:cNvPr id="21550" name="Rectangle 197"/>
              <p:cNvSpPr>
                <a:spLocks noChangeArrowheads="1"/>
              </p:cNvSpPr>
              <p:nvPr/>
            </p:nvSpPr>
            <p:spPr bwMode="auto">
              <a:xfrm>
                <a:off x="865" y="1305"/>
                <a:ext cx="447" cy="8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de-DE" sz="800">
                    <a:solidFill>
                      <a:srgbClr val="000000"/>
                    </a:solidFill>
                  </a:rPr>
                  <a:t>Definieren der </a:t>
                </a:r>
                <a:endParaRPr lang="de-DE"/>
              </a:p>
            </p:txBody>
          </p:sp>
          <p:sp>
            <p:nvSpPr>
              <p:cNvPr id="21551" name="Rectangle 198"/>
              <p:cNvSpPr>
                <a:spLocks noChangeArrowheads="1"/>
              </p:cNvSpPr>
              <p:nvPr/>
            </p:nvSpPr>
            <p:spPr bwMode="auto">
              <a:xfrm>
                <a:off x="1264" y="1305"/>
                <a:ext cx="163" cy="8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de-DE" sz="800">
                    <a:solidFill>
                      <a:srgbClr val="000000"/>
                    </a:solidFill>
                  </a:rPr>
                  <a:t>Data</a:t>
                </a:r>
                <a:endParaRPr lang="de-DE"/>
              </a:p>
            </p:txBody>
          </p:sp>
          <p:sp>
            <p:nvSpPr>
              <p:cNvPr id="21552" name="Rectangle 199"/>
              <p:cNvSpPr>
                <a:spLocks noChangeArrowheads="1"/>
              </p:cNvSpPr>
              <p:nvPr/>
            </p:nvSpPr>
            <p:spPr bwMode="auto">
              <a:xfrm>
                <a:off x="1393" y="1305"/>
                <a:ext cx="49" cy="8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de-DE" sz="800">
                    <a:solidFill>
                      <a:srgbClr val="000000"/>
                    </a:solidFill>
                  </a:rPr>
                  <a:t>-</a:t>
                </a:r>
                <a:endParaRPr lang="de-DE"/>
              </a:p>
            </p:txBody>
          </p:sp>
          <p:sp>
            <p:nvSpPr>
              <p:cNvPr id="21553" name="Rectangle 200"/>
              <p:cNvSpPr>
                <a:spLocks noChangeArrowheads="1"/>
              </p:cNvSpPr>
              <p:nvPr/>
            </p:nvSpPr>
            <p:spPr bwMode="auto">
              <a:xfrm>
                <a:off x="1413" y="1305"/>
                <a:ext cx="187" cy="8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de-DE" sz="800">
                    <a:solidFill>
                      <a:srgbClr val="000000"/>
                    </a:solidFill>
                  </a:rPr>
                  <a:t>Marts</a:t>
                </a:r>
                <a:endParaRPr lang="de-DE"/>
              </a:p>
            </p:txBody>
          </p:sp>
          <p:sp>
            <p:nvSpPr>
              <p:cNvPr id="21554" name="Rectangle 201"/>
              <p:cNvSpPr>
                <a:spLocks noChangeArrowheads="1"/>
              </p:cNvSpPr>
              <p:nvPr/>
            </p:nvSpPr>
            <p:spPr bwMode="auto">
              <a:xfrm>
                <a:off x="1583" y="1305"/>
                <a:ext cx="983" cy="8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de-DE" sz="800">
                    <a:solidFill>
                      <a:srgbClr val="000000"/>
                    </a:solidFill>
                  </a:rPr>
                  <a:t>(FC für MIS, EH, EP, EV usw. für </a:t>
                </a:r>
                <a:endParaRPr lang="de-DE"/>
              </a:p>
            </p:txBody>
          </p:sp>
          <p:sp>
            <p:nvSpPr>
              <p:cNvPr id="21555" name="Rectangle 202"/>
              <p:cNvSpPr>
                <a:spLocks noChangeArrowheads="1"/>
              </p:cNvSpPr>
              <p:nvPr/>
            </p:nvSpPr>
            <p:spPr bwMode="auto">
              <a:xfrm>
                <a:off x="865" y="1382"/>
                <a:ext cx="637" cy="8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de-DE" sz="800">
                    <a:solidFill>
                      <a:srgbClr val="000000"/>
                    </a:solidFill>
                  </a:rPr>
                  <a:t>operatives Reporting)</a:t>
                </a:r>
                <a:endParaRPr lang="de-DE"/>
              </a:p>
            </p:txBody>
          </p:sp>
          <p:sp>
            <p:nvSpPr>
              <p:cNvPr id="21556" name="Rectangle 203"/>
              <p:cNvSpPr>
                <a:spLocks noChangeArrowheads="1"/>
              </p:cNvSpPr>
              <p:nvPr/>
            </p:nvSpPr>
            <p:spPr bwMode="auto">
              <a:xfrm>
                <a:off x="792" y="1467"/>
                <a:ext cx="50" cy="8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de-DE" sz="800">
                    <a:solidFill>
                      <a:srgbClr val="000000"/>
                    </a:solidFill>
                  </a:rPr>
                  <a:t>•</a:t>
                </a:r>
                <a:endParaRPr lang="de-DE"/>
              </a:p>
            </p:txBody>
          </p:sp>
          <p:sp>
            <p:nvSpPr>
              <p:cNvPr id="21557" name="Rectangle 204"/>
              <p:cNvSpPr>
                <a:spLocks noChangeArrowheads="1"/>
              </p:cNvSpPr>
              <p:nvPr/>
            </p:nvSpPr>
            <p:spPr bwMode="auto">
              <a:xfrm>
                <a:off x="865" y="1467"/>
                <a:ext cx="1711" cy="8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de-DE" sz="800">
                    <a:solidFill>
                      <a:srgbClr val="000000"/>
                    </a:solidFill>
                  </a:rPr>
                  <a:t>Erstellen von Berichten sofern Ressourcen im Fachbereich </a:t>
                </a:r>
                <a:endParaRPr lang="de-DE"/>
              </a:p>
            </p:txBody>
          </p:sp>
          <p:sp>
            <p:nvSpPr>
              <p:cNvPr id="21558" name="Rectangle 205"/>
              <p:cNvSpPr>
                <a:spLocks noChangeArrowheads="1"/>
              </p:cNvSpPr>
              <p:nvPr/>
            </p:nvSpPr>
            <p:spPr bwMode="auto">
              <a:xfrm>
                <a:off x="865" y="1544"/>
                <a:ext cx="330" cy="8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de-DE" sz="800">
                    <a:solidFill>
                      <a:srgbClr val="000000"/>
                    </a:solidFill>
                  </a:rPr>
                  <a:t>vorhanden</a:t>
                </a:r>
                <a:endParaRPr lang="de-DE"/>
              </a:p>
            </p:txBody>
          </p:sp>
          <p:grpSp>
            <p:nvGrpSpPr>
              <p:cNvPr id="21559" name="Group 210"/>
              <p:cNvGrpSpPr>
                <a:grpSpLocks/>
              </p:cNvGrpSpPr>
              <p:nvPr/>
            </p:nvGrpSpPr>
            <p:grpSpPr bwMode="auto">
              <a:xfrm>
                <a:off x="1799" y="1607"/>
                <a:ext cx="1733" cy="1133"/>
                <a:chOff x="1799" y="1607"/>
                <a:chExt cx="1733" cy="1133"/>
              </a:xfrm>
            </p:grpSpPr>
            <p:sp>
              <p:nvSpPr>
                <p:cNvPr id="21600" name="Rectangle 206"/>
                <p:cNvSpPr>
                  <a:spLocks noChangeArrowheads="1"/>
                </p:cNvSpPr>
                <p:nvPr/>
              </p:nvSpPr>
              <p:spPr bwMode="auto">
                <a:xfrm>
                  <a:off x="1799" y="1607"/>
                  <a:ext cx="1732" cy="1132"/>
                </a:xfrm>
                <a:prstGeom prst="rect">
                  <a:avLst/>
                </a:prstGeom>
                <a:solidFill>
                  <a:srgbClr val="99FF33"/>
                </a:solid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de-DE"/>
                </a:p>
              </p:txBody>
            </p:sp>
            <p:sp>
              <p:nvSpPr>
                <p:cNvPr id="21601" name="Rectangle 207"/>
                <p:cNvSpPr>
                  <a:spLocks noChangeArrowheads="1"/>
                </p:cNvSpPr>
                <p:nvPr/>
              </p:nvSpPr>
              <p:spPr bwMode="auto">
                <a:xfrm>
                  <a:off x="1799" y="1607"/>
                  <a:ext cx="1732" cy="1132"/>
                </a:xfrm>
                <a:prstGeom prst="rect">
                  <a:avLst/>
                </a:prstGeom>
                <a:solidFill>
                  <a:srgbClr val="99FF33"/>
                </a:solidFill>
                <a:ln w="0">
                  <a:solidFill>
                    <a:srgbClr val="FFFFFF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de-DE"/>
                </a:p>
              </p:txBody>
            </p:sp>
            <p:sp>
              <p:nvSpPr>
                <p:cNvPr id="21602" name="Rectangle 208"/>
                <p:cNvSpPr>
                  <a:spLocks noChangeArrowheads="1"/>
                </p:cNvSpPr>
                <p:nvPr/>
              </p:nvSpPr>
              <p:spPr bwMode="auto">
                <a:xfrm>
                  <a:off x="1799" y="1607"/>
                  <a:ext cx="1733" cy="1133"/>
                </a:xfrm>
                <a:prstGeom prst="rect">
                  <a:avLst/>
                </a:prstGeom>
                <a:blipFill dpi="0" rotWithShape="0">
                  <a:blip r:embed="rId2" cstate="print"/>
                  <a:srcRect/>
                  <a:tile tx="0" ty="0" sx="100000" sy="100000" flip="none" algn="tl"/>
                </a:blip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de-DE"/>
                </a:p>
              </p:txBody>
            </p:sp>
            <p:sp>
              <p:nvSpPr>
                <p:cNvPr id="21603" name="Rectangle 209"/>
                <p:cNvSpPr>
                  <a:spLocks noChangeArrowheads="1"/>
                </p:cNvSpPr>
                <p:nvPr/>
              </p:nvSpPr>
              <p:spPr bwMode="auto">
                <a:xfrm>
                  <a:off x="1799" y="1607"/>
                  <a:ext cx="1732" cy="1132"/>
                </a:xfrm>
                <a:prstGeom prst="rect">
                  <a:avLst/>
                </a:prstGeom>
                <a:solidFill>
                  <a:srgbClr val="99FF33"/>
                </a:solid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de-DE"/>
                </a:p>
              </p:txBody>
            </p:sp>
          </p:grpSp>
          <p:sp>
            <p:nvSpPr>
              <p:cNvPr id="21560" name="Rectangle 211"/>
              <p:cNvSpPr>
                <a:spLocks noChangeArrowheads="1"/>
              </p:cNvSpPr>
              <p:nvPr/>
            </p:nvSpPr>
            <p:spPr bwMode="auto">
              <a:xfrm>
                <a:off x="1821" y="1614"/>
                <a:ext cx="1100" cy="8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de-DE" sz="900" b="1">
                    <a:solidFill>
                      <a:srgbClr val="000000"/>
                    </a:solidFill>
                  </a:rPr>
                  <a:t>Rolle </a:t>
                </a:r>
                <a:r>
                  <a:rPr lang="de-DE" sz="900" b="1" smtClean="0">
                    <a:solidFill>
                      <a:srgbClr val="000000"/>
                    </a:solidFill>
                  </a:rPr>
                  <a:t>übergreifende GF-ICT Aufgaben</a:t>
                </a:r>
                <a:endParaRPr lang="de-DE"/>
              </a:p>
            </p:txBody>
          </p:sp>
          <p:sp>
            <p:nvSpPr>
              <p:cNvPr id="21565" name="Rectangle 216"/>
              <p:cNvSpPr>
                <a:spLocks noChangeArrowheads="1"/>
              </p:cNvSpPr>
              <p:nvPr/>
            </p:nvSpPr>
            <p:spPr bwMode="auto">
              <a:xfrm>
                <a:off x="1821" y="1718"/>
                <a:ext cx="50" cy="8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de-DE" sz="800">
                    <a:solidFill>
                      <a:srgbClr val="000000"/>
                    </a:solidFill>
                  </a:rPr>
                  <a:t>•</a:t>
                </a:r>
                <a:endParaRPr lang="de-DE"/>
              </a:p>
            </p:txBody>
          </p:sp>
          <p:sp>
            <p:nvSpPr>
              <p:cNvPr id="21566" name="Rectangle 217"/>
              <p:cNvSpPr>
                <a:spLocks noChangeArrowheads="1"/>
              </p:cNvSpPr>
              <p:nvPr/>
            </p:nvSpPr>
            <p:spPr bwMode="auto">
              <a:xfrm>
                <a:off x="1893" y="1718"/>
                <a:ext cx="340" cy="8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de-DE" sz="800">
                    <a:solidFill>
                      <a:srgbClr val="000000"/>
                    </a:solidFill>
                  </a:rPr>
                  <a:t>Application</a:t>
                </a:r>
                <a:endParaRPr lang="de-DE"/>
              </a:p>
            </p:txBody>
          </p:sp>
          <p:sp>
            <p:nvSpPr>
              <p:cNvPr id="21567" name="Rectangle 218"/>
              <p:cNvSpPr>
                <a:spLocks noChangeArrowheads="1"/>
              </p:cNvSpPr>
              <p:nvPr/>
            </p:nvSpPr>
            <p:spPr bwMode="auto">
              <a:xfrm>
                <a:off x="2190" y="1718"/>
                <a:ext cx="993" cy="8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de-DE" sz="800">
                    <a:solidFill>
                      <a:srgbClr val="000000"/>
                    </a:solidFill>
                  </a:rPr>
                  <a:t>Management des gesamten DWH</a:t>
                </a:r>
                <a:endParaRPr lang="de-DE"/>
              </a:p>
            </p:txBody>
          </p:sp>
          <p:sp>
            <p:nvSpPr>
              <p:cNvPr id="21568" name="Rectangle 219"/>
              <p:cNvSpPr>
                <a:spLocks noChangeArrowheads="1"/>
              </p:cNvSpPr>
              <p:nvPr/>
            </p:nvSpPr>
            <p:spPr bwMode="auto">
              <a:xfrm>
                <a:off x="1821" y="1810"/>
                <a:ext cx="50" cy="8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de-DE" sz="800">
                    <a:solidFill>
                      <a:srgbClr val="000000"/>
                    </a:solidFill>
                  </a:rPr>
                  <a:t>•</a:t>
                </a:r>
                <a:endParaRPr lang="de-DE"/>
              </a:p>
            </p:txBody>
          </p:sp>
          <p:sp>
            <p:nvSpPr>
              <p:cNvPr id="21569" name="Rectangle 220"/>
              <p:cNvSpPr>
                <a:spLocks noChangeArrowheads="1"/>
              </p:cNvSpPr>
              <p:nvPr/>
            </p:nvSpPr>
            <p:spPr bwMode="auto">
              <a:xfrm>
                <a:off x="1893" y="1810"/>
                <a:ext cx="1585" cy="8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de-DE" sz="800">
                    <a:solidFill>
                      <a:srgbClr val="000000"/>
                    </a:solidFill>
                  </a:rPr>
                  <a:t>Betrieb der DWH spezifischen Software (Präsentation, </a:t>
                </a:r>
                <a:endParaRPr lang="de-DE"/>
              </a:p>
            </p:txBody>
          </p:sp>
          <p:sp>
            <p:nvSpPr>
              <p:cNvPr id="21570" name="Rectangle 221"/>
              <p:cNvSpPr>
                <a:spLocks noChangeArrowheads="1"/>
              </p:cNvSpPr>
              <p:nvPr/>
            </p:nvSpPr>
            <p:spPr bwMode="auto">
              <a:xfrm>
                <a:off x="1893" y="1891"/>
                <a:ext cx="163" cy="8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de-DE" sz="800">
                    <a:solidFill>
                      <a:srgbClr val="000000"/>
                    </a:solidFill>
                  </a:rPr>
                  <a:t>Data</a:t>
                </a:r>
                <a:endParaRPr lang="de-DE"/>
              </a:p>
            </p:txBody>
          </p:sp>
          <p:sp>
            <p:nvSpPr>
              <p:cNvPr id="21571" name="Rectangle 222"/>
              <p:cNvSpPr>
                <a:spLocks noChangeArrowheads="1"/>
              </p:cNvSpPr>
              <p:nvPr/>
            </p:nvSpPr>
            <p:spPr bwMode="auto">
              <a:xfrm>
                <a:off x="2022" y="1891"/>
                <a:ext cx="49" cy="8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de-DE" sz="800">
                    <a:solidFill>
                      <a:srgbClr val="000000"/>
                    </a:solidFill>
                  </a:rPr>
                  <a:t>-</a:t>
                </a:r>
                <a:endParaRPr lang="de-DE"/>
              </a:p>
            </p:txBody>
          </p:sp>
          <p:sp>
            <p:nvSpPr>
              <p:cNvPr id="21572" name="Rectangle 223"/>
              <p:cNvSpPr>
                <a:spLocks noChangeArrowheads="1"/>
              </p:cNvSpPr>
              <p:nvPr/>
            </p:nvSpPr>
            <p:spPr bwMode="auto">
              <a:xfrm>
                <a:off x="2042" y="1891"/>
                <a:ext cx="187" cy="8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de-DE" sz="800">
                    <a:solidFill>
                      <a:srgbClr val="000000"/>
                    </a:solidFill>
                  </a:rPr>
                  <a:t>Marts</a:t>
                </a:r>
                <a:endParaRPr lang="de-DE"/>
              </a:p>
            </p:txBody>
          </p:sp>
          <p:sp>
            <p:nvSpPr>
              <p:cNvPr id="21573" name="Rectangle 224"/>
              <p:cNvSpPr>
                <a:spLocks noChangeArrowheads="1"/>
              </p:cNvSpPr>
              <p:nvPr/>
            </p:nvSpPr>
            <p:spPr bwMode="auto">
              <a:xfrm>
                <a:off x="2194" y="1891"/>
                <a:ext cx="393" cy="8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de-DE" sz="800">
                    <a:solidFill>
                      <a:srgbClr val="000000"/>
                    </a:solidFill>
                  </a:rPr>
                  <a:t>, DWH, ETL)</a:t>
                </a:r>
                <a:endParaRPr lang="de-DE"/>
              </a:p>
            </p:txBody>
          </p:sp>
          <p:sp>
            <p:nvSpPr>
              <p:cNvPr id="21574" name="Rectangle 225"/>
              <p:cNvSpPr>
                <a:spLocks noChangeArrowheads="1"/>
              </p:cNvSpPr>
              <p:nvPr/>
            </p:nvSpPr>
            <p:spPr bwMode="auto">
              <a:xfrm>
                <a:off x="1821" y="1983"/>
                <a:ext cx="50" cy="8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de-DE" sz="800">
                    <a:solidFill>
                      <a:srgbClr val="000000"/>
                    </a:solidFill>
                  </a:rPr>
                  <a:t>•</a:t>
                </a:r>
                <a:endParaRPr lang="de-DE"/>
              </a:p>
            </p:txBody>
          </p:sp>
          <p:sp>
            <p:nvSpPr>
              <p:cNvPr id="21575" name="Rectangle 226"/>
              <p:cNvSpPr>
                <a:spLocks noChangeArrowheads="1"/>
              </p:cNvSpPr>
              <p:nvPr/>
            </p:nvSpPr>
            <p:spPr bwMode="auto">
              <a:xfrm>
                <a:off x="1893" y="1983"/>
                <a:ext cx="1306" cy="8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de-DE" sz="800">
                    <a:solidFill>
                      <a:srgbClr val="000000"/>
                    </a:solidFill>
                  </a:rPr>
                  <a:t>Betreuung der automatisierten Ladeprozesse</a:t>
                </a:r>
                <a:endParaRPr lang="de-DE"/>
              </a:p>
            </p:txBody>
          </p:sp>
          <p:sp>
            <p:nvSpPr>
              <p:cNvPr id="21576" name="Rectangle 227"/>
              <p:cNvSpPr>
                <a:spLocks noChangeArrowheads="1"/>
              </p:cNvSpPr>
              <p:nvPr/>
            </p:nvSpPr>
            <p:spPr bwMode="auto">
              <a:xfrm>
                <a:off x="1821" y="2075"/>
                <a:ext cx="50" cy="8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de-DE" sz="800">
                    <a:solidFill>
                      <a:srgbClr val="000000"/>
                    </a:solidFill>
                  </a:rPr>
                  <a:t>•</a:t>
                </a:r>
                <a:endParaRPr lang="de-DE"/>
              </a:p>
            </p:txBody>
          </p:sp>
          <p:sp>
            <p:nvSpPr>
              <p:cNvPr id="21577" name="Rectangle 228"/>
              <p:cNvSpPr>
                <a:spLocks noChangeArrowheads="1"/>
              </p:cNvSpPr>
              <p:nvPr/>
            </p:nvSpPr>
            <p:spPr bwMode="auto">
              <a:xfrm>
                <a:off x="1893" y="2075"/>
                <a:ext cx="932" cy="8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de-DE" sz="800">
                    <a:solidFill>
                      <a:srgbClr val="000000"/>
                    </a:solidFill>
                  </a:rPr>
                  <a:t>Realisierung von Berichten und </a:t>
                </a:r>
                <a:endParaRPr lang="de-DE"/>
              </a:p>
            </p:txBody>
          </p:sp>
          <p:sp>
            <p:nvSpPr>
              <p:cNvPr id="21578" name="Rectangle 229"/>
              <p:cNvSpPr>
                <a:spLocks noChangeArrowheads="1"/>
              </p:cNvSpPr>
              <p:nvPr/>
            </p:nvSpPr>
            <p:spPr bwMode="auto">
              <a:xfrm>
                <a:off x="2678" y="2075"/>
                <a:ext cx="286" cy="7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de-DE" sz="800">
                    <a:solidFill>
                      <a:srgbClr val="000000"/>
                    </a:solidFill>
                  </a:rPr>
                  <a:t> </a:t>
                </a:r>
                <a:r>
                  <a:rPr lang="de-DE" sz="800" smtClean="0">
                    <a:solidFill>
                      <a:srgbClr val="000000"/>
                    </a:solidFill>
                  </a:rPr>
                  <a:t>Data-Marts</a:t>
                </a:r>
                <a:endParaRPr lang="de-DE"/>
              </a:p>
            </p:txBody>
          </p:sp>
          <p:sp>
            <p:nvSpPr>
              <p:cNvPr id="21581" name="Rectangle 232"/>
              <p:cNvSpPr>
                <a:spLocks noChangeArrowheads="1"/>
              </p:cNvSpPr>
              <p:nvPr/>
            </p:nvSpPr>
            <p:spPr bwMode="auto">
              <a:xfrm>
                <a:off x="3056" y="2075"/>
                <a:ext cx="0" cy="19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de-DE"/>
              </a:p>
            </p:txBody>
          </p:sp>
          <p:sp>
            <p:nvSpPr>
              <p:cNvPr id="21582" name="Rectangle 233"/>
              <p:cNvSpPr>
                <a:spLocks noChangeArrowheads="1"/>
              </p:cNvSpPr>
              <p:nvPr/>
            </p:nvSpPr>
            <p:spPr bwMode="auto">
              <a:xfrm>
                <a:off x="1821" y="2167"/>
                <a:ext cx="50" cy="8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de-DE" sz="800">
                    <a:solidFill>
                      <a:srgbClr val="000000"/>
                    </a:solidFill>
                  </a:rPr>
                  <a:t>•</a:t>
                </a:r>
                <a:endParaRPr lang="de-DE"/>
              </a:p>
            </p:txBody>
          </p:sp>
          <p:sp>
            <p:nvSpPr>
              <p:cNvPr id="21583" name="Rectangle 234"/>
              <p:cNvSpPr>
                <a:spLocks noChangeArrowheads="1"/>
              </p:cNvSpPr>
              <p:nvPr/>
            </p:nvSpPr>
            <p:spPr bwMode="auto">
              <a:xfrm>
                <a:off x="1893" y="2167"/>
                <a:ext cx="1558" cy="7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de-DE" sz="800">
                    <a:solidFill>
                      <a:srgbClr val="000000"/>
                    </a:solidFill>
                  </a:rPr>
                  <a:t>Realisierung der Ladeprozesse und Modellierung des </a:t>
                </a:r>
                <a:endParaRPr lang="de-DE"/>
              </a:p>
            </p:txBody>
          </p:sp>
          <p:sp>
            <p:nvSpPr>
              <p:cNvPr id="21584" name="Rectangle 235"/>
              <p:cNvSpPr>
                <a:spLocks noChangeArrowheads="1"/>
              </p:cNvSpPr>
              <p:nvPr/>
            </p:nvSpPr>
            <p:spPr bwMode="auto">
              <a:xfrm>
                <a:off x="1893" y="2248"/>
                <a:ext cx="163" cy="8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de-DE" sz="800">
                    <a:solidFill>
                      <a:srgbClr val="000000"/>
                    </a:solidFill>
                  </a:rPr>
                  <a:t>Data</a:t>
                </a:r>
                <a:endParaRPr lang="de-DE"/>
              </a:p>
            </p:txBody>
          </p:sp>
          <p:sp>
            <p:nvSpPr>
              <p:cNvPr id="21585" name="Rectangle 236"/>
              <p:cNvSpPr>
                <a:spLocks noChangeArrowheads="1"/>
              </p:cNvSpPr>
              <p:nvPr/>
            </p:nvSpPr>
            <p:spPr bwMode="auto">
              <a:xfrm>
                <a:off x="2022" y="2248"/>
                <a:ext cx="49" cy="8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de-DE" sz="800">
                    <a:solidFill>
                      <a:srgbClr val="000000"/>
                    </a:solidFill>
                  </a:rPr>
                  <a:t>-</a:t>
                </a:r>
                <a:endParaRPr lang="de-DE"/>
              </a:p>
            </p:txBody>
          </p:sp>
          <p:sp>
            <p:nvSpPr>
              <p:cNvPr id="21586" name="Rectangle 237"/>
              <p:cNvSpPr>
                <a:spLocks noChangeArrowheads="1"/>
              </p:cNvSpPr>
              <p:nvPr/>
            </p:nvSpPr>
            <p:spPr bwMode="auto">
              <a:xfrm>
                <a:off x="2041" y="2248"/>
                <a:ext cx="358" cy="8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de-DE" sz="800">
                    <a:solidFill>
                      <a:srgbClr val="000000"/>
                    </a:solidFill>
                  </a:rPr>
                  <a:t>Warehouse</a:t>
                </a:r>
                <a:endParaRPr lang="de-DE"/>
              </a:p>
            </p:txBody>
          </p:sp>
          <p:sp>
            <p:nvSpPr>
              <p:cNvPr id="21587" name="Rectangle 238"/>
              <p:cNvSpPr>
                <a:spLocks noChangeArrowheads="1"/>
              </p:cNvSpPr>
              <p:nvPr/>
            </p:nvSpPr>
            <p:spPr bwMode="auto">
              <a:xfrm>
                <a:off x="1821" y="2339"/>
                <a:ext cx="50" cy="8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de-DE" sz="800">
                    <a:solidFill>
                      <a:srgbClr val="000000"/>
                    </a:solidFill>
                  </a:rPr>
                  <a:t>•</a:t>
                </a:r>
                <a:endParaRPr lang="de-DE"/>
              </a:p>
            </p:txBody>
          </p:sp>
          <p:sp>
            <p:nvSpPr>
              <p:cNvPr id="21588" name="Rectangle 239"/>
              <p:cNvSpPr>
                <a:spLocks noChangeArrowheads="1"/>
              </p:cNvSpPr>
              <p:nvPr/>
            </p:nvSpPr>
            <p:spPr bwMode="auto">
              <a:xfrm>
                <a:off x="1893" y="2339"/>
                <a:ext cx="1621" cy="7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de-DE" sz="800">
                    <a:solidFill>
                      <a:srgbClr val="000000"/>
                    </a:solidFill>
                  </a:rPr>
                  <a:t>Koordination und Leitung des </a:t>
                </a:r>
                <a:r>
                  <a:rPr lang="de-DE" sz="800" smtClean="0">
                    <a:solidFill>
                      <a:srgbClr val="000000"/>
                    </a:solidFill>
                  </a:rPr>
                  <a:t> Data-Warehouse (Metadaten, Data-</a:t>
                </a:r>
                <a:endParaRPr lang="de-DE"/>
              </a:p>
            </p:txBody>
          </p:sp>
          <p:sp>
            <p:nvSpPr>
              <p:cNvPr id="21595" name="Rectangle 246"/>
              <p:cNvSpPr>
                <a:spLocks noChangeArrowheads="1"/>
              </p:cNvSpPr>
              <p:nvPr/>
            </p:nvSpPr>
            <p:spPr bwMode="auto">
              <a:xfrm>
                <a:off x="1897" y="2420"/>
                <a:ext cx="280" cy="7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de-DE" sz="800" smtClean="0">
                    <a:solidFill>
                      <a:srgbClr val="000000"/>
                    </a:solidFill>
                  </a:rPr>
                  <a:t>Ownership)</a:t>
                </a:r>
                <a:endParaRPr lang="de-DE"/>
              </a:p>
            </p:txBody>
          </p:sp>
          <p:sp>
            <p:nvSpPr>
              <p:cNvPr id="21597" name="Rectangle 248"/>
              <p:cNvSpPr>
                <a:spLocks noChangeArrowheads="1"/>
              </p:cNvSpPr>
              <p:nvPr/>
            </p:nvSpPr>
            <p:spPr bwMode="auto">
              <a:xfrm>
                <a:off x="1821" y="2512"/>
                <a:ext cx="50" cy="8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de-DE" sz="800">
                    <a:solidFill>
                      <a:srgbClr val="000000"/>
                    </a:solidFill>
                  </a:rPr>
                  <a:t>•</a:t>
                </a:r>
                <a:endParaRPr lang="de-DE"/>
              </a:p>
            </p:txBody>
          </p:sp>
          <p:sp>
            <p:nvSpPr>
              <p:cNvPr id="21598" name="Rectangle 249"/>
              <p:cNvSpPr>
                <a:spLocks noChangeArrowheads="1"/>
              </p:cNvSpPr>
              <p:nvPr/>
            </p:nvSpPr>
            <p:spPr bwMode="auto">
              <a:xfrm>
                <a:off x="1893" y="2512"/>
                <a:ext cx="1055" cy="8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de-DE" sz="800">
                    <a:solidFill>
                      <a:srgbClr val="000000"/>
                    </a:solidFill>
                  </a:rPr>
                  <a:t>Technische Unterstützung: HW, SW</a:t>
                </a:r>
                <a:endParaRPr lang="de-DE"/>
              </a:p>
            </p:txBody>
          </p:sp>
          <p:sp>
            <p:nvSpPr>
              <p:cNvPr id="21599" name="Rectangle 250"/>
              <p:cNvSpPr>
                <a:spLocks noChangeArrowheads="1"/>
              </p:cNvSpPr>
              <p:nvPr/>
            </p:nvSpPr>
            <p:spPr bwMode="auto">
              <a:xfrm>
                <a:off x="791" y="2751"/>
                <a:ext cx="2383" cy="15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endParaRPr lang="de-DE"/>
              </a:p>
            </p:txBody>
          </p:sp>
        </p:grpSp>
      </p:grpSp>
      <p:sp>
        <p:nvSpPr>
          <p:cNvPr id="21508" name="Rechteck 121"/>
          <p:cNvSpPr>
            <a:spLocks noChangeArrowheads="1"/>
          </p:cNvSpPr>
          <p:nvPr/>
        </p:nvSpPr>
        <p:spPr bwMode="auto">
          <a:xfrm>
            <a:off x="2000250" y="4929188"/>
            <a:ext cx="6143625" cy="1214437"/>
          </a:xfrm>
          <a:prstGeom prst="rect">
            <a:avLst/>
          </a:prstGeom>
          <a:solidFill>
            <a:schemeClr val="bg1">
              <a:alpha val="50195"/>
            </a:schemeClr>
          </a:solidFill>
          <a:ln w="12700" algn="ctr">
            <a:noFill/>
            <a:round/>
            <a:headEnd type="none" w="sm" len="sm"/>
            <a:tailEnd type="none" w="sm" len="sm"/>
          </a:ln>
        </p:spPr>
        <p:txBody>
          <a:bodyPr/>
          <a:lstStyle/>
          <a:p>
            <a:pPr marL="628650" indent="-180975">
              <a:buFont typeface="Arial" charset="0"/>
              <a:buChar char="•"/>
            </a:pPr>
            <a:r>
              <a:rPr lang="de-CH" sz="1600"/>
              <a:t>DWH nicht reines IT-Thema (Flexibilität, Businessnähe)</a:t>
            </a:r>
          </a:p>
          <a:p>
            <a:pPr marL="628650" indent="-180975">
              <a:buFont typeface="Arial" charset="0"/>
              <a:buChar char="•"/>
            </a:pPr>
            <a:r>
              <a:rPr lang="de-CH" sz="1600"/>
              <a:t>Datenkonsistenz versus Flexibilität  (durch entsprechende Schwerpunkte in der Aufgabenteilung klären)</a:t>
            </a:r>
          </a:p>
          <a:p>
            <a:pPr marL="628650" indent="-180975">
              <a:buFont typeface="Arial" charset="0"/>
              <a:buChar char="•"/>
            </a:pPr>
            <a:r>
              <a:rPr lang="de-CH" sz="1600"/>
              <a:t>Stakeholder aller Ebenen frühzeitig einbinden</a:t>
            </a:r>
          </a:p>
          <a:p>
            <a:pPr marL="628650" indent="-180975">
              <a:buFont typeface="Arial" charset="0"/>
              <a:buChar char="•"/>
            </a:pPr>
            <a:endParaRPr lang="de-CH" sz="1600"/>
          </a:p>
        </p:txBody>
      </p:sp>
      <p:sp>
        <p:nvSpPr>
          <p:cNvPr id="21509" name="Rechteck 123"/>
          <p:cNvSpPr>
            <a:spLocks noChangeArrowheads="1"/>
          </p:cNvSpPr>
          <p:nvPr/>
        </p:nvSpPr>
        <p:spPr bwMode="auto">
          <a:xfrm>
            <a:off x="357188" y="5000625"/>
            <a:ext cx="2071687" cy="642938"/>
          </a:xfrm>
          <a:prstGeom prst="rect">
            <a:avLst/>
          </a:prstGeom>
          <a:solidFill>
            <a:schemeClr val="accent1"/>
          </a:solidFill>
          <a:ln w="12700" algn="ctr">
            <a:noFill/>
            <a:round/>
            <a:headEnd type="none" w="sm" len="sm"/>
            <a:tailEnd type="none" w="sm" len="sm"/>
          </a:ln>
        </p:spPr>
        <p:txBody>
          <a:bodyPr/>
          <a:lstStyle/>
          <a:p>
            <a:r>
              <a:rPr lang="de-CH" sz="1400" b="1"/>
              <a:t>Erfahrungen aus der</a:t>
            </a:r>
          </a:p>
          <a:p>
            <a:r>
              <a:rPr lang="de-CH" sz="1400" b="1"/>
              <a:t>Aufgabenabgrenzung	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30" name="Picture 3"/>
          <p:cNvPicPr>
            <a:picLocks noChangeAspect="1" noChangeArrowheads="1"/>
          </p:cNvPicPr>
          <p:nvPr/>
        </p:nvPicPr>
        <p:blipFill>
          <a:blip r:embed="rId3" cstate="print"/>
          <a:srcRect t="15625" b="67708"/>
          <a:stretch>
            <a:fillRect/>
          </a:stretch>
        </p:blipFill>
        <p:spPr bwMode="auto">
          <a:xfrm>
            <a:off x="0" y="1071563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2531" name="Rectangle 6"/>
          <p:cNvSpPr>
            <a:spLocks noChangeArrowheads="1"/>
          </p:cNvSpPr>
          <p:nvPr/>
        </p:nvSpPr>
        <p:spPr bwMode="auto">
          <a:xfrm>
            <a:off x="282575" y="4711224"/>
            <a:ext cx="7745413" cy="381000"/>
          </a:xfrm>
          <a:prstGeom prst="rect">
            <a:avLst/>
          </a:prstGeom>
          <a:solidFill>
            <a:srgbClr val="DDDDDD"/>
          </a:solidFill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>
              <a:lnSpc>
                <a:spcPts val="2200"/>
              </a:lnSpc>
              <a:spcBef>
                <a:spcPct val="20000"/>
              </a:spcBef>
            </a:pPr>
            <a:r>
              <a:rPr lang="de-CH" sz="1600" b="1"/>
              <a:t>5. Festlegung geeigneter Produkte-Standards zur Umsetzung</a:t>
            </a:r>
            <a:endParaRPr lang="en-GB" sz="1600" b="1"/>
          </a:p>
        </p:txBody>
      </p:sp>
      <p:sp>
        <p:nvSpPr>
          <p:cNvPr id="4100" name="Rectangle 7"/>
          <p:cNvSpPr>
            <a:spLocks noChangeArrowheads="1"/>
          </p:cNvSpPr>
          <p:nvPr/>
        </p:nvSpPr>
        <p:spPr bwMode="auto">
          <a:xfrm>
            <a:off x="279400" y="5878037"/>
            <a:ext cx="7745413" cy="381000"/>
          </a:xfrm>
          <a:prstGeom prst="rect">
            <a:avLst/>
          </a:prstGeom>
          <a:solidFill>
            <a:schemeClr val="bg1">
              <a:lumMod val="75000"/>
              <a:alpha val="50000"/>
            </a:schemeClr>
          </a:solidFill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>
              <a:lnSpc>
                <a:spcPts val="2200"/>
              </a:lnSpc>
              <a:spcBef>
                <a:spcPct val="20000"/>
              </a:spcBef>
              <a:defRPr/>
            </a:pPr>
            <a:r>
              <a:rPr lang="de-CH" sz="1600" b="1" dirty="0"/>
              <a:t>7. Der Blick nach vorn </a:t>
            </a:r>
            <a:endParaRPr lang="en-GB" sz="1600" b="1" dirty="0"/>
          </a:p>
        </p:txBody>
      </p:sp>
      <p:sp>
        <p:nvSpPr>
          <p:cNvPr id="22533" name="Rectangle 9"/>
          <p:cNvSpPr>
            <a:spLocks noChangeArrowheads="1"/>
          </p:cNvSpPr>
          <p:nvPr/>
        </p:nvSpPr>
        <p:spPr bwMode="auto">
          <a:xfrm>
            <a:off x="285750" y="2996724"/>
            <a:ext cx="7745413" cy="381000"/>
          </a:xfrm>
          <a:prstGeom prst="rect">
            <a:avLst/>
          </a:prstGeom>
          <a:solidFill>
            <a:srgbClr val="DDDDDD"/>
          </a:solidFill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>
              <a:lnSpc>
                <a:spcPts val="2200"/>
              </a:lnSpc>
              <a:spcBef>
                <a:spcPct val="20000"/>
              </a:spcBef>
            </a:pPr>
            <a:r>
              <a:rPr lang="de-CH" sz="1600" b="1"/>
              <a:t>2. Stand der Implementierung Business Intelligence in der BKW</a:t>
            </a:r>
            <a:endParaRPr lang="en-GB" sz="1600" b="1"/>
          </a:p>
        </p:txBody>
      </p:sp>
      <p:sp>
        <p:nvSpPr>
          <p:cNvPr id="22534" name="Rectangle 10"/>
          <p:cNvSpPr>
            <a:spLocks noChangeArrowheads="1"/>
          </p:cNvSpPr>
          <p:nvPr/>
        </p:nvSpPr>
        <p:spPr bwMode="auto">
          <a:xfrm>
            <a:off x="282575" y="4139724"/>
            <a:ext cx="7745413" cy="381000"/>
          </a:xfrm>
          <a:prstGeom prst="rect">
            <a:avLst/>
          </a:prstGeom>
          <a:solidFill>
            <a:srgbClr val="DDDDDD"/>
          </a:solidFill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>
              <a:lnSpc>
                <a:spcPts val="2200"/>
              </a:lnSpc>
              <a:spcBef>
                <a:spcPct val="20000"/>
              </a:spcBef>
            </a:pPr>
            <a:r>
              <a:rPr lang="de-CH" sz="1600" b="1"/>
              <a:t>4. Festlegung einer </a:t>
            </a:r>
            <a:r>
              <a:rPr lang="de-CH" sz="1600" b="1" smtClean="0"/>
              <a:t>Architektur, </a:t>
            </a:r>
            <a:r>
              <a:rPr lang="de-CH" sz="1600" b="1"/>
              <a:t>die den Anforderungen gerecht wird</a:t>
            </a:r>
            <a:endParaRPr lang="en-GB" sz="1600" b="1"/>
          </a:p>
        </p:txBody>
      </p:sp>
      <p:sp>
        <p:nvSpPr>
          <p:cNvPr id="22535" name="Rectangle 13"/>
          <p:cNvSpPr>
            <a:spLocks noChangeArrowheads="1"/>
          </p:cNvSpPr>
          <p:nvPr/>
        </p:nvSpPr>
        <p:spPr bwMode="auto">
          <a:xfrm>
            <a:off x="277813" y="5306537"/>
            <a:ext cx="7745412" cy="381000"/>
          </a:xfrm>
          <a:prstGeom prst="rect">
            <a:avLst/>
          </a:prstGeom>
          <a:solidFill>
            <a:srgbClr val="DDDDDD"/>
          </a:solidFill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>
              <a:lnSpc>
                <a:spcPts val="2200"/>
              </a:lnSpc>
              <a:spcBef>
                <a:spcPct val="20000"/>
              </a:spcBef>
            </a:pPr>
            <a:r>
              <a:rPr lang="de-CH" sz="1600" b="1"/>
              <a:t>6. Festlegung einer geeigneten DWH-Organisation</a:t>
            </a:r>
            <a:endParaRPr lang="en-GB" sz="1600" b="1"/>
          </a:p>
        </p:txBody>
      </p:sp>
      <p:sp>
        <p:nvSpPr>
          <p:cNvPr id="9" name="Rectangle 2050"/>
          <p:cNvSpPr txBox="1">
            <a:spLocks noChangeArrowheads="1"/>
          </p:cNvSpPr>
          <p:nvPr/>
        </p:nvSpPr>
        <p:spPr>
          <a:xfrm>
            <a:off x="442913" y="285750"/>
            <a:ext cx="7558087" cy="487363"/>
          </a:xfrm>
          <a:prstGeom prst="rect">
            <a:avLst/>
          </a:prstGeom>
          <a:noFill/>
        </p:spPr>
        <p:txBody>
          <a:bodyPr/>
          <a:lstStyle/>
          <a:p>
            <a:pPr>
              <a:spcBef>
                <a:spcPct val="20000"/>
              </a:spcBef>
              <a:defRPr/>
            </a:pPr>
            <a:r>
              <a:rPr lang="de-CH" b="1" kern="0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Agenda</a:t>
            </a:r>
            <a:endParaRPr lang="en-GB" b="1" kern="0" dirty="0">
              <a:solidFill>
                <a:schemeClr val="accent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2537" name="Rectangle 9"/>
          <p:cNvSpPr>
            <a:spLocks noChangeArrowheads="1"/>
          </p:cNvSpPr>
          <p:nvPr/>
        </p:nvSpPr>
        <p:spPr bwMode="auto">
          <a:xfrm>
            <a:off x="285750" y="3568224"/>
            <a:ext cx="7745413" cy="381000"/>
          </a:xfrm>
          <a:prstGeom prst="rect">
            <a:avLst/>
          </a:prstGeom>
          <a:solidFill>
            <a:srgbClr val="DDDDDD"/>
          </a:solidFill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>
              <a:lnSpc>
                <a:spcPts val="2200"/>
              </a:lnSpc>
              <a:spcBef>
                <a:spcPct val="20000"/>
              </a:spcBef>
            </a:pPr>
            <a:r>
              <a:rPr lang="de-CH" sz="1600" b="1"/>
              <a:t>3. Der Blick zurück </a:t>
            </a:r>
            <a:endParaRPr lang="en-GB" sz="1600" b="1"/>
          </a:p>
        </p:txBody>
      </p:sp>
      <p:sp>
        <p:nvSpPr>
          <p:cNvPr id="22538" name="Rectangle 9"/>
          <p:cNvSpPr>
            <a:spLocks noChangeArrowheads="1"/>
          </p:cNvSpPr>
          <p:nvPr/>
        </p:nvSpPr>
        <p:spPr bwMode="auto">
          <a:xfrm>
            <a:off x="285750" y="2405063"/>
            <a:ext cx="7745413" cy="381000"/>
          </a:xfrm>
          <a:prstGeom prst="rect">
            <a:avLst/>
          </a:prstGeom>
          <a:solidFill>
            <a:srgbClr val="DDDDDD"/>
          </a:solidFill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>
              <a:lnSpc>
                <a:spcPts val="2200"/>
              </a:lnSpc>
              <a:spcBef>
                <a:spcPct val="20000"/>
              </a:spcBef>
            </a:pPr>
            <a:r>
              <a:rPr lang="de-CH" sz="1600" b="1"/>
              <a:t>1. Die Informatik der BKW FMB Energie AG (BKW ICT)</a:t>
            </a:r>
            <a:endParaRPr lang="en-GB" sz="1600" b="1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>
          <a:xfrm>
            <a:off x="500063" y="357188"/>
            <a:ext cx="7961312" cy="487362"/>
          </a:xfrm>
        </p:spPr>
        <p:txBody>
          <a:bodyPr/>
          <a:lstStyle/>
          <a:p>
            <a:r>
              <a:rPr lang="de-CH" sz="2000" smtClean="0">
                <a:solidFill>
                  <a:schemeClr val="accent1"/>
                </a:solidFill>
              </a:rPr>
              <a:t>7. Der Blick nach vorn</a:t>
            </a:r>
            <a:br>
              <a:rPr lang="de-CH" sz="2000" smtClean="0">
                <a:solidFill>
                  <a:schemeClr val="accent1"/>
                </a:solidFill>
              </a:rPr>
            </a:br>
            <a:r>
              <a:rPr lang="de-CH" sz="2000" smtClean="0">
                <a:solidFill>
                  <a:schemeClr val="accent1"/>
                </a:solidFill>
              </a:rPr>
              <a:t>    </a:t>
            </a:r>
            <a:r>
              <a:rPr lang="de-CH" sz="2000" smtClean="0"/>
              <a:t>Die nächste Wegstrecke</a:t>
            </a:r>
          </a:p>
        </p:txBody>
      </p:sp>
      <p:sp>
        <p:nvSpPr>
          <p:cNvPr id="23556" name="Rectangle 4"/>
          <p:cNvSpPr>
            <a:spLocks noChangeArrowheads="1"/>
          </p:cNvSpPr>
          <p:nvPr/>
        </p:nvSpPr>
        <p:spPr bwMode="auto">
          <a:xfrm>
            <a:off x="1338290" y="1500174"/>
            <a:ext cx="7162800" cy="4357718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de-DE"/>
          </a:p>
        </p:txBody>
      </p:sp>
      <p:sp>
        <p:nvSpPr>
          <p:cNvPr id="23557" name="Rectangle 7"/>
          <p:cNvSpPr>
            <a:spLocks noChangeArrowheads="1"/>
          </p:cNvSpPr>
          <p:nvPr/>
        </p:nvSpPr>
        <p:spPr bwMode="auto">
          <a:xfrm>
            <a:off x="3552852" y="1536720"/>
            <a:ext cx="4643438" cy="4678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 marL="342900" indent="-342900">
              <a:spcBef>
                <a:spcPct val="10000"/>
              </a:spcBef>
              <a:buFontTx/>
              <a:buChar char="•"/>
            </a:pPr>
            <a:r>
              <a:rPr lang="de-CH" sz="1500"/>
              <a:t>Umsetzung der Zielarchitektur(en)</a:t>
            </a:r>
          </a:p>
          <a:p>
            <a:pPr marL="342900" indent="-342900">
              <a:spcBef>
                <a:spcPct val="10000"/>
              </a:spcBef>
              <a:buFontTx/>
              <a:buChar char="•"/>
            </a:pPr>
            <a:r>
              <a:rPr lang="de-CH" sz="1500"/>
              <a:t>Bereichsübergreifende und abgestimmte Weiterentwicklung</a:t>
            </a:r>
          </a:p>
          <a:p>
            <a:pPr marL="342900" indent="-342900">
              <a:spcBef>
                <a:spcPct val="10000"/>
              </a:spcBef>
              <a:buFontTx/>
              <a:buChar char="•"/>
            </a:pPr>
            <a:r>
              <a:rPr lang="de-CH" sz="1500"/>
              <a:t>Konzernsicht kommt zunehmend zum </a:t>
            </a:r>
            <a:r>
              <a:rPr lang="de-CH" sz="1500" smtClean="0"/>
              <a:t>Tragen</a:t>
            </a:r>
            <a:endParaRPr lang="de-CH" sz="1500"/>
          </a:p>
          <a:p>
            <a:pPr marL="342900" indent="-342900">
              <a:spcBef>
                <a:spcPct val="10000"/>
              </a:spcBef>
              <a:buFontTx/>
              <a:buChar char="•"/>
            </a:pPr>
            <a:r>
              <a:rPr lang="de-CH" sz="1500"/>
              <a:t>Weitere Reduktion von Redundanzen</a:t>
            </a:r>
          </a:p>
          <a:p>
            <a:pPr marL="342900" indent="-342900">
              <a:spcBef>
                <a:spcPct val="10000"/>
              </a:spcBef>
              <a:buFontTx/>
              <a:buChar char="•"/>
            </a:pPr>
            <a:r>
              <a:rPr lang="de-CH" sz="1500"/>
              <a:t>Neue Datenquellen werden erschlossen</a:t>
            </a:r>
          </a:p>
          <a:p>
            <a:pPr marL="342900" indent="-342900">
              <a:spcBef>
                <a:spcPct val="10000"/>
              </a:spcBef>
              <a:buFontTx/>
              <a:buChar char="•"/>
            </a:pPr>
            <a:r>
              <a:rPr lang="de-CH" sz="1500"/>
              <a:t>Nutzung ausdehnen </a:t>
            </a:r>
            <a:r>
              <a:rPr lang="de-CH" sz="1500" smtClean="0">
                <a:sym typeface="Wingdings" pitchFamily="2" charset="2"/>
              </a:rPr>
              <a:t></a:t>
            </a:r>
            <a:r>
              <a:rPr lang="de-CH" sz="1500" smtClean="0"/>
              <a:t> </a:t>
            </a:r>
            <a:r>
              <a:rPr lang="de-CH" sz="1500"/>
              <a:t>Wirtschaftlichkeit erhöhen</a:t>
            </a:r>
          </a:p>
          <a:p>
            <a:pPr marL="342900" indent="-342900">
              <a:spcBef>
                <a:spcPct val="10000"/>
              </a:spcBef>
            </a:pPr>
            <a:endParaRPr lang="de-CH" sz="1500"/>
          </a:p>
          <a:p>
            <a:pPr marL="342900" indent="-342900">
              <a:spcBef>
                <a:spcPct val="10000"/>
              </a:spcBef>
              <a:buFont typeface="Arial" charset="0"/>
              <a:buChar char="•"/>
            </a:pPr>
            <a:r>
              <a:rPr lang="de-CH" sz="1500" smtClean="0"/>
              <a:t>Umfassende, </a:t>
            </a:r>
            <a:r>
              <a:rPr lang="de-CH" sz="1500"/>
              <a:t>konsistente Führungskennzahlen</a:t>
            </a:r>
          </a:p>
          <a:p>
            <a:pPr marL="342900" indent="-342900">
              <a:spcBef>
                <a:spcPct val="10000"/>
              </a:spcBef>
              <a:buFont typeface="Arial" charset="0"/>
              <a:buChar char="•"/>
            </a:pPr>
            <a:r>
              <a:rPr lang="de-CH" sz="1500" smtClean="0"/>
              <a:t>Schnellere Umsetzung der neuen Bedürfnisse</a:t>
            </a:r>
            <a:endParaRPr lang="de-CH" sz="1500"/>
          </a:p>
          <a:p>
            <a:pPr marL="342900" indent="-342900">
              <a:spcBef>
                <a:spcPct val="10000"/>
              </a:spcBef>
              <a:buFont typeface="Arial" charset="0"/>
              <a:buChar char="•"/>
            </a:pPr>
            <a:r>
              <a:rPr lang="de-CH" sz="1500" smtClean="0"/>
              <a:t>Effizientere Datenaquisition </a:t>
            </a:r>
            <a:r>
              <a:rPr lang="de-CH" sz="1500"/>
              <a:t>ausserhalb der eigenen </a:t>
            </a:r>
            <a:r>
              <a:rPr lang="de-CH" sz="1500" smtClean="0"/>
              <a:t>Domäne</a:t>
            </a:r>
            <a:endParaRPr lang="de-CH" sz="1500"/>
          </a:p>
          <a:p>
            <a:pPr marL="342900" indent="-342900">
              <a:spcBef>
                <a:spcPct val="10000"/>
              </a:spcBef>
            </a:pPr>
            <a:endParaRPr lang="de-CH" sz="1500"/>
          </a:p>
          <a:p>
            <a:pPr marL="342900" indent="-342900">
              <a:spcBef>
                <a:spcPct val="10000"/>
              </a:spcBef>
              <a:buFont typeface="Arial" charset="0"/>
              <a:buChar char="•"/>
            </a:pPr>
            <a:r>
              <a:rPr lang="de-CH" sz="1500"/>
              <a:t>Leadership für BI-Plattform</a:t>
            </a:r>
          </a:p>
          <a:p>
            <a:pPr marL="342900" indent="-342900">
              <a:spcBef>
                <a:spcPct val="10000"/>
              </a:spcBef>
              <a:buFont typeface="Arial" charset="0"/>
              <a:buChar char="•"/>
            </a:pPr>
            <a:r>
              <a:rPr lang="de-CH" sz="1500"/>
              <a:t>Positionierung durch Sicherstellung der Konzernsicht </a:t>
            </a:r>
            <a:r>
              <a:rPr lang="de-CH" sz="1500" smtClean="0"/>
              <a:t>vor </a:t>
            </a:r>
            <a:r>
              <a:rPr lang="de-CH" sz="1500"/>
              <a:t>dem Hintergrund </a:t>
            </a:r>
            <a:r>
              <a:rPr lang="de-CH" sz="1500" smtClean="0"/>
              <a:t>der bevorstehenden Marktöffnung</a:t>
            </a:r>
            <a:endParaRPr lang="de-CH" sz="1500"/>
          </a:p>
          <a:p>
            <a:pPr marL="342900" indent="-342900">
              <a:spcBef>
                <a:spcPct val="10000"/>
              </a:spcBef>
              <a:buFont typeface="Arial" charset="0"/>
              <a:buChar char="•"/>
            </a:pPr>
            <a:endParaRPr lang="de-CH" sz="1500"/>
          </a:p>
          <a:p>
            <a:pPr marL="342900" indent="-342900">
              <a:spcBef>
                <a:spcPct val="10000"/>
              </a:spcBef>
              <a:buFont typeface="Arial" charset="0"/>
              <a:buChar char="•"/>
            </a:pPr>
            <a:endParaRPr lang="de-CH" sz="1500"/>
          </a:p>
          <a:p>
            <a:pPr marL="342900" indent="-342900">
              <a:spcBef>
                <a:spcPct val="10000"/>
              </a:spcBef>
              <a:buFontTx/>
              <a:buChar char="•"/>
            </a:pPr>
            <a:endParaRPr lang="de-CH" sz="1500"/>
          </a:p>
        </p:txBody>
      </p:sp>
      <p:sp>
        <p:nvSpPr>
          <p:cNvPr id="23558" name="Rectangle 5"/>
          <p:cNvSpPr>
            <a:spLocks noChangeArrowheads="1"/>
          </p:cNvSpPr>
          <p:nvPr/>
        </p:nvSpPr>
        <p:spPr bwMode="auto">
          <a:xfrm>
            <a:off x="481040" y="1643082"/>
            <a:ext cx="2971800" cy="714375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bg2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r>
              <a:rPr lang="de-CH" sz="1800" b="1"/>
              <a:t>Zielsetzungen</a:t>
            </a:r>
          </a:p>
          <a:p>
            <a:r>
              <a:rPr lang="de-CH" sz="1800" b="1"/>
              <a:t>DWH-Architektur</a:t>
            </a:r>
            <a:endParaRPr lang="en-GB" sz="1800" b="1"/>
          </a:p>
        </p:txBody>
      </p:sp>
      <p:sp>
        <p:nvSpPr>
          <p:cNvPr id="23559" name="Rectangle 6"/>
          <p:cNvSpPr>
            <a:spLocks noChangeArrowheads="1"/>
          </p:cNvSpPr>
          <p:nvPr/>
        </p:nvSpPr>
        <p:spPr bwMode="auto">
          <a:xfrm>
            <a:off x="481040" y="4786342"/>
            <a:ext cx="2928937" cy="714375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bg2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r>
              <a:rPr lang="de-CH" sz="1800" b="1"/>
              <a:t>Nutzen aus Sicht der </a:t>
            </a:r>
          </a:p>
          <a:p>
            <a:r>
              <a:rPr lang="de-CH" sz="1800" b="1"/>
              <a:t>BWK ICT</a:t>
            </a:r>
            <a:endParaRPr lang="en-GB" sz="1800" b="1"/>
          </a:p>
        </p:txBody>
      </p:sp>
      <p:sp>
        <p:nvSpPr>
          <p:cNvPr id="23560" name="Rectangle 6"/>
          <p:cNvSpPr>
            <a:spLocks noChangeArrowheads="1"/>
          </p:cNvSpPr>
          <p:nvPr/>
        </p:nvSpPr>
        <p:spPr bwMode="auto">
          <a:xfrm>
            <a:off x="481040" y="3571895"/>
            <a:ext cx="2928937" cy="714375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bg2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r>
              <a:rPr lang="de-CH" sz="1800" b="1"/>
              <a:t>Nutzen aus Sicht des</a:t>
            </a:r>
          </a:p>
          <a:p>
            <a:r>
              <a:rPr lang="de-CH" sz="1800" b="1" smtClean="0"/>
              <a:t>Geschäftsbereiche</a:t>
            </a:r>
            <a:endParaRPr lang="en-GB" sz="1800" b="1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78" name="Picture 116" descr="O:\ks_kmk\KKO\Komm.steuerung und -services\Konzepte&amp;Projekte\Unternehmenspräsentation 2007\3_Entwürfe\Folie_8_d.png"/>
          <p:cNvPicPr>
            <a:picLocks noChangeAspect="1" noChangeArrowheads="1"/>
          </p:cNvPicPr>
          <p:nvPr/>
        </p:nvPicPr>
        <p:blipFill>
          <a:blip r:embed="rId3" cstate="print"/>
          <a:srcRect t="15546" b="67799"/>
          <a:stretch>
            <a:fillRect/>
          </a:stretch>
        </p:blipFill>
        <p:spPr bwMode="auto">
          <a:xfrm>
            <a:off x="0" y="10668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Rectangle 2"/>
          <p:cNvSpPr txBox="1">
            <a:spLocks noChangeArrowheads="1"/>
          </p:cNvSpPr>
          <p:nvPr/>
        </p:nvSpPr>
        <p:spPr bwMode="auto">
          <a:xfrm>
            <a:off x="428625" y="357188"/>
            <a:ext cx="7961313" cy="487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/>
          <a:lstStyle/>
          <a:p>
            <a:pPr>
              <a:spcBef>
                <a:spcPct val="20000"/>
              </a:spcBef>
              <a:defRPr/>
            </a:pPr>
            <a:r>
              <a:rPr lang="de-CH" b="1" kern="0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Fazit</a:t>
            </a:r>
            <a:br>
              <a:rPr lang="de-CH" b="1" kern="0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</a:br>
            <a:endParaRPr lang="de-CH" b="1" kern="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5" name="Textfeld 14"/>
          <p:cNvSpPr txBox="1"/>
          <p:nvPr/>
        </p:nvSpPr>
        <p:spPr>
          <a:xfrm>
            <a:off x="214313" y="2214563"/>
            <a:ext cx="8358187" cy="409416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de-CH" dirty="0"/>
              <a:t>Die erfolgreiche Umsetzung einer unternehmensweiten DWH-Vision basiert auf den </a:t>
            </a:r>
            <a:r>
              <a:rPr lang="de-CH"/>
              <a:t>Einsichten </a:t>
            </a:r>
            <a:r>
              <a:rPr lang="de-CH" smtClean="0"/>
              <a:t>...</a:t>
            </a:r>
            <a:endParaRPr lang="de-CH" dirty="0"/>
          </a:p>
          <a:p>
            <a:pPr>
              <a:defRPr/>
            </a:pPr>
            <a:endParaRPr lang="de-CH" dirty="0"/>
          </a:p>
          <a:p>
            <a:pPr marL="179388">
              <a:defRPr/>
            </a:pPr>
            <a:r>
              <a:rPr lang="de-CH" smtClean="0"/>
              <a:t>der </a:t>
            </a:r>
            <a:r>
              <a:rPr lang="de-CH" u="sng" smtClean="0"/>
              <a:t>Geschäftsbereiche</a:t>
            </a:r>
            <a:r>
              <a:rPr lang="de-CH" smtClean="0"/>
              <a:t> </a:t>
            </a:r>
            <a:r>
              <a:rPr lang="de-CH"/>
              <a:t>in </a:t>
            </a:r>
            <a:r>
              <a:rPr lang="de-CH" smtClean="0"/>
              <a:t>der Wirtschaftlichkeit der ganzheitlich gelebten DWH-Architektur</a:t>
            </a:r>
            <a:endParaRPr lang="de-CH" dirty="0"/>
          </a:p>
          <a:p>
            <a:pPr marL="179388">
              <a:defRPr/>
            </a:pPr>
            <a:endParaRPr lang="de-CH" dirty="0"/>
          </a:p>
          <a:p>
            <a:pPr marL="179388">
              <a:defRPr/>
            </a:pPr>
            <a:r>
              <a:rPr lang="de-CH" dirty="0"/>
              <a:t>der </a:t>
            </a:r>
            <a:r>
              <a:rPr lang="de-CH" u="sng" dirty="0"/>
              <a:t>IT-Architektur</a:t>
            </a:r>
            <a:r>
              <a:rPr lang="de-CH" dirty="0"/>
              <a:t>, </a:t>
            </a:r>
            <a:r>
              <a:rPr lang="de-CH"/>
              <a:t>dass </a:t>
            </a:r>
            <a:r>
              <a:rPr lang="de-CH" smtClean="0"/>
              <a:t>diese </a:t>
            </a:r>
            <a:r>
              <a:rPr lang="de-CH" dirty="0"/>
              <a:t>nur über einen langen Prozess erfolgt</a:t>
            </a:r>
          </a:p>
          <a:p>
            <a:pPr marL="179388">
              <a:defRPr/>
            </a:pPr>
            <a:endParaRPr lang="de-CH" dirty="0"/>
          </a:p>
          <a:p>
            <a:pPr marL="179388">
              <a:defRPr/>
            </a:pPr>
            <a:r>
              <a:rPr lang="de-CH" dirty="0"/>
              <a:t>der </a:t>
            </a:r>
            <a:r>
              <a:rPr lang="de-CH" u="sng" dirty="0"/>
              <a:t>IT-Spezialisten</a:t>
            </a:r>
            <a:r>
              <a:rPr lang="de-CH" dirty="0"/>
              <a:t>, dass ein Tool diesen Prozess nicht wesentlich beschleunigen wird</a:t>
            </a:r>
          </a:p>
          <a:p>
            <a:pPr>
              <a:defRPr/>
            </a:pPr>
            <a:endParaRPr lang="de-CH" dirty="0"/>
          </a:p>
          <a:p>
            <a:pPr>
              <a:defRPr/>
            </a:pPr>
            <a:r>
              <a:rPr lang="de-CH" b="1" smtClean="0"/>
              <a:t>… </a:t>
            </a:r>
            <a:r>
              <a:rPr lang="de-CH" b="1" dirty="0"/>
              <a:t>und der Einsicht aller, dass dieser Weg gemeinsam zu gehen ist</a:t>
            </a:r>
          </a:p>
          <a:p>
            <a:pPr>
              <a:defRPr/>
            </a:pPr>
            <a:endParaRPr lang="de-CH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02" name="Picture 2" descr="O:\ks_kmk\KKO\Komm.steuerung und -services\Konzepte&amp;Projekte\Unternehmenspräsentation 2007\3_Entwürfe\Folie_20_d.png"/>
          <p:cNvPicPr>
            <a:picLocks noChangeAspect="1" noChangeArrowheads="1"/>
          </p:cNvPicPr>
          <p:nvPr/>
        </p:nvPicPr>
        <p:blipFill>
          <a:blip r:embed="rId2" cstate="print"/>
          <a:srcRect t="15625" b="67708"/>
          <a:stretch>
            <a:fillRect/>
          </a:stretch>
        </p:blipFill>
        <p:spPr bwMode="auto">
          <a:xfrm>
            <a:off x="0" y="1071563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5603" name="Text Box 4"/>
          <p:cNvSpPr txBox="1">
            <a:spLocks noChangeArrowheads="1"/>
          </p:cNvSpPr>
          <p:nvPr/>
        </p:nvSpPr>
        <p:spPr bwMode="auto">
          <a:xfrm>
            <a:off x="593725" y="2776538"/>
            <a:ext cx="4725988" cy="3128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lnSpc>
                <a:spcPts val="2200"/>
              </a:lnSpc>
              <a:spcBef>
                <a:spcPct val="20000"/>
              </a:spcBef>
            </a:pPr>
            <a:r>
              <a:rPr lang="de-CH" b="1"/>
              <a:t>Vielen Dank für Ihre Aufmerksamkeit!</a:t>
            </a:r>
          </a:p>
          <a:p>
            <a:pPr>
              <a:lnSpc>
                <a:spcPts val="2200"/>
              </a:lnSpc>
              <a:spcBef>
                <a:spcPct val="20000"/>
              </a:spcBef>
            </a:pPr>
            <a:endParaRPr lang="de-CH" b="1"/>
          </a:p>
          <a:p>
            <a:pPr>
              <a:lnSpc>
                <a:spcPts val="2200"/>
              </a:lnSpc>
              <a:spcBef>
                <a:spcPct val="20000"/>
              </a:spcBef>
            </a:pPr>
            <a:endParaRPr lang="de-CH" b="1"/>
          </a:p>
          <a:p>
            <a:pPr>
              <a:lnSpc>
                <a:spcPts val="2200"/>
              </a:lnSpc>
              <a:spcBef>
                <a:spcPct val="20000"/>
              </a:spcBef>
            </a:pPr>
            <a:endParaRPr lang="de-CH" b="1"/>
          </a:p>
          <a:p>
            <a:r>
              <a:rPr lang="de-CH" sz="1400" b="1"/>
              <a:t>Olivier Raemy</a:t>
            </a:r>
          </a:p>
          <a:p>
            <a:r>
              <a:rPr lang="de-CH" sz="1400"/>
              <a:t>Leiter CC Data Warehousing</a:t>
            </a:r>
          </a:p>
          <a:p>
            <a:endParaRPr lang="de-CH" sz="1400" b="1"/>
          </a:p>
          <a:p>
            <a:r>
              <a:rPr lang="de-CH" sz="1400" b="1"/>
              <a:t>BKW FMB Energie AG</a:t>
            </a:r>
          </a:p>
          <a:p>
            <a:endParaRPr lang="de-CH" sz="1400" b="1"/>
          </a:p>
          <a:p>
            <a:r>
              <a:rPr lang="de-CH" sz="1400"/>
              <a:t>Information &amp; Communication Technology (ICT)</a:t>
            </a:r>
          </a:p>
          <a:p>
            <a:r>
              <a:rPr lang="de-CH" sz="1400"/>
              <a:t>Viktoriaplatz 2</a:t>
            </a:r>
          </a:p>
          <a:p>
            <a:r>
              <a:rPr lang="de-CH" sz="1400"/>
              <a:t>3000 Bern 25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BKW Präsentation">
  <a:themeElements>
    <a:clrScheme name="BKW Präsentation 1">
      <a:dk1>
        <a:srgbClr val="000000"/>
      </a:dk1>
      <a:lt1>
        <a:srgbClr val="FFCC66"/>
      </a:lt1>
      <a:dk2>
        <a:srgbClr val="000000"/>
      </a:dk2>
      <a:lt2>
        <a:srgbClr val="C0C0C0"/>
      </a:lt2>
      <a:accent1>
        <a:srgbClr val="FF6600"/>
      </a:accent1>
      <a:accent2>
        <a:srgbClr val="FFCC66"/>
      </a:accent2>
      <a:accent3>
        <a:srgbClr val="FFE2B8"/>
      </a:accent3>
      <a:accent4>
        <a:srgbClr val="000000"/>
      </a:accent4>
      <a:accent5>
        <a:srgbClr val="FFB8AA"/>
      </a:accent5>
      <a:accent6>
        <a:srgbClr val="E7B95C"/>
      </a:accent6>
      <a:hlink>
        <a:srgbClr val="FFDF9F"/>
      </a:hlink>
      <a:folHlink>
        <a:srgbClr val="B2B2B2"/>
      </a:folHlink>
    </a:clrScheme>
    <a:fontScheme name="BKW Präsentatio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de-CH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de-CH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BKW Präsentation 1">
        <a:dk1>
          <a:srgbClr val="000000"/>
        </a:dk1>
        <a:lt1>
          <a:srgbClr val="FFCC66"/>
        </a:lt1>
        <a:dk2>
          <a:srgbClr val="000000"/>
        </a:dk2>
        <a:lt2>
          <a:srgbClr val="C0C0C0"/>
        </a:lt2>
        <a:accent1>
          <a:srgbClr val="FF6600"/>
        </a:accent1>
        <a:accent2>
          <a:srgbClr val="FFCC66"/>
        </a:accent2>
        <a:accent3>
          <a:srgbClr val="FFE2B8"/>
        </a:accent3>
        <a:accent4>
          <a:srgbClr val="000000"/>
        </a:accent4>
        <a:accent5>
          <a:srgbClr val="FFB8AA"/>
        </a:accent5>
        <a:accent6>
          <a:srgbClr val="E7B95C"/>
        </a:accent6>
        <a:hlink>
          <a:srgbClr val="FFDF9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Larissa-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Larissa-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O:\BKW\Vorlagen2000\BKW  Layouts\BKW Präsentation.pot</Template>
  <TotalTime>0</TotalTime>
  <Words>1496</Words>
  <Application>Microsoft Office PowerPoint</Application>
  <PresentationFormat>Bildschirmpräsentation (4:3)</PresentationFormat>
  <Paragraphs>356</Paragraphs>
  <Slides>23</Slides>
  <Notes>12</Notes>
  <HiddenSlides>0</HiddenSlides>
  <MMClips>0</MMClips>
  <ScaleCrop>false</ScaleCrop>
  <HeadingPairs>
    <vt:vector size="4" baseType="variant">
      <vt:variant>
        <vt:lpstr>Design</vt:lpstr>
      </vt:variant>
      <vt:variant>
        <vt:i4>1</vt:i4>
      </vt:variant>
      <vt:variant>
        <vt:lpstr>Folientitel</vt:lpstr>
      </vt:variant>
      <vt:variant>
        <vt:i4>23</vt:i4>
      </vt:variant>
    </vt:vector>
  </HeadingPairs>
  <TitlesOfParts>
    <vt:vector size="24" baseType="lpstr">
      <vt:lpstr>BKW Präsentation</vt:lpstr>
      <vt:lpstr>Business Intelligence bei der BKW – der Weg ist das Ziel</vt:lpstr>
      <vt:lpstr>Folie 2</vt:lpstr>
      <vt:lpstr>1. Die Informatik der BKW FMB Energie AG (BKW ICT)</vt:lpstr>
      <vt:lpstr>Folie 4</vt:lpstr>
      <vt:lpstr> 2. Stand der Implementierung Business Intelligence BKW     Die Vision </vt:lpstr>
      <vt:lpstr> 2. Stand der Implementierung Business Intelligence BKW     Die aktuelle Situation </vt:lpstr>
      <vt:lpstr>Folie 7</vt:lpstr>
      <vt:lpstr>Folie 8</vt:lpstr>
      <vt:lpstr>Folie 9</vt:lpstr>
      <vt:lpstr>4. Festlegung einer Architektur, die Anforderungen gerecht wird     Ausgangslage und Vorgehen</vt:lpstr>
      <vt:lpstr>4. Festlegung einer Architektur, die Anforderungen gerecht wird     Zielsetzung und Richtungsweisung</vt:lpstr>
      <vt:lpstr>Folie 12</vt:lpstr>
      <vt:lpstr>5. Festlegung geeigneter Produkte-Standards zur Umsetzung     Ausgangslage und Vorgehen</vt:lpstr>
      <vt:lpstr>5. Festlegung geeigneter Produkte-Standards zur Umsetzung     Zielsetzungen und Richtungsweisung</vt:lpstr>
      <vt:lpstr>5. Festlegung geeigneter Produkte-Standards zur Umsetzung     Ziele einer abgestimmten Datenarchitektur</vt:lpstr>
      <vt:lpstr>Folie 16</vt:lpstr>
      <vt:lpstr>Folie 17</vt:lpstr>
      <vt:lpstr>Folie 18</vt:lpstr>
      <vt:lpstr>Folie 19</vt:lpstr>
      <vt:lpstr>Folie 20</vt:lpstr>
      <vt:lpstr>7. Der Blick nach vorn     Die nächste Wegstrecke</vt:lpstr>
      <vt:lpstr>Folie 22</vt:lpstr>
      <vt:lpstr>Folie 23</vt:lpstr>
    </vt:vector>
  </TitlesOfParts>
  <Manager>Markus Knopf</Manager>
  <Company>BKW FMB Energie AG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Information &amp; Communication Technology Organigramm</dc:title>
  <dc:subject>BI in der BKW - Der Weg ist das Ziel</dc:subject>
  <dc:creator>Olivier Raemy</dc:creator>
  <cp:lastModifiedBy>Fabian Thomas</cp:lastModifiedBy>
  <cp:revision>580</cp:revision>
  <cp:lastPrinted>2006-06-09T08:53:28Z</cp:lastPrinted>
  <dcterms:created xsi:type="dcterms:W3CDTF">2006-06-02T14:15:48Z</dcterms:created>
  <dcterms:modified xsi:type="dcterms:W3CDTF">2010-03-05T13:59:58Z</dcterms:modified>
</cp:coreProperties>
</file>